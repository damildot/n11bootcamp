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2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17B054-759F-417E-BBE3-44D1AB8D431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2781571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17B054-759F-417E-BBE3-44D1AB8D431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511102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17B054-759F-417E-BBE3-44D1AB8D431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2383954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17B054-759F-417E-BBE3-44D1AB8D431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1274780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17B054-759F-417E-BBE3-44D1AB8D431B}"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294310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17B054-759F-417E-BBE3-44D1AB8D431B}"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3821228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17B054-759F-417E-BBE3-44D1AB8D431B}"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2048796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17B054-759F-417E-BBE3-44D1AB8D431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4275475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17B054-759F-417E-BBE3-44D1AB8D431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2216790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17B054-759F-417E-BBE3-44D1AB8D431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1863172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17B054-759F-417E-BBE3-44D1AB8D431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C53D36-30E3-4BA7-A135-474C2BB1F8B1}" type="slidenum">
              <a:rPr lang="en-US" smtClean="0"/>
              <a:t>‹#›</a:t>
            </a:fld>
            <a:endParaRPr lang="en-US"/>
          </a:p>
        </p:txBody>
      </p:sp>
    </p:spTree>
    <p:extLst>
      <p:ext uri="{BB962C8B-B14F-4D97-AF65-F5344CB8AC3E}">
        <p14:creationId xmlns:p14="http://schemas.microsoft.com/office/powerpoint/2010/main" val="355893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17B054-759F-417E-BBE3-44D1AB8D431B}" type="datetimeFigureOut">
              <a:rPr lang="en-US" smtClean="0"/>
              <a:t>4/29/2026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C53D36-30E3-4BA7-A135-474C2BB1F8B1}" type="slidenum">
              <a:rPr lang="en-US" smtClean="0"/>
              <a:t>‹#›</a:t>
            </a:fld>
            <a:endParaRPr lang="en-US"/>
          </a:p>
        </p:txBody>
      </p:sp>
    </p:spTree>
    <p:extLst>
      <p:ext uri="{BB962C8B-B14F-4D97-AF65-F5344CB8AC3E}">
        <p14:creationId xmlns:p14="http://schemas.microsoft.com/office/powerpoint/2010/main" val="275354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b="1" dirty="0" smtClean="0"/>
              <a:t>JPA (Java Persistence API)</a:t>
            </a:r>
            <a:endParaRPr lang="en-US" b="1" dirty="0"/>
          </a:p>
        </p:txBody>
      </p:sp>
    </p:spTree>
    <p:extLst>
      <p:ext uri="{BB962C8B-B14F-4D97-AF65-F5344CB8AC3E}">
        <p14:creationId xmlns:p14="http://schemas.microsoft.com/office/powerpoint/2010/main" val="167361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9900" y="228600"/>
            <a:ext cx="10883900" cy="5948363"/>
          </a:xfrm>
        </p:spPr>
        <p:txBody>
          <a:bodyPr>
            <a:normAutofit fontScale="92500"/>
          </a:bodyPr>
          <a:lstStyle/>
          <a:p>
            <a:pPr marL="0" indent="0">
              <a:buNone/>
            </a:pPr>
            <a:r>
              <a:rPr lang="tr-TR" dirty="0" smtClean="0"/>
              <a:t>Bir yazılım projesinde veri çok önemli bir yer tutmaktadır. Java programlama dilinde veriler çalışma anında ana bellek üzerinde yaşarlar.</a:t>
            </a:r>
          </a:p>
          <a:p>
            <a:pPr marL="0" indent="0">
              <a:buNone/>
            </a:pPr>
            <a:r>
              <a:rPr lang="tr-TR" dirty="0" smtClean="0"/>
              <a:t>Bir Java nesnesi durum ve davranışlardan oluşur. Durumdan kastedilen </a:t>
            </a:r>
            <a:r>
              <a:rPr lang="tr-TR" b="1" dirty="0" smtClean="0"/>
              <a:t>değişken</a:t>
            </a:r>
            <a:r>
              <a:rPr lang="tr-TR" dirty="0" smtClean="0"/>
              <a:t> tanımlamaları ya da diğer </a:t>
            </a:r>
            <a:r>
              <a:rPr lang="tr-TR" b="1" dirty="0" smtClean="0"/>
              <a:t>nesne</a:t>
            </a:r>
            <a:r>
              <a:rPr lang="tr-TR" dirty="0" smtClean="0"/>
              <a:t> referanslarıdır. Davranıştan kastedilen ise nesnenin sahip olduğu </a:t>
            </a:r>
            <a:r>
              <a:rPr lang="tr-TR" b="1" dirty="0" smtClean="0"/>
              <a:t>metotlardır</a:t>
            </a:r>
            <a:r>
              <a:rPr lang="tr-TR" dirty="0" smtClean="0"/>
              <a:t>.</a:t>
            </a:r>
          </a:p>
          <a:p>
            <a:pPr marL="0" indent="0">
              <a:buNone/>
            </a:pPr>
            <a:r>
              <a:rPr lang="tr-TR" b="1" dirty="0"/>
              <a:t>n</a:t>
            </a:r>
            <a:r>
              <a:rPr lang="tr-TR" b="1" dirty="0" smtClean="0"/>
              <a:t>ew</a:t>
            </a:r>
            <a:r>
              <a:rPr lang="tr-TR" dirty="0" smtClean="0"/>
              <a:t> anahtar kelimesiyle oluşturulan nesneler mevcut durum ve davranışların </a:t>
            </a:r>
            <a:r>
              <a:rPr lang="tr-TR" b="1" dirty="0" smtClean="0"/>
              <a:t>JVM( Java Sanal Makinesi) </a:t>
            </a:r>
            <a:r>
              <a:rPr lang="tr-TR" dirty="0" smtClean="0"/>
              <a:t>çalıştığı müddetçe veya</a:t>
            </a:r>
            <a:r>
              <a:rPr lang="tr-TR" b="1" dirty="0" smtClean="0"/>
              <a:t> çöp toplayıcı (garbage collector) </a:t>
            </a:r>
            <a:r>
              <a:rPr lang="tr-TR" dirty="0" smtClean="0"/>
              <a:t>kendilerini bellek alanından temizleyene kadar koruyabilirler. </a:t>
            </a:r>
          </a:p>
          <a:p>
            <a:pPr marL="0" indent="0">
              <a:buNone/>
            </a:pPr>
            <a:r>
              <a:rPr lang="tr-TR" dirty="0" smtClean="0"/>
              <a:t>Bu yüzden birbirleriyle bağımlı ya </a:t>
            </a:r>
            <a:r>
              <a:rPr lang="tr-TR" smtClean="0"/>
              <a:t>da bağımsız </a:t>
            </a:r>
            <a:r>
              <a:rPr lang="tr-TR" dirty="0" smtClean="0"/>
              <a:t>halde bulunan nesneleri ya da diğer deyişle nesnelirin içindeki durumları </a:t>
            </a:r>
            <a:r>
              <a:rPr lang="tr-TR" b="1" dirty="0" smtClean="0"/>
              <a:t>(verileri) </a:t>
            </a:r>
            <a:r>
              <a:rPr lang="tr-TR" dirty="0" smtClean="0"/>
              <a:t>bir disk ortamında kalıcı hale getirme ihtiyacı doğmuştur. Nesneleri kalıcı hale getirmenin birçok yöntemi vardır. Bunlardan en basit ve temel yolu, kalıcı hale getirmek istediğimiz sınıfı </a:t>
            </a:r>
            <a:r>
              <a:rPr lang="tr-TR" b="1" dirty="0" smtClean="0"/>
              <a:t>java.io.Serializable</a:t>
            </a:r>
            <a:r>
              <a:rPr lang="tr-TR" dirty="0" smtClean="0"/>
              <a:t> </a:t>
            </a:r>
            <a:r>
              <a:rPr lang="tr-TR" b="1" dirty="0" smtClean="0"/>
              <a:t>interface</a:t>
            </a:r>
            <a:r>
              <a:rPr lang="tr-TR" dirty="0" smtClean="0"/>
              <a:t> ile implement e etmekten geçer. </a:t>
            </a:r>
            <a:r>
              <a:rPr lang="tr-TR" b="1" dirty="0" smtClean="0"/>
              <a:t>Serializable</a:t>
            </a:r>
            <a:r>
              <a:rPr lang="tr-TR" dirty="0" smtClean="0"/>
              <a:t> </a:t>
            </a:r>
            <a:r>
              <a:rPr lang="tr-TR" b="1" dirty="0" smtClean="0"/>
              <a:t>interface</a:t>
            </a:r>
            <a:r>
              <a:rPr lang="tr-TR" dirty="0" smtClean="0"/>
              <a:t> ini kullanan sınıflar bir disk üzerinde kalıcı olarak tutulabilirler ya bit serileri halinde network üzerinde taşınabilirler. </a:t>
            </a:r>
            <a:endParaRPr lang="en-US" dirty="0"/>
          </a:p>
        </p:txBody>
      </p:sp>
    </p:spTree>
    <p:extLst>
      <p:ext uri="{BB962C8B-B14F-4D97-AF65-F5344CB8AC3E}">
        <p14:creationId xmlns:p14="http://schemas.microsoft.com/office/powerpoint/2010/main" val="433105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0" y="177800"/>
            <a:ext cx="11696700" cy="6400800"/>
          </a:xfrm>
        </p:spPr>
        <p:txBody>
          <a:bodyPr/>
          <a:lstStyle/>
          <a:p>
            <a:pPr marL="0" indent="0">
              <a:buNone/>
            </a:pPr>
            <a:r>
              <a:rPr lang="en-US" sz="2400" b="1" dirty="0"/>
              <a:t>Java Serialization (</a:t>
            </a:r>
            <a:r>
              <a:rPr lang="en-US" sz="2400" b="1" dirty="0" err="1"/>
              <a:t>Serileştirme</a:t>
            </a:r>
            <a:r>
              <a:rPr lang="en-US" sz="2400" b="1" dirty="0"/>
              <a:t>) </a:t>
            </a:r>
            <a:endParaRPr lang="tr-TR" sz="2400" b="1" dirty="0" smtClean="0"/>
          </a:p>
          <a:p>
            <a:pPr marL="0" indent="0">
              <a:buNone/>
            </a:pPr>
            <a:r>
              <a:rPr lang="en-US" sz="2400" dirty="0"/>
              <a:t>Java </a:t>
            </a:r>
            <a:r>
              <a:rPr lang="en-US" sz="2400" dirty="0" err="1"/>
              <a:t>tamamen</a:t>
            </a:r>
            <a:r>
              <a:rPr lang="en-US" sz="2400" dirty="0"/>
              <a:t> </a:t>
            </a:r>
            <a:r>
              <a:rPr lang="en-US" sz="2400" dirty="0" err="1"/>
              <a:t>nesne</a:t>
            </a:r>
            <a:r>
              <a:rPr lang="en-US" sz="2400" dirty="0"/>
              <a:t> </a:t>
            </a:r>
            <a:r>
              <a:rPr lang="en-US" sz="2400" dirty="0" err="1"/>
              <a:t>yönelimli</a:t>
            </a:r>
            <a:r>
              <a:rPr lang="en-US" sz="2400" dirty="0"/>
              <a:t> </a:t>
            </a:r>
            <a:r>
              <a:rPr lang="en-US" sz="2400" dirty="0" err="1"/>
              <a:t>bir</a:t>
            </a:r>
            <a:r>
              <a:rPr lang="en-US" sz="2400" dirty="0"/>
              <a:t> </a:t>
            </a:r>
            <a:r>
              <a:rPr lang="en-US" sz="2400" dirty="0" err="1"/>
              <a:t>programlama</a:t>
            </a:r>
            <a:r>
              <a:rPr lang="en-US" sz="2400" dirty="0"/>
              <a:t> </a:t>
            </a:r>
            <a:r>
              <a:rPr lang="en-US" sz="2400" dirty="0" err="1"/>
              <a:t>dili</a:t>
            </a:r>
            <a:r>
              <a:rPr lang="en-US" sz="2400" dirty="0"/>
              <a:t> </a:t>
            </a:r>
            <a:r>
              <a:rPr lang="en-US" sz="2400" dirty="0" err="1"/>
              <a:t>olduğu</a:t>
            </a:r>
            <a:r>
              <a:rPr lang="en-US" sz="2400" dirty="0"/>
              <a:t> </a:t>
            </a:r>
            <a:r>
              <a:rPr lang="en-US" sz="2400" dirty="0" err="1"/>
              <a:t>için</a:t>
            </a:r>
            <a:r>
              <a:rPr lang="en-US" sz="2400" dirty="0"/>
              <a:t>, Java </a:t>
            </a:r>
            <a:r>
              <a:rPr lang="en-US" sz="2400" dirty="0" err="1"/>
              <a:t>üzerinde</a:t>
            </a:r>
            <a:r>
              <a:rPr lang="en-US" sz="2400" dirty="0"/>
              <a:t> </a:t>
            </a:r>
            <a:r>
              <a:rPr lang="en-US" sz="2400" dirty="0" err="1"/>
              <a:t>uygulama</a:t>
            </a:r>
            <a:r>
              <a:rPr lang="en-US" sz="2400" dirty="0"/>
              <a:t> </a:t>
            </a:r>
            <a:r>
              <a:rPr lang="en-US" sz="2400" dirty="0" err="1"/>
              <a:t>geliştirirken</a:t>
            </a:r>
            <a:r>
              <a:rPr lang="en-US" sz="2400" dirty="0"/>
              <a:t> </a:t>
            </a:r>
            <a:r>
              <a:rPr lang="en-US" sz="2400" dirty="0" err="1"/>
              <a:t>nesneleri</a:t>
            </a:r>
            <a:r>
              <a:rPr lang="en-US" sz="2400" dirty="0"/>
              <a:t> </a:t>
            </a:r>
            <a:r>
              <a:rPr lang="en-US" sz="2400" dirty="0" err="1"/>
              <a:t>sıkça</a:t>
            </a:r>
            <a:r>
              <a:rPr lang="en-US" sz="2400" dirty="0"/>
              <a:t> </a:t>
            </a:r>
            <a:r>
              <a:rPr lang="en-US" sz="2400" dirty="0" err="1"/>
              <a:t>kullanıyoruz</a:t>
            </a:r>
            <a:r>
              <a:rPr lang="en-US" sz="2400" dirty="0"/>
              <a:t>. Java </a:t>
            </a:r>
            <a:r>
              <a:rPr lang="en-US" sz="2400" dirty="0" err="1"/>
              <a:t>platformunda</a:t>
            </a:r>
            <a:r>
              <a:rPr lang="en-US" sz="2400" dirty="0"/>
              <a:t> </a:t>
            </a:r>
            <a:r>
              <a:rPr lang="en-US" sz="2400" dirty="0" err="1"/>
              <a:t>bilindiği</a:t>
            </a:r>
            <a:r>
              <a:rPr lang="en-US" sz="2400" dirty="0"/>
              <a:t> </a:t>
            </a:r>
            <a:r>
              <a:rPr lang="en-US" sz="2400" dirty="0" err="1"/>
              <a:t>gibi</a:t>
            </a:r>
            <a:r>
              <a:rPr lang="en-US" sz="2400" dirty="0"/>
              <a:t>,</a:t>
            </a:r>
            <a:r>
              <a:rPr lang="en-US" sz="2400" b="1" dirty="0"/>
              <a:t> </a:t>
            </a:r>
            <a:r>
              <a:rPr lang="en-US" sz="2400" b="1" dirty="0" err="1"/>
              <a:t>int</a:t>
            </a:r>
            <a:r>
              <a:rPr lang="en-US" sz="2400" b="1" dirty="0"/>
              <a:t>, double, byte </a:t>
            </a:r>
            <a:r>
              <a:rPr lang="en-US" sz="2400" b="1" dirty="0" err="1"/>
              <a:t>gibi</a:t>
            </a:r>
            <a:r>
              <a:rPr lang="en-US" sz="2400" b="1" dirty="0"/>
              <a:t> primitive </a:t>
            </a:r>
            <a:r>
              <a:rPr lang="en-US" sz="2400" b="1" dirty="0" err="1"/>
              <a:t>tipler</a:t>
            </a:r>
            <a:r>
              <a:rPr lang="en-US" sz="2400" b="1" dirty="0"/>
              <a:t> </a:t>
            </a:r>
            <a:r>
              <a:rPr lang="en-US" sz="2400" dirty="0" err="1"/>
              <a:t>dışındaki</a:t>
            </a:r>
            <a:r>
              <a:rPr lang="en-US" sz="2400" dirty="0"/>
              <a:t> </a:t>
            </a:r>
            <a:r>
              <a:rPr lang="en-US" sz="2400" dirty="0" err="1"/>
              <a:t>herşey</a:t>
            </a:r>
            <a:r>
              <a:rPr lang="en-US" sz="2400" dirty="0"/>
              <a:t> </a:t>
            </a:r>
            <a:r>
              <a:rPr lang="en-US" sz="2400" dirty="0" err="1"/>
              <a:t>nesnedir</a:t>
            </a:r>
            <a:r>
              <a:rPr lang="en-US" sz="2400" dirty="0"/>
              <a:t>.</a:t>
            </a:r>
          </a:p>
          <a:p>
            <a:pPr marL="0" indent="0">
              <a:buNone/>
            </a:pPr>
            <a:r>
              <a:rPr lang="en-US" sz="2400" dirty="0" err="1"/>
              <a:t>Ancak</a:t>
            </a:r>
            <a:r>
              <a:rPr lang="en-US" sz="2400" dirty="0"/>
              <a:t> </a:t>
            </a:r>
            <a:r>
              <a:rPr lang="en-US" sz="2400" dirty="0" err="1"/>
              <a:t>Java’da</a:t>
            </a:r>
            <a:r>
              <a:rPr lang="en-US" sz="2400" dirty="0"/>
              <a:t> </a:t>
            </a:r>
            <a:r>
              <a:rPr lang="en-US" sz="2400" dirty="0" err="1"/>
              <a:t>kullanılan</a:t>
            </a:r>
            <a:r>
              <a:rPr lang="en-US" sz="2400" dirty="0"/>
              <a:t> </a:t>
            </a:r>
            <a:r>
              <a:rPr lang="en-US" sz="2400" dirty="0" err="1"/>
              <a:t>nesneler</a:t>
            </a:r>
            <a:r>
              <a:rPr lang="en-US" sz="2400" dirty="0"/>
              <a:t>, </a:t>
            </a:r>
            <a:r>
              <a:rPr lang="en-US" sz="2400" b="1" dirty="0"/>
              <a:t>Java </a:t>
            </a:r>
            <a:r>
              <a:rPr lang="en-US" sz="2400" b="1" dirty="0" err="1"/>
              <a:t>platformunda</a:t>
            </a:r>
            <a:r>
              <a:rPr lang="en-US" sz="2400" b="1" dirty="0"/>
              <a:t> (JVM) </a:t>
            </a:r>
            <a:r>
              <a:rPr lang="en-US" sz="2400" dirty="0" err="1"/>
              <a:t>hayat</a:t>
            </a:r>
            <a:r>
              <a:rPr lang="en-US" sz="2400" dirty="0"/>
              <a:t> </a:t>
            </a:r>
            <a:r>
              <a:rPr lang="en-US" sz="2400" dirty="0" err="1"/>
              <a:t>bulurlar</a:t>
            </a:r>
            <a:r>
              <a:rPr lang="en-US" sz="2400" dirty="0"/>
              <a:t>. Platform </a:t>
            </a:r>
            <a:r>
              <a:rPr lang="en-US" sz="2400" dirty="0" err="1"/>
              <a:t>dışında</a:t>
            </a:r>
            <a:r>
              <a:rPr lang="en-US" sz="2400" dirty="0"/>
              <a:t> </a:t>
            </a:r>
            <a:r>
              <a:rPr lang="en-US" sz="2400" dirty="0" err="1"/>
              <a:t>nesnelerin</a:t>
            </a:r>
            <a:r>
              <a:rPr lang="en-US" sz="2400" dirty="0"/>
              <a:t>, </a:t>
            </a:r>
            <a:r>
              <a:rPr lang="en-US" sz="2400" dirty="0" err="1"/>
              <a:t>hiçbir</a:t>
            </a:r>
            <a:r>
              <a:rPr lang="en-US" sz="2400" dirty="0"/>
              <a:t> </a:t>
            </a:r>
            <a:r>
              <a:rPr lang="en-US" sz="2400" dirty="0" err="1"/>
              <a:t>anlamı</a:t>
            </a:r>
            <a:r>
              <a:rPr lang="en-US" sz="2400" dirty="0"/>
              <a:t> </a:t>
            </a:r>
            <a:r>
              <a:rPr lang="en-US" sz="2400" dirty="0" err="1"/>
              <a:t>yoktur</a:t>
            </a:r>
            <a:r>
              <a:rPr lang="en-US" sz="2400" dirty="0"/>
              <a:t>. </a:t>
            </a:r>
            <a:r>
              <a:rPr lang="en-US" sz="2400" dirty="0" err="1"/>
              <a:t>Nesne</a:t>
            </a:r>
            <a:r>
              <a:rPr lang="en-US" sz="2400" dirty="0"/>
              <a:t> </a:t>
            </a:r>
            <a:r>
              <a:rPr lang="en-US" sz="2400" dirty="0" err="1"/>
              <a:t>yönelimli</a:t>
            </a:r>
            <a:r>
              <a:rPr lang="en-US" sz="2400" dirty="0"/>
              <a:t> </a:t>
            </a:r>
            <a:r>
              <a:rPr lang="en-US" sz="2400" dirty="0" err="1"/>
              <a:t>programlama</a:t>
            </a:r>
            <a:r>
              <a:rPr lang="en-US" sz="2400" dirty="0"/>
              <a:t> </a:t>
            </a:r>
            <a:r>
              <a:rPr lang="en-US" sz="2400" dirty="0" err="1"/>
              <a:t>paradigmasını</a:t>
            </a:r>
            <a:r>
              <a:rPr lang="en-US" sz="2400" dirty="0"/>
              <a:t> </a:t>
            </a:r>
            <a:r>
              <a:rPr lang="en-US" sz="2400" dirty="0" err="1"/>
              <a:t>destekleyen</a:t>
            </a:r>
            <a:r>
              <a:rPr lang="en-US" sz="2400" dirty="0"/>
              <a:t> </a:t>
            </a:r>
            <a:r>
              <a:rPr lang="en-US" sz="2400" b="1" dirty="0" err="1"/>
              <a:t>Java’da</a:t>
            </a:r>
            <a:r>
              <a:rPr lang="en-US" sz="2400" dirty="0"/>
              <a:t>, </a:t>
            </a:r>
            <a:r>
              <a:rPr lang="en-US" sz="2400" dirty="0" err="1"/>
              <a:t>tasarlanan</a:t>
            </a:r>
            <a:r>
              <a:rPr lang="en-US" sz="2400" dirty="0"/>
              <a:t> </a:t>
            </a:r>
            <a:r>
              <a:rPr lang="en-US" sz="2400" dirty="0" err="1"/>
              <a:t>nesnelerin</a:t>
            </a:r>
            <a:r>
              <a:rPr lang="en-US" sz="2400" dirty="0"/>
              <a:t> </a:t>
            </a:r>
            <a:r>
              <a:rPr lang="en-US" sz="2400" dirty="0" err="1"/>
              <a:t>tekrar</a:t>
            </a:r>
            <a:r>
              <a:rPr lang="en-US" sz="2400" dirty="0"/>
              <a:t> </a:t>
            </a:r>
            <a:r>
              <a:rPr lang="en-US" sz="2400" dirty="0" err="1"/>
              <a:t>kullanılabilmesi</a:t>
            </a:r>
            <a:r>
              <a:rPr lang="en-US" sz="2400" dirty="0"/>
              <a:t> </a:t>
            </a:r>
            <a:r>
              <a:rPr lang="en-US" sz="2400" b="1" dirty="0"/>
              <a:t>(reuse) </a:t>
            </a:r>
            <a:r>
              <a:rPr lang="en-US" sz="2400" dirty="0" err="1"/>
              <a:t>önemli</a:t>
            </a:r>
            <a:r>
              <a:rPr lang="en-US" sz="2400" dirty="0"/>
              <a:t> </a:t>
            </a:r>
            <a:r>
              <a:rPr lang="en-US" sz="2400" dirty="0" err="1"/>
              <a:t>bir</a:t>
            </a:r>
            <a:r>
              <a:rPr lang="en-US" sz="2400" dirty="0"/>
              <a:t> </a:t>
            </a:r>
            <a:r>
              <a:rPr lang="en-US" sz="2400" dirty="0" err="1"/>
              <a:t>konu</a:t>
            </a:r>
            <a:r>
              <a:rPr lang="en-US" sz="2400" dirty="0"/>
              <a:t> </a:t>
            </a:r>
            <a:r>
              <a:rPr lang="en-US" sz="2400" dirty="0" err="1"/>
              <a:t>olduğuna</a:t>
            </a:r>
            <a:r>
              <a:rPr lang="en-US" sz="2400" dirty="0"/>
              <a:t> </a:t>
            </a:r>
            <a:r>
              <a:rPr lang="en-US" sz="2400" dirty="0" err="1"/>
              <a:t>göre</a:t>
            </a:r>
            <a:r>
              <a:rPr lang="en-US" sz="2400" dirty="0"/>
              <a:t>, </a:t>
            </a:r>
            <a:r>
              <a:rPr lang="en-US" sz="2400" dirty="0" err="1"/>
              <a:t>bu</a:t>
            </a:r>
            <a:r>
              <a:rPr lang="en-US" sz="2400" dirty="0"/>
              <a:t> </a:t>
            </a:r>
            <a:r>
              <a:rPr lang="en-US" sz="2400" dirty="0" err="1"/>
              <a:t>nesneleri</a:t>
            </a:r>
            <a:r>
              <a:rPr lang="en-US" sz="2400" dirty="0"/>
              <a:t> Java </a:t>
            </a:r>
            <a:r>
              <a:rPr lang="en-US" sz="2400" dirty="0" err="1"/>
              <a:t>platformu</a:t>
            </a:r>
            <a:r>
              <a:rPr lang="en-US" sz="2400" dirty="0"/>
              <a:t> </a:t>
            </a:r>
            <a:r>
              <a:rPr lang="en-US" sz="2400" dirty="0" err="1"/>
              <a:t>dışında</a:t>
            </a:r>
            <a:r>
              <a:rPr lang="en-US" sz="2400" dirty="0"/>
              <a:t> da </a:t>
            </a:r>
            <a:r>
              <a:rPr lang="en-US" sz="2400" dirty="0" err="1"/>
              <a:t>hayata</a:t>
            </a:r>
            <a:r>
              <a:rPr lang="en-US" sz="2400" dirty="0"/>
              <a:t> </a:t>
            </a:r>
            <a:r>
              <a:rPr lang="en-US" sz="2400" dirty="0" err="1"/>
              <a:t>geçirmek</a:t>
            </a:r>
            <a:r>
              <a:rPr lang="en-US" sz="2400" dirty="0"/>
              <a:t> </a:t>
            </a:r>
            <a:r>
              <a:rPr lang="en-US" sz="2400" dirty="0" err="1"/>
              <a:t>gerçekten</a:t>
            </a:r>
            <a:r>
              <a:rPr lang="en-US" sz="2400" dirty="0"/>
              <a:t> </a:t>
            </a:r>
            <a:r>
              <a:rPr lang="en-US" sz="2400" dirty="0" err="1"/>
              <a:t>önemlidir</a:t>
            </a:r>
            <a:r>
              <a:rPr lang="en-US" sz="2400" dirty="0"/>
              <a:t>. </a:t>
            </a:r>
            <a:r>
              <a:rPr lang="en-US" sz="2400" dirty="0" err="1"/>
              <a:t>Bahsedilen</a:t>
            </a:r>
            <a:r>
              <a:rPr lang="en-US" sz="2400" dirty="0"/>
              <a:t> </a:t>
            </a:r>
            <a:r>
              <a:rPr lang="en-US" sz="2400" dirty="0" err="1"/>
              <a:t>bu</a:t>
            </a:r>
            <a:r>
              <a:rPr lang="en-US" sz="2400" dirty="0"/>
              <a:t> problem, </a:t>
            </a:r>
            <a:r>
              <a:rPr lang="en-US" sz="2400" b="1" dirty="0"/>
              <a:t>Java Serialization API </a:t>
            </a:r>
            <a:r>
              <a:rPr lang="en-US" sz="2400" dirty="0" err="1"/>
              <a:t>sayesinde</a:t>
            </a:r>
            <a:r>
              <a:rPr lang="en-US" sz="2400" dirty="0"/>
              <a:t> </a:t>
            </a:r>
            <a:r>
              <a:rPr lang="en-US" sz="2400" dirty="0" err="1"/>
              <a:t>çok</a:t>
            </a:r>
            <a:r>
              <a:rPr lang="en-US" sz="2400" dirty="0"/>
              <a:t> </a:t>
            </a:r>
            <a:r>
              <a:rPr lang="en-US" sz="2400" dirty="0" err="1"/>
              <a:t>kolay</a:t>
            </a:r>
            <a:r>
              <a:rPr lang="en-US" sz="2400" dirty="0"/>
              <a:t> </a:t>
            </a:r>
            <a:r>
              <a:rPr lang="en-US" sz="2400" dirty="0" err="1"/>
              <a:t>bir</a:t>
            </a:r>
            <a:r>
              <a:rPr lang="en-US" sz="2400" dirty="0"/>
              <a:t> </a:t>
            </a:r>
            <a:r>
              <a:rPr lang="en-US" sz="2400" dirty="0" err="1"/>
              <a:t>şekilde</a:t>
            </a:r>
            <a:r>
              <a:rPr lang="en-US" sz="2400" dirty="0"/>
              <a:t> </a:t>
            </a:r>
            <a:r>
              <a:rPr lang="en-US" sz="2400" dirty="0" err="1"/>
              <a:t>aşılabiliyor</a:t>
            </a:r>
            <a:r>
              <a:rPr lang="en-US" sz="2400" dirty="0" smtClean="0"/>
              <a:t>.</a:t>
            </a:r>
            <a:endParaRPr lang="tr-TR" sz="2400" dirty="0" smtClean="0"/>
          </a:p>
          <a:p>
            <a:pPr marL="0" indent="0">
              <a:buNone/>
            </a:pPr>
            <a:endParaRPr lang="en-US" sz="2400" dirty="0"/>
          </a:p>
          <a:p>
            <a:pPr marL="0" indent="0">
              <a:buNone/>
            </a:pPr>
            <a:endParaRPr lang="tr-TR" b="1" dirty="0" smtClean="0"/>
          </a:p>
          <a:p>
            <a:pPr marL="0" indent="0">
              <a:buNone/>
            </a:pPr>
            <a:endParaRPr lang="en-US" b="1" dirty="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9758" y="3465512"/>
            <a:ext cx="8191500" cy="3392488"/>
          </a:xfrm>
          <a:prstGeom prst="rect">
            <a:avLst/>
          </a:prstGeom>
        </p:spPr>
      </p:pic>
    </p:spTree>
    <p:extLst>
      <p:ext uri="{BB962C8B-B14F-4D97-AF65-F5344CB8AC3E}">
        <p14:creationId xmlns:p14="http://schemas.microsoft.com/office/powerpoint/2010/main" val="173520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8300" y="266700"/>
            <a:ext cx="11506200" cy="6159500"/>
          </a:xfrm>
        </p:spPr>
        <p:txBody>
          <a:bodyPr>
            <a:normAutofit fontScale="92500" lnSpcReduction="20000"/>
          </a:bodyPr>
          <a:lstStyle/>
          <a:p>
            <a:pPr marL="0" indent="0">
              <a:buNone/>
            </a:pPr>
            <a:r>
              <a:rPr lang="en-US" dirty="0" err="1"/>
              <a:t>Konuya</a:t>
            </a:r>
            <a:r>
              <a:rPr lang="en-US" dirty="0"/>
              <a:t> </a:t>
            </a:r>
            <a:r>
              <a:rPr lang="en-US" dirty="0" err="1"/>
              <a:t>bir</a:t>
            </a:r>
            <a:r>
              <a:rPr lang="en-US" dirty="0"/>
              <a:t> de </a:t>
            </a:r>
            <a:r>
              <a:rPr lang="en-US" dirty="0" err="1"/>
              <a:t>şu</a:t>
            </a:r>
            <a:r>
              <a:rPr lang="en-US" dirty="0"/>
              <a:t> </a:t>
            </a:r>
            <a:r>
              <a:rPr lang="en-US" dirty="0" err="1"/>
              <a:t>yönden</a:t>
            </a:r>
            <a:r>
              <a:rPr lang="en-US" dirty="0"/>
              <a:t> </a:t>
            </a:r>
            <a:r>
              <a:rPr lang="en-US" dirty="0" err="1"/>
              <a:t>bakarsak</a:t>
            </a:r>
            <a:r>
              <a:rPr lang="en-US" dirty="0"/>
              <a:t>, </a:t>
            </a:r>
            <a:r>
              <a:rPr lang="en-US" dirty="0" err="1"/>
              <a:t>herhangi</a:t>
            </a:r>
            <a:r>
              <a:rPr lang="en-US" dirty="0"/>
              <a:t> </a:t>
            </a:r>
            <a:r>
              <a:rPr lang="en-US" dirty="0" err="1"/>
              <a:t>bir</a:t>
            </a:r>
            <a:r>
              <a:rPr lang="en-US" dirty="0"/>
              <a:t> </a:t>
            </a:r>
            <a:r>
              <a:rPr lang="en-US" dirty="0" err="1"/>
              <a:t>nesne</a:t>
            </a:r>
            <a:r>
              <a:rPr lang="en-US" dirty="0"/>
              <a:t> </a:t>
            </a:r>
            <a:r>
              <a:rPr lang="en-US" dirty="0" err="1"/>
              <a:t>içerisindeki</a:t>
            </a:r>
            <a:r>
              <a:rPr lang="en-US" dirty="0"/>
              <a:t> </a:t>
            </a:r>
            <a:r>
              <a:rPr lang="en-US" dirty="0" err="1"/>
              <a:t>fieldları</a:t>
            </a:r>
            <a:r>
              <a:rPr lang="en-US" dirty="0"/>
              <a:t> </a:t>
            </a:r>
            <a:r>
              <a:rPr lang="en-US" dirty="0" err="1"/>
              <a:t>bir</a:t>
            </a:r>
            <a:r>
              <a:rPr lang="en-US" dirty="0"/>
              <a:t> </a:t>
            </a:r>
            <a:r>
              <a:rPr lang="en-US" dirty="0" err="1"/>
              <a:t>dosyaya</a:t>
            </a:r>
            <a:r>
              <a:rPr lang="en-US" dirty="0"/>
              <a:t> </a:t>
            </a:r>
            <a:r>
              <a:rPr lang="en-US" dirty="0" err="1"/>
              <a:t>yazdırdığımızda</a:t>
            </a:r>
            <a:r>
              <a:rPr lang="en-US" dirty="0"/>
              <a:t>, </a:t>
            </a:r>
            <a:r>
              <a:rPr lang="en-US" dirty="0" err="1"/>
              <a:t>bu</a:t>
            </a:r>
            <a:r>
              <a:rPr lang="en-US" dirty="0"/>
              <a:t> </a:t>
            </a:r>
            <a:r>
              <a:rPr lang="en-US" dirty="0" err="1"/>
              <a:t>verilerin</a:t>
            </a:r>
            <a:r>
              <a:rPr lang="en-US" dirty="0"/>
              <a:t> </a:t>
            </a:r>
            <a:r>
              <a:rPr lang="en-US" dirty="0" err="1"/>
              <a:t>sadece</a:t>
            </a:r>
            <a:r>
              <a:rPr lang="en-US" dirty="0"/>
              <a:t> </a:t>
            </a:r>
            <a:r>
              <a:rPr lang="en-US" dirty="0" err="1"/>
              <a:t>değerlerini</a:t>
            </a:r>
            <a:r>
              <a:rPr lang="en-US" dirty="0"/>
              <a:t> (values) </a:t>
            </a:r>
            <a:r>
              <a:rPr lang="en-US" dirty="0" err="1"/>
              <a:t>dosya</a:t>
            </a:r>
            <a:r>
              <a:rPr lang="en-US" dirty="0"/>
              <a:t> </a:t>
            </a:r>
            <a:r>
              <a:rPr lang="en-US" dirty="0" err="1"/>
              <a:t>içerisinde</a:t>
            </a:r>
            <a:r>
              <a:rPr lang="en-US" dirty="0"/>
              <a:t> </a:t>
            </a:r>
            <a:r>
              <a:rPr lang="en-US" dirty="0" err="1"/>
              <a:t>depolarız</a:t>
            </a:r>
            <a:r>
              <a:rPr lang="en-US" dirty="0"/>
              <a:t>. </a:t>
            </a:r>
            <a:r>
              <a:rPr lang="en-US" dirty="0" err="1"/>
              <a:t>Halbuki</a:t>
            </a:r>
            <a:r>
              <a:rPr lang="en-US" dirty="0"/>
              <a:t> </a:t>
            </a:r>
            <a:r>
              <a:rPr lang="en-US" dirty="0" err="1"/>
              <a:t>bu</a:t>
            </a:r>
            <a:r>
              <a:rPr lang="en-US" dirty="0"/>
              <a:t> </a:t>
            </a:r>
            <a:r>
              <a:rPr lang="en-US" dirty="0" err="1"/>
              <a:t>verilerin</a:t>
            </a:r>
            <a:r>
              <a:rPr lang="en-US" dirty="0"/>
              <a:t> </a:t>
            </a:r>
            <a:r>
              <a:rPr lang="en-US" dirty="0" err="1"/>
              <a:t>sınıf</a:t>
            </a:r>
            <a:r>
              <a:rPr lang="en-US" dirty="0"/>
              <a:t> </a:t>
            </a:r>
            <a:r>
              <a:rPr lang="en-US" dirty="0" err="1"/>
              <a:t>tanımlaması</a:t>
            </a:r>
            <a:r>
              <a:rPr lang="en-US" dirty="0"/>
              <a:t> </a:t>
            </a:r>
            <a:r>
              <a:rPr lang="en-US" dirty="0" err="1"/>
              <a:t>içerisindeki</a:t>
            </a:r>
            <a:r>
              <a:rPr lang="en-US" dirty="0"/>
              <a:t> </a:t>
            </a:r>
            <a:r>
              <a:rPr lang="en-US" dirty="0" err="1"/>
              <a:t>tipleri</a:t>
            </a:r>
            <a:r>
              <a:rPr lang="en-US" dirty="0"/>
              <a:t> de en </a:t>
            </a:r>
            <a:r>
              <a:rPr lang="en-US" dirty="0" err="1"/>
              <a:t>az</a:t>
            </a:r>
            <a:r>
              <a:rPr lang="en-US" dirty="0"/>
              <a:t> </a:t>
            </a:r>
            <a:r>
              <a:rPr lang="en-US" dirty="0" err="1"/>
              <a:t>değerleri</a:t>
            </a:r>
            <a:r>
              <a:rPr lang="en-US" dirty="0"/>
              <a:t> </a:t>
            </a:r>
            <a:r>
              <a:rPr lang="en-US" dirty="0" err="1"/>
              <a:t>kadar</a:t>
            </a:r>
            <a:r>
              <a:rPr lang="en-US" dirty="0"/>
              <a:t> </a:t>
            </a:r>
            <a:r>
              <a:rPr lang="en-US" dirty="0" err="1"/>
              <a:t>önemlidir</a:t>
            </a:r>
            <a:r>
              <a:rPr lang="en-US" dirty="0"/>
              <a:t>. </a:t>
            </a:r>
            <a:r>
              <a:rPr lang="en-US" dirty="0" err="1"/>
              <a:t>Herhangi</a:t>
            </a:r>
            <a:r>
              <a:rPr lang="en-US" dirty="0"/>
              <a:t> </a:t>
            </a:r>
            <a:r>
              <a:rPr lang="en-US" dirty="0" err="1"/>
              <a:t>bir</a:t>
            </a:r>
            <a:r>
              <a:rPr lang="en-US" dirty="0"/>
              <a:t> </a:t>
            </a:r>
            <a:r>
              <a:rPr lang="en-US" dirty="0" err="1"/>
              <a:t>nesnenin</a:t>
            </a:r>
            <a:r>
              <a:rPr lang="en-US" dirty="0"/>
              <a:t> </a:t>
            </a:r>
            <a:r>
              <a:rPr lang="en-US" dirty="0" err="1"/>
              <a:t>fieldındaki</a:t>
            </a:r>
            <a:r>
              <a:rPr lang="en-US" dirty="0"/>
              <a:t> </a:t>
            </a:r>
            <a:r>
              <a:rPr lang="en-US" dirty="0" err="1"/>
              <a:t>değer</a:t>
            </a:r>
            <a:r>
              <a:rPr lang="en-US" dirty="0"/>
              <a:t> 3 </a:t>
            </a:r>
            <a:r>
              <a:rPr lang="en-US" dirty="0" err="1"/>
              <a:t>ise</a:t>
            </a:r>
            <a:r>
              <a:rPr lang="en-US" dirty="0"/>
              <a:t>, </a:t>
            </a:r>
            <a:r>
              <a:rPr lang="en-US" dirty="0" err="1"/>
              <a:t>bu</a:t>
            </a:r>
            <a:r>
              <a:rPr lang="en-US" dirty="0"/>
              <a:t> </a:t>
            </a:r>
            <a:r>
              <a:rPr lang="en-US" dirty="0" err="1"/>
              <a:t>değerin</a:t>
            </a:r>
            <a:r>
              <a:rPr lang="en-US" dirty="0"/>
              <a:t> string mi </a:t>
            </a:r>
            <a:r>
              <a:rPr lang="en-US" dirty="0" err="1"/>
              <a:t>int</a:t>
            </a:r>
            <a:r>
              <a:rPr lang="en-US" dirty="0"/>
              <a:t> mi </a:t>
            </a:r>
            <a:r>
              <a:rPr lang="en-US" dirty="0" err="1"/>
              <a:t>olduğunun</a:t>
            </a:r>
            <a:r>
              <a:rPr lang="en-US" dirty="0"/>
              <a:t> </a:t>
            </a:r>
            <a:r>
              <a:rPr lang="en-US" dirty="0" err="1"/>
              <a:t>dosya</a:t>
            </a:r>
            <a:r>
              <a:rPr lang="en-US" dirty="0"/>
              <a:t> </a:t>
            </a:r>
            <a:r>
              <a:rPr lang="en-US" dirty="0" err="1"/>
              <a:t>üzerinde</a:t>
            </a:r>
            <a:r>
              <a:rPr lang="en-US" dirty="0"/>
              <a:t> </a:t>
            </a:r>
            <a:r>
              <a:rPr lang="en-US" dirty="0" err="1"/>
              <a:t>bir</a:t>
            </a:r>
            <a:r>
              <a:rPr lang="en-US" dirty="0"/>
              <a:t> </a:t>
            </a:r>
            <a:r>
              <a:rPr lang="en-US" dirty="0" err="1"/>
              <a:t>anlamı</a:t>
            </a:r>
            <a:r>
              <a:rPr lang="en-US" dirty="0"/>
              <a:t> </a:t>
            </a:r>
            <a:r>
              <a:rPr lang="en-US" dirty="0" err="1"/>
              <a:t>yoktur</a:t>
            </a:r>
            <a:r>
              <a:rPr lang="en-US" dirty="0"/>
              <a:t>.</a:t>
            </a:r>
          </a:p>
          <a:p>
            <a:pPr marL="0" indent="0">
              <a:buNone/>
            </a:pPr>
            <a:r>
              <a:rPr lang="en-US" b="1" dirty="0"/>
              <a:t>Java Serialization API </a:t>
            </a:r>
            <a:r>
              <a:rPr lang="en-US" dirty="0" err="1"/>
              <a:t>sayesinde</a:t>
            </a:r>
            <a:r>
              <a:rPr lang="en-US" dirty="0"/>
              <a:t> </a:t>
            </a:r>
            <a:r>
              <a:rPr lang="en-US" dirty="0" err="1"/>
              <a:t>bir</a:t>
            </a:r>
            <a:r>
              <a:rPr lang="en-US" dirty="0"/>
              <a:t> </a:t>
            </a:r>
            <a:r>
              <a:rPr lang="en-US" dirty="0" err="1"/>
              <a:t>nesnenin</a:t>
            </a:r>
            <a:r>
              <a:rPr lang="en-US" dirty="0"/>
              <a:t> </a:t>
            </a:r>
            <a:r>
              <a:rPr lang="en-US" dirty="0" err="1"/>
              <a:t>birebir</a:t>
            </a:r>
            <a:r>
              <a:rPr lang="en-US" dirty="0"/>
              <a:t> </a:t>
            </a:r>
            <a:r>
              <a:rPr lang="en-US" dirty="0" err="1"/>
              <a:t>kopyasını</a:t>
            </a:r>
            <a:r>
              <a:rPr lang="en-US" dirty="0"/>
              <a:t>, Java </a:t>
            </a:r>
            <a:r>
              <a:rPr lang="en-US" dirty="0" err="1"/>
              <a:t>platformu</a:t>
            </a:r>
            <a:r>
              <a:rPr lang="en-US" dirty="0"/>
              <a:t> </a:t>
            </a:r>
            <a:r>
              <a:rPr lang="en-US" dirty="0" err="1"/>
              <a:t>dışında</a:t>
            </a:r>
            <a:r>
              <a:rPr lang="en-US" dirty="0"/>
              <a:t> da </a:t>
            </a:r>
            <a:r>
              <a:rPr lang="en-US" dirty="0" err="1"/>
              <a:t>depolayabiliriz</a:t>
            </a:r>
            <a:r>
              <a:rPr lang="en-US" dirty="0"/>
              <a:t>. Bu </a:t>
            </a:r>
            <a:r>
              <a:rPr lang="en-US" dirty="0" err="1"/>
              <a:t>mekanizma</a:t>
            </a:r>
            <a:r>
              <a:rPr lang="en-US" dirty="0"/>
              <a:t> </a:t>
            </a:r>
            <a:r>
              <a:rPr lang="en-US" dirty="0" err="1"/>
              <a:t>ile</a:t>
            </a:r>
            <a:r>
              <a:rPr lang="en-US" dirty="0"/>
              <a:t> </a:t>
            </a:r>
            <a:r>
              <a:rPr lang="en-US" dirty="0" err="1"/>
              <a:t>daha</a:t>
            </a:r>
            <a:r>
              <a:rPr lang="en-US" dirty="0"/>
              <a:t> </a:t>
            </a:r>
            <a:r>
              <a:rPr lang="en-US" dirty="0" err="1"/>
              <a:t>sonra</a:t>
            </a:r>
            <a:r>
              <a:rPr lang="en-US" dirty="0"/>
              <a:t>,  </a:t>
            </a:r>
            <a:r>
              <a:rPr lang="en-US" dirty="0" err="1"/>
              <a:t>nesneyi</a:t>
            </a:r>
            <a:r>
              <a:rPr lang="en-US" dirty="0"/>
              <a:t> </a:t>
            </a:r>
            <a:r>
              <a:rPr lang="en-US" dirty="0" err="1"/>
              <a:t>depolanan</a:t>
            </a:r>
            <a:r>
              <a:rPr lang="en-US" dirty="0"/>
              <a:t> </a:t>
            </a:r>
            <a:r>
              <a:rPr lang="en-US" dirty="0" err="1"/>
              <a:t>yerden</a:t>
            </a:r>
            <a:r>
              <a:rPr lang="en-US" dirty="0"/>
              <a:t> </a:t>
            </a:r>
            <a:r>
              <a:rPr lang="en-US" dirty="0" err="1"/>
              <a:t>çekip</a:t>
            </a:r>
            <a:r>
              <a:rPr lang="en-US" dirty="0"/>
              <a:t>, </a:t>
            </a:r>
            <a:r>
              <a:rPr lang="en-US" dirty="0" err="1"/>
              <a:t>aynı</a:t>
            </a:r>
            <a:r>
              <a:rPr lang="en-US" dirty="0"/>
              <a:t> durum (state) </a:t>
            </a:r>
            <a:r>
              <a:rPr lang="en-US" dirty="0" err="1"/>
              <a:t>ve</a:t>
            </a:r>
            <a:r>
              <a:rPr lang="en-US" dirty="0"/>
              <a:t> </a:t>
            </a:r>
            <a:r>
              <a:rPr lang="en-US" dirty="0" err="1"/>
              <a:t>özellikleri</a:t>
            </a:r>
            <a:r>
              <a:rPr lang="en-US" dirty="0"/>
              <a:t> </a:t>
            </a:r>
            <a:r>
              <a:rPr lang="en-US" dirty="0" err="1"/>
              <a:t>ile</a:t>
            </a:r>
            <a:r>
              <a:rPr lang="en-US" dirty="0"/>
              <a:t> </a:t>
            </a:r>
            <a:r>
              <a:rPr lang="en-US" dirty="0" err="1"/>
              <a:t>kullanmaya</a:t>
            </a:r>
            <a:r>
              <a:rPr lang="en-US" dirty="0"/>
              <a:t> </a:t>
            </a:r>
            <a:r>
              <a:rPr lang="en-US" dirty="0" err="1"/>
              <a:t>devam</a:t>
            </a:r>
            <a:r>
              <a:rPr lang="en-US" dirty="0"/>
              <a:t> </a:t>
            </a:r>
            <a:r>
              <a:rPr lang="en-US" dirty="0" err="1"/>
              <a:t>edebiliriz</a:t>
            </a:r>
            <a:r>
              <a:rPr lang="en-US" dirty="0"/>
              <a:t>. </a:t>
            </a:r>
            <a:r>
              <a:rPr lang="en-US" dirty="0" err="1"/>
              <a:t>Tüm</a:t>
            </a:r>
            <a:r>
              <a:rPr lang="en-US" dirty="0"/>
              <a:t> </a:t>
            </a:r>
            <a:r>
              <a:rPr lang="en-US" dirty="0" err="1"/>
              <a:t>bu</a:t>
            </a:r>
            <a:r>
              <a:rPr lang="en-US" dirty="0"/>
              <a:t> </a:t>
            </a:r>
            <a:r>
              <a:rPr lang="en-US" dirty="0" err="1"/>
              <a:t>sisteme</a:t>
            </a:r>
            <a:r>
              <a:rPr lang="en-US" dirty="0"/>
              <a:t>, </a:t>
            </a:r>
            <a:r>
              <a:rPr lang="en-US" b="1" dirty="0"/>
              <a:t>Object Serialization</a:t>
            </a:r>
            <a:r>
              <a:rPr lang="en-US" dirty="0"/>
              <a:t> </a:t>
            </a:r>
            <a:r>
              <a:rPr lang="en-US" b="1" dirty="0"/>
              <a:t>(</a:t>
            </a:r>
            <a:r>
              <a:rPr lang="en-US" b="1" dirty="0" err="1"/>
              <a:t>Nesne</a:t>
            </a:r>
            <a:r>
              <a:rPr lang="en-US" b="1" dirty="0"/>
              <a:t> </a:t>
            </a:r>
            <a:r>
              <a:rPr lang="en-US" b="1" dirty="0" err="1"/>
              <a:t>Serileştirme</a:t>
            </a:r>
            <a:r>
              <a:rPr lang="en-US" b="1" dirty="0"/>
              <a:t>) </a:t>
            </a:r>
            <a:r>
              <a:rPr lang="en-US" dirty="0" err="1"/>
              <a:t>adı</a:t>
            </a:r>
            <a:r>
              <a:rPr lang="en-US" dirty="0"/>
              <a:t> </a:t>
            </a:r>
            <a:r>
              <a:rPr lang="en-US" dirty="0" err="1"/>
              <a:t>verilir</a:t>
            </a:r>
            <a:r>
              <a:rPr lang="en-US" dirty="0" smtClean="0"/>
              <a:t>.</a:t>
            </a:r>
            <a:endParaRPr lang="tr-TR" dirty="0" smtClean="0"/>
          </a:p>
          <a:p>
            <a:pPr marL="0" indent="0">
              <a:buNone/>
            </a:pPr>
            <a:r>
              <a:rPr lang="en-US" b="1" dirty="0"/>
              <a:t>Object Serialization </a:t>
            </a:r>
            <a:r>
              <a:rPr lang="en-US" b="1" dirty="0" err="1"/>
              <a:t>Temelleri</a:t>
            </a:r>
            <a:endParaRPr lang="en-US" b="1" dirty="0"/>
          </a:p>
          <a:p>
            <a:pPr marL="0" indent="0">
              <a:buNone/>
            </a:pPr>
            <a:r>
              <a:rPr lang="en-US" dirty="0" err="1"/>
              <a:t>Nesneleri</a:t>
            </a:r>
            <a:r>
              <a:rPr lang="en-US" dirty="0"/>
              <a:t> </a:t>
            </a:r>
            <a:r>
              <a:rPr lang="en-US" dirty="0" err="1"/>
              <a:t>serileştirmek</a:t>
            </a:r>
            <a:r>
              <a:rPr lang="en-US" dirty="0"/>
              <a:t> </a:t>
            </a:r>
            <a:r>
              <a:rPr lang="en-US" dirty="0" err="1"/>
              <a:t>için</a:t>
            </a:r>
            <a:r>
              <a:rPr lang="en-US" dirty="0"/>
              <a:t> </a:t>
            </a:r>
            <a:r>
              <a:rPr lang="en-US" dirty="0" err="1"/>
              <a:t>yapılması</a:t>
            </a:r>
            <a:r>
              <a:rPr lang="en-US" dirty="0"/>
              <a:t> </a:t>
            </a:r>
            <a:r>
              <a:rPr lang="en-US" dirty="0" err="1"/>
              <a:t>gereken</a:t>
            </a:r>
            <a:r>
              <a:rPr lang="en-US" dirty="0"/>
              <a:t> </a:t>
            </a:r>
            <a:r>
              <a:rPr lang="en-US" dirty="0" err="1"/>
              <a:t>tek</a:t>
            </a:r>
            <a:r>
              <a:rPr lang="en-US" dirty="0"/>
              <a:t> </a:t>
            </a:r>
            <a:r>
              <a:rPr lang="en-US" dirty="0" err="1"/>
              <a:t>şey</a:t>
            </a:r>
            <a:r>
              <a:rPr lang="en-US" dirty="0"/>
              <a:t>, </a:t>
            </a:r>
            <a:r>
              <a:rPr lang="en-US" dirty="0" err="1"/>
              <a:t>serileştirilecek</a:t>
            </a:r>
            <a:r>
              <a:rPr lang="en-US" dirty="0"/>
              <a:t> </a:t>
            </a:r>
            <a:r>
              <a:rPr lang="en-US" dirty="0" err="1"/>
              <a:t>nesnemizin</a:t>
            </a:r>
            <a:r>
              <a:rPr lang="en-US" dirty="0"/>
              <a:t> </a:t>
            </a:r>
            <a:r>
              <a:rPr lang="en-US" dirty="0" err="1"/>
              <a:t>serileştirilebilir</a:t>
            </a:r>
            <a:r>
              <a:rPr lang="en-US" dirty="0"/>
              <a:t> (</a:t>
            </a:r>
            <a:r>
              <a:rPr lang="en-US" dirty="0" err="1"/>
              <a:t>serializable</a:t>
            </a:r>
            <a:r>
              <a:rPr lang="en-US" dirty="0"/>
              <a:t>) </a:t>
            </a:r>
            <a:r>
              <a:rPr lang="en-US" dirty="0" err="1"/>
              <a:t>olduğunu</a:t>
            </a:r>
            <a:r>
              <a:rPr lang="en-US" dirty="0"/>
              <a:t> </a:t>
            </a:r>
            <a:r>
              <a:rPr lang="en-US" b="1" i="1" dirty="0"/>
              <a:t>tagging interface</a:t>
            </a:r>
            <a:r>
              <a:rPr lang="en-US" dirty="0"/>
              <a:t> </a:t>
            </a:r>
            <a:r>
              <a:rPr lang="en-US" dirty="0" err="1"/>
              <a:t>sayesinde</a:t>
            </a:r>
            <a:r>
              <a:rPr lang="en-US" dirty="0"/>
              <a:t> </a:t>
            </a:r>
            <a:r>
              <a:rPr lang="en-US" dirty="0" err="1"/>
              <a:t>sınıf</a:t>
            </a:r>
            <a:r>
              <a:rPr lang="en-US" dirty="0"/>
              <a:t> </a:t>
            </a:r>
            <a:r>
              <a:rPr lang="en-US" dirty="0" err="1"/>
              <a:t>deklarasyonunun</a:t>
            </a:r>
            <a:r>
              <a:rPr lang="en-US" dirty="0"/>
              <a:t> </a:t>
            </a:r>
            <a:r>
              <a:rPr lang="en-US" dirty="0" err="1"/>
              <a:t>başında</a:t>
            </a:r>
            <a:r>
              <a:rPr lang="en-US" dirty="0"/>
              <a:t> </a:t>
            </a:r>
            <a:r>
              <a:rPr lang="en-US" dirty="0" err="1"/>
              <a:t>belirtmek</a:t>
            </a:r>
            <a:r>
              <a:rPr lang="en-US" dirty="0"/>
              <a:t>.</a:t>
            </a:r>
          </a:p>
          <a:p>
            <a:pPr marL="0" indent="0">
              <a:buNone/>
            </a:pPr>
            <a:r>
              <a:rPr lang="en-US" dirty="0" err="1"/>
              <a:t>Peki</a:t>
            </a:r>
            <a:r>
              <a:rPr lang="en-US" dirty="0"/>
              <a:t>, </a:t>
            </a:r>
            <a:r>
              <a:rPr lang="en-US" b="1" dirty="0"/>
              <a:t>tagging</a:t>
            </a:r>
            <a:r>
              <a:rPr lang="en-US" dirty="0"/>
              <a:t> </a:t>
            </a:r>
            <a:r>
              <a:rPr lang="en-US" b="1" dirty="0"/>
              <a:t>interface</a:t>
            </a:r>
            <a:r>
              <a:rPr lang="en-US" dirty="0"/>
              <a:t> tam </a:t>
            </a:r>
            <a:r>
              <a:rPr lang="en-US" dirty="0" err="1"/>
              <a:t>olarak</a:t>
            </a:r>
            <a:r>
              <a:rPr lang="en-US" dirty="0"/>
              <a:t> </a:t>
            </a:r>
            <a:r>
              <a:rPr lang="en-US" dirty="0" err="1"/>
              <a:t>nedir</a:t>
            </a:r>
            <a:r>
              <a:rPr lang="en-US" dirty="0"/>
              <a:t>? </a:t>
            </a:r>
            <a:r>
              <a:rPr lang="en-US" b="1" dirty="0"/>
              <a:t>Tagging Interface</a:t>
            </a:r>
            <a:r>
              <a:rPr lang="en-US" dirty="0"/>
              <a:t>, </a:t>
            </a:r>
            <a:r>
              <a:rPr lang="en-US" dirty="0" err="1"/>
              <a:t>basit</a:t>
            </a:r>
            <a:r>
              <a:rPr lang="en-US" dirty="0"/>
              <a:t> </a:t>
            </a:r>
            <a:r>
              <a:rPr lang="en-US" dirty="0" err="1"/>
              <a:t>bir</a:t>
            </a:r>
            <a:r>
              <a:rPr lang="en-US" dirty="0"/>
              <a:t> Java </a:t>
            </a:r>
            <a:r>
              <a:rPr lang="en-US" dirty="0" smtClean="0"/>
              <a:t>interface</a:t>
            </a:r>
            <a:r>
              <a:rPr lang="tr-TR" dirty="0" smtClean="0"/>
              <a:t> </a:t>
            </a:r>
            <a:r>
              <a:rPr lang="en-US" dirty="0" err="1" smtClean="0"/>
              <a:t>idir</a:t>
            </a:r>
            <a:r>
              <a:rPr lang="en-US" dirty="0"/>
              <a:t>. </a:t>
            </a:r>
            <a:r>
              <a:rPr lang="en-US" dirty="0" err="1"/>
              <a:t>Özelliği</a:t>
            </a:r>
            <a:r>
              <a:rPr lang="en-US" dirty="0"/>
              <a:t>, </a:t>
            </a:r>
            <a:r>
              <a:rPr lang="en-US" dirty="0" err="1"/>
              <a:t>içerisinde</a:t>
            </a:r>
            <a:r>
              <a:rPr lang="en-US" dirty="0"/>
              <a:t> </a:t>
            </a:r>
            <a:r>
              <a:rPr lang="en-US" dirty="0" err="1"/>
              <a:t>herhangi</a:t>
            </a:r>
            <a:r>
              <a:rPr lang="en-US" dirty="0"/>
              <a:t> </a:t>
            </a:r>
            <a:r>
              <a:rPr lang="en-US" dirty="0" err="1"/>
              <a:t>bir</a:t>
            </a:r>
            <a:r>
              <a:rPr lang="en-US" dirty="0"/>
              <a:t> method </a:t>
            </a:r>
            <a:r>
              <a:rPr lang="en-US" dirty="0" err="1"/>
              <a:t>tanımlaması</a:t>
            </a:r>
            <a:r>
              <a:rPr lang="en-US" dirty="0"/>
              <a:t> </a:t>
            </a:r>
            <a:r>
              <a:rPr lang="en-US" dirty="0" err="1"/>
              <a:t>yapmaz</a:t>
            </a:r>
            <a:r>
              <a:rPr lang="en-US" dirty="0"/>
              <a:t>. </a:t>
            </a:r>
            <a:r>
              <a:rPr lang="en-US" dirty="0" err="1"/>
              <a:t>Sadece</a:t>
            </a:r>
            <a:r>
              <a:rPr lang="en-US" dirty="0"/>
              <a:t> </a:t>
            </a:r>
            <a:r>
              <a:rPr lang="en-US" dirty="0" err="1"/>
              <a:t>belirli</a:t>
            </a:r>
            <a:r>
              <a:rPr lang="en-US" dirty="0"/>
              <a:t> </a:t>
            </a:r>
            <a:r>
              <a:rPr lang="en-US" dirty="0" err="1"/>
              <a:t>işlerin</a:t>
            </a:r>
            <a:r>
              <a:rPr lang="en-US" dirty="0"/>
              <a:t>, </a:t>
            </a:r>
            <a:r>
              <a:rPr lang="en-US" dirty="0" err="1"/>
              <a:t>belirli</a:t>
            </a:r>
            <a:r>
              <a:rPr lang="en-US" dirty="0"/>
              <a:t> </a:t>
            </a:r>
            <a:r>
              <a:rPr lang="en-US" dirty="0" err="1"/>
              <a:t>nesneler</a:t>
            </a:r>
            <a:r>
              <a:rPr lang="en-US" dirty="0"/>
              <a:t> </a:t>
            </a:r>
            <a:r>
              <a:rPr lang="en-US" dirty="0" err="1"/>
              <a:t>tarafından</a:t>
            </a:r>
            <a:r>
              <a:rPr lang="en-US" dirty="0"/>
              <a:t> </a:t>
            </a:r>
            <a:r>
              <a:rPr lang="en-US" dirty="0" err="1"/>
              <a:t>yapılabilmesi</a:t>
            </a:r>
            <a:r>
              <a:rPr lang="en-US" dirty="0"/>
              <a:t> </a:t>
            </a:r>
            <a:r>
              <a:rPr lang="en-US" dirty="0" err="1"/>
              <a:t>için</a:t>
            </a:r>
            <a:r>
              <a:rPr lang="en-US" dirty="0"/>
              <a:t> </a:t>
            </a:r>
            <a:r>
              <a:rPr lang="en-US" dirty="0" err="1"/>
              <a:t>sınıflara</a:t>
            </a:r>
            <a:r>
              <a:rPr lang="en-US" dirty="0"/>
              <a:t> </a:t>
            </a:r>
            <a:r>
              <a:rPr lang="en-US" dirty="0" err="1"/>
              <a:t>bazı</a:t>
            </a:r>
            <a:r>
              <a:rPr lang="en-US" dirty="0"/>
              <a:t> </a:t>
            </a:r>
            <a:r>
              <a:rPr lang="en-US" dirty="0" err="1"/>
              <a:t>standartlar</a:t>
            </a:r>
            <a:r>
              <a:rPr lang="en-US" dirty="0"/>
              <a:t> </a:t>
            </a:r>
            <a:r>
              <a:rPr lang="en-US" dirty="0" err="1"/>
              <a:t>oluşturmak</a:t>
            </a:r>
            <a:r>
              <a:rPr lang="en-US" dirty="0"/>
              <a:t> </a:t>
            </a:r>
            <a:r>
              <a:rPr lang="en-US" dirty="0" err="1"/>
              <a:t>için</a:t>
            </a:r>
            <a:r>
              <a:rPr lang="en-US" dirty="0"/>
              <a:t> </a:t>
            </a:r>
            <a:r>
              <a:rPr lang="en-US" dirty="0" err="1"/>
              <a:t>tasarlanmıştır</a:t>
            </a:r>
            <a:r>
              <a:rPr lang="en-US" dirty="0"/>
              <a:t>. </a:t>
            </a:r>
            <a:r>
              <a:rPr lang="en-US" dirty="0" err="1"/>
              <a:t>Nesne</a:t>
            </a:r>
            <a:r>
              <a:rPr lang="en-US" dirty="0"/>
              <a:t> </a:t>
            </a:r>
            <a:r>
              <a:rPr lang="en-US" dirty="0" err="1"/>
              <a:t>serileştirme</a:t>
            </a:r>
            <a:r>
              <a:rPr lang="en-US" dirty="0"/>
              <a:t> </a:t>
            </a:r>
            <a:r>
              <a:rPr lang="en-US" dirty="0" err="1"/>
              <a:t>işleminde</a:t>
            </a:r>
            <a:r>
              <a:rPr lang="en-US" dirty="0"/>
              <a:t> de </a:t>
            </a:r>
            <a:r>
              <a:rPr lang="en-US" dirty="0" err="1"/>
              <a:t>yapmamız</a:t>
            </a:r>
            <a:r>
              <a:rPr lang="en-US" dirty="0"/>
              <a:t> </a:t>
            </a:r>
            <a:r>
              <a:rPr lang="en-US" dirty="0" err="1"/>
              <a:t>gereken</a:t>
            </a:r>
            <a:r>
              <a:rPr lang="en-US" dirty="0"/>
              <a:t> </a:t>
            </a:r>
            <a:r>
              <a:rPr lang="en-US" dirty="0" err="1"/>
              <a:t>tek</a:t>
            </a:r>
            <a:r>
              <a:rPr lang="en-US" dirty="0"/>
              <a:t> </a:t>
            </a:r>
            <a:r>
              <a:rPr lang="en-US" dirty="0" err="1"/>
              <a:t>şey</a:t>
            </a:r>
            <a:r>
              <a:rPr lang="en-US" dirty="0"/>
              <a:t> </a:t>
            </a:r>
            <a:r>
              <a:rPr lang="en-US" b="1" i="1" dirty="0" err="1"/>
              <a:t>Serializable</a:t>
            </a:r>
            <a:r>
              <a:rPr lang="en-US" dirty="0"/>
              <a:t> </a:t>
            </a:r>
            <a:r>
              <a:rPr lang="en-US" dirty="0" err="1"/>
              <a:t>adındaki</a:t>
            </a:r>
            <a:r>
              <a:rPr lang="en-US" dirty="0"/>
              <a:t> </a:t>
            </a:r>
            <a:r>
              <a:rPr lang="en-US" b="1" dirty="0"/>
              <a:t>tagging interface </a:t>
            </a:r>
            <a:r>
              <a:rPr lang="en-US" dirty="0" err="1"/>
              <a:t>i</a:t>
            </a:r>
            <a:r>
              <a:rPr lang="en-US" dirty="0"/>
              <a:t>, </a:t>
            </a:r>
            <a:r>
              <a:rPr lang="en-US" dirty="0" err="1"/>
              <a:t>serileştirilecek</a:t>
            </a:r>
            <a:r>
              <a:rPr lang="en-US" dirty="0"/>
              <a:t> </a:t>
            </a:r>
            <a:r>
              <a:rPr lang="en-US" dirty="0" err="1"/>
              <a:t>olan</a:t>
            </a:r>
            <a:r>
              <a:rPr lang="en-US" dirty="0"/>
              <a:t> </a:t>
            </a:r>
            <a:r>
              <a:rPr lang="en-US" dirty="0" err="1"/>
              <a:t>nesnenin</a:t>
            </a:r>
            <a:r>
              <a:rPr lang="en-US" dirty="0"/>
              <a:t> </a:t>
            </a:r>
            <a:r>
              <a:rPr lang="en-US" dirty="0" err="1"/>
              <a:t>sınıf</a:t>
            </a:r>
            <a:r>
              <a:rPr lang="en-US" dirty="0"/>
              <a:t> </a:t>
            </a:r>
            <a:r>
              <a:rPr lang="en-US" dirty="0" err="1"/>
              <a:t>deklarasyonunda</a:t>
            </a:r>
            <a:r>
              <a:rPr lang="en-US" dirty="0"/>
              <a:t> </a:t>
            </a:r>
            <a:r>
              <a:rPr lang="en-US" dirty="0" err="1"/>
              <a:t>ya</a:t>
            </a:r>
            <a:r>
              <a:rPr lang="en-US" dirty="0"/>
              <a:t> da </a:t>
            </a:r>
            <a:r>
              <a:rPr lang="en-US" dirty="0" err="1"/>
              <a:t>kalıtım</a:t>
            </a:r>
            <a:r>
              <a:rPr lang="en-US" dirty="0"/>
              <a:t> </a:t>
            </a:r>
            <a:r>
              <a:rPr lang="en-US" dirty="0" err="1"/>
              <a:t>ile</a:t>
            </a:r>
            <a:r>
              <a:rPr lang="en-US" dirty="0"/>
              <a:t> </a:t>
            </a:r>
            <a:r>
              <a:rPr lang="en-US" dirty="0" err="1"/>
              <a:t>türediği</a:t>
            </a:r>
            <a:r>
              <a:rPr lang="en-US" dirty="0"/>
              <a:t> </a:t>
            </a:r>
            <a:r>
              <a:rPr lang="en-US" dirty="0" err="1"/>
              <a:t>sınıfın</a:t>
            </a:r>
            <a:r>
              <a:rPr lang="en-US" dirty="0"/>
              <a:t> </a:t>
            </a:r>
            <a:r>
              <a:rPr lang="en-US" dirty="0" err="1"/>
              <a:t>bu</a:t>
            </a:r>
            <a:r>
              <a:rPr lang="en-US" dirty="0"/>
              <a:t> </a:t>
            </a:r>
            <a:r>
              <a:rPr lang="en-US" dirty="0" err="1"/>
              <a:t>interfacei</a:t>
            </a:r>
            <a:r>
              <a:rPr lang="en-US" dirty="0"/>
              <a:t> </a:t>
            </a:r>
            <a:r>
              <a:rPr lang="en-US" dirty="0" err="1"/>
              <a:t>uygulaması</a:t>
            </a:r>
            <a:r>
              <a:rPr lang="en-US" dirty="0"/>
              <a:t> </a:t>
            </a:r>
            <a:r>
              <a:rPr lang="en-US" dirty="0" err="1"/>
              <a:t>gerekmektedir</a:t>
            </a:r>
            <a:r>
              <a:rPr lang="en-US" dirty="0"/>
              <a:t>. (implement </a:t>
            </a:r>
            <a:r>
              <a:rPr lang="en-US" dirty="0" err="1"/>
              <a:t>edilmesi</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1986275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500" y="215900"/>
            <a:ext cx="11518900" cy="6286500"/>
          </a:xfrm>
        </p:spPr>
        <p:txBody>
          <a:bodyPr>
            <a:normAutofit fontScale="92500"/>
          </a:bodyPr>
          <a:lstStyle/>
          <a:p>
            <a:pPr marL="0" indent="0">
              <a:buNone/>
            </a:pPr>
            <a:r>
              <a:rPr lang="en-US" dirty="0" err="1"/>
              <a:t>Nesneleri</a:t>
            </a:r>
            <a:r>
              <a:rPr lang="en-US" dirty="0"/>
              <a:t> </a:t>
            </a:r>
            <a:r>
              <a:rPr lang="en-US" dirty="0" err="1"/>
              <a:t>serileştirmek</a:t>
            </a:r>
            <a:r>
              <a:rPr lang="en-US" dirty="0"/>
              <a:t> </a:t>
            </a:r>
            <a:r>
              <a:rPr lang="en-US" dirty="0" err="1"/>
              <a:t>için</a:t>
            </a:r>
            <a:r>
              <a:rPr lang="en-US" dirty="0"/>
              <a:t> Java </a:t>
            </a:r>
            <a:r>
              <a:rPr lang="en-US" dirty="0" err="1"/>
              <a:t>platformu</a:t>
            </a:r>
            <a:r>
              <a:rPr lang="en-US" dirty="0"/>
              <a:t> 2 </a:t>
            </a:r>
            <a:r>
              <a:rPr lang="en-US" dirty="0" err="1"/>
              <a:t>temel</a:t>
            </a:r>
            <a:r>
              <a:rPr lang="en-US" dirty="0"/>
              <a:t> </a:t>
            </a:r>
            <a:r>
              <a:rPr lang="en-US" dirty="0" err="1"/>
              <a:t>sınıf</a:t>
            </a:r>
            <a:r>
              <a:rPr lang="en-US" dirty="0"/>
              <a:t> </a:t>
            </a:r>
            <a:r>
              <a:rPr lang="en-US" dirty="0" err="1"/>
              <a:t>sunar</a:t>
            </a:r>
            <a:r>
              <a:rPr lang="en-US" dirty="0"/>
              <a:t>. </a:t>
            </a:r>
            <a:r>
              <a:rPr lang="en-US" b="1" i="1" dirty="0" err="1"/>
              <a:t>ObjectInputStream</a:t>
            </a:r>
            <a:r>
              <a:rPr lang="en-US" dirty="0"/>
              <a:t> </a:t>
            </a:r>
            <a:r>
              <a:rPr lang="en-US" dirty="0" err="1"/>
              <a:t>ve</a:t>
            </a:r>
            <a:r>
              <a:rPr lang="en-US" dirty="0"/>
              <a:t> </a:t>
            </a:r>
            <a:r>
              <a:rPr lang="en-US" b="1" i="1" dirty="0" err="1"/>
              <a:t>ObjectOutputStream</a:t>
            </a:r>
            <a:r>
              <a:rPr lang="en-US" dirty="0"/>
              <a:t> </a:t>
            </a:r>
            <a:r>
              <a:rPr lang="en-US" dirty="0" err="1"/>
              <a:t>adı</a:t>
            </a:r>
            <a:r>
              <a:rPr lang="en-US" dirty="0"/>
              <a:t> </a:t>
            </a:r>
            <a:r>
              <a:rPr lang="en-US" dirty="0" err="1"/>
              <a:t>verilen</a:t>
            </a:r>
            <a:r>
              <a:rPr lang="en-US" dirty="0"/>
              <a:t> </a:t>
            </a:r>
            <a:r>
              <a:rPr lang="en-US" dirty="0" err="1"/>
              <a:t>bu</a:t>
            </a:r>
            <a:r>
              <a:rPr lang="en-US" dirty="0"/>
              <a:t> </a:t>
            </a:r>
            <a:r>
              <a:rPr lang="en-US" dirty="0" err="1"/>
              <a:t>iki</a:t>
            </a:r>
            <a:r>
              <a:rPr lang="en-US" dirty="0"/>
              <a:t> </a:t>
            </a:r>
            <a:r>
              <a:rPr lang="en-US" dirty="0" err="1"/>
              <a:t>sınıf</a:t>
            </a:r>
            <a:r>
              <a:rPr lang="en-US" dirty="0"/>
              <a:t> </a:t>
            </a:r>
            <a:r>
              <a:rPr lang="en-US" dirty="0" err="1"/>
              <a:t>ile</a:t>
            </a:r>
            <a:r>
              <a:rPr lang="en-US" dirty="0"/>
              <a:t>, </a:t>
            </a:r>
            <a:r>
              <a:rPr lang="en-US" dirty="0" err="1"/>
              <a:t>Serializable</a:t>
            </a:r>
            <a:r>
              <a:rPr lang="en-US" dirty="0"/>
              <a:t> </a:t>
            </a:r>
            <a:r>
              <a:rPr lang="en-US" dirty="0" err="1"/>
              <a:t>interfaceini</a:t>
            </a:r>
            <a:r>
              <a:rPr lang="en-US" dirty="0"/>
              <a:t> </a:t>
            </a:r>
            <a:r>
              <a:rPr lang="en-US" dirty="0" err="1"/>
              <a:t>uygulayan</a:t>
            </a:r>
            <a:r>
              <a:rPr lang="en-US" dirty="0"/>
              <a:t> </a:t>
            </a:r>
            <a:r>
              <a:rPr lang="en-US" dirty="0" err="1"/>
              <a:t>herhangi</a:t>
            </a:r>
            <a:r>
              <a:rPr lang="en-US" dirty="0"/>
              <a:t> </a:t>
            </a:r>
            <a:r>
              <a:rPr lang="en-US" dirty="0" err="1"/>
              <a:t>bir</a:t>
            </a:r>
            <a:r>
              <a:rPr lang="en-US" dirty="0"/>
              <a:t> </a:t>
            </a:r>
            <a:r>
              <a:rPr lang="en-US" dirty="0" err="1"/>
              <a:t>sınıfı</a:t>
            </a:r>
            <a:r>
              <a:rPr lang="en-US" dirty="0"/>
              <a:t> </a:t>
            </a:r>
            <a:r>
              <a:rPr lang="en-US" dirty="0" err="1"/>
              <a:t>serileştirebiliriz</a:t>
            </a:r>
            <a:r>
              <a:rPr lang="en-US" dirty="0"/>
              <a:t>. Bu </a:t>
            </a:r>
            <a:r>
              <a:rPr lang="en-US" dirty="0" err="1"/>
              <a:t>iki</a:t>
            </a:r>
            <a:r>
              <a:rPr lang="en-US" dirty="0"/>
              <a:t> </a:t>
            </a:r>
            <a:r>
              <a:rPr lang="en-US" dirty="0" err="1" smtClean="0"/>
              <a:t>sınıf</a:t>
            </a:r>
            <a:r>
              <a:rPr lang="tr-TR" dirty="0" smtClean="0"/>
              <a:t>t</a:t>
            </a:r>
            <a:r>
              <a:rPr lang="en-US" dirty="0" smtClean="0"/>
              <a:t>an </a:t>
            </a:r>
            <a:r>
              <a:rPr lang="en-US" dirty="0" err="1"/>
              <a:t>ilki</a:t>
            </a:r>
            <a:r>
              <a:rPr lang="en-US" dirty="0"/>
              <a:t> </a:t>
            </a:r>
            <a:r>
              <a:rPr lang="en-US" dirty="0" err="1"/>
              <a:t>olan</a:t>
            </a:r>
            <a:r>
              <a:rPr lang="en-US" dirty="0"/>
              <a:t> </a:t>
            </a:r>
            <a:r>
              <a:rPr lang="en-US" b="1" dirty="0" err="1"/>
              <a:t>ObjectInputStream</a:t>
            </a:r>
            <a:r>
              <a:rPr lang="en-US" dirty="0"/>
              <a:t>, </a:t>
            </a:r>
            <a:r>
              <a:rPr lang="en-US" b="1" i="1" dirty="0" err="1"/>
              <a:t>ObjectInput</a:t>
            </a:r>
            <a:r>
              <a:rPr lang="en-US" dirty="0"/>
              <a:t> </a:t>
            </a:r>
            <a:r>
              <a:rPr lang="en-US" dirty="0" smtClean="0"/>
              <a:t>interface</a:t>
            </a:r>
            <a:r>
              <a:rPr lang="tr-TR" dirty="0" smtClean="0"/>
              <a:t> </a:t>
            </a:r>
            <a:r>
              <a:rPr lang="en-US" dirty="0" err="1" smtClean="0"/>
              <a:t>ini</a:t>
            </a:r>
            <a:r>
              <a:rPr lang="en-US" dirty="0" smtClean="0"/>
              <a:t> </a:t>
            </a:r>
            <a:r>
              <a:rPr lang="en-US" dirty="0" err="1"/>
              <a:t>uygular</a:t>
            </a:r>
            <a:r>
              <a:rPr lang="en-US" dirty="0"/>
              <a:t> </a:t>
            </a:r>
            <a:r>
              <a:rPr lang="en-US" dirty="0" err="1"/>
              <a:t>ve</a:t>
            </a:r>
            <a:r>
              <a:rPr lang="en-US" dirty="0"/>
              <a:t> </a:t>
            </a:r>
            <a:r>
              <a:rPr lang="en-US" dirty="0" err="1" smtClean="0"/>
              <a:t>serileşt</a:t>
            </a:r>
            <a:r>
              <a:rPr lang="tr-TR" dirty="0" smtClean="0"/>
              <a:t>i</a:t>
            </a:r>
            <a:r>
              <a:rPr lang="en-US" dirty="0" err="1" smtClean="0"/>
              <a:t>rilen</a:t>
            </a:r>
            <a:r>
              <a:rPr lang="en-US" dirty="0" smtClean="0"/>
              <a:t> </a:t>
            </a:r>
            <a:r>
              <a:rPr lang="en-US" dirty="0" err="1"/>
              <a:t>nesneyi</a:t>
            </a:r>
            <a:r>
              <a:rPr lang="en-US" dirty="0"/>
              <a:t> </a:t>
            </a:r>
            <a:r>
              <a:rPr lang="en-US" dirty="0" err="1"/>
              <a:t>tekrar</a:t>
            </a:r>
            <a:r>
              <a:rPr lang="en-US" dirty="0"/>
              <a:t> </a:t>
            </a:r>
            <a:r>
              <a:rPr lang="en-US" dirty="0" err="1" smtClean="0"/>
              <a:t>akış</a:t>
            </a:r>
            <a:r>
              <a:rPr lang="tr-TR" dirty="0" smtClean="0"/>
              <a:t>t</a:t>
            </a:r>
            <a:r>
              <a:rPr lang="en-US" dirty="0" smtClean="0"/>
              <a:t>an </a:t>
            </a:r>
            <a:r>
              <a:rPr lang="en-US" dirty="0" err="1"/>
              <a:t>okumak</a:t>
            </a:r>
            <a:r>
              <a:rPr lang="en-US" dirty="0"/>
              <a:t> </a:t>
            </a:r>
            <a:r>
              <a:rPr lang="en-US" dirty="0" err="1"/>
              <a:t>için</a:t>
            </a:r>
            <a:r>
              <a:rPr lang="en-US" dirty="0"/>
              <a:t> </a:t>
            </a:r>
            <a:r>
              <a:rPr lang="en-US" dirty="0" err="1"/>
              <a:t>kullanılır</a:t>
            </a:r>
            <a:r>
              <a:rPr lang="en-US" dirty="0"/>
              <a:t>. </a:t>
            </a:r>
            <a:r>
              <a:rPr lang="en-US" b="1" dirty="0" err="1"/>
              <a:t>ObjectInputStream</a:t>
            </a:r>
            <a:r>
              <a:rPr lang="en-US" dirty="0"/>
              <a:t> </a:t>
            </a:r>
            <a:r>
              <a:rPr lang="en-US" dirty="0" err="1"/>
              <a:t>adındaki</a:t>
            </a:r>
            <a:r>
              <a:rPr lang="en-US" dirty="0"/>
              <a:t> </a:t>
            </a:r>
            <a:r>
              <a:rPr lang="en-US" dirty="0" err="1"/>
              <a:t>diğer</a:t>
            </a:r>
            <a:r>
              <a:rPr lang="en-US" dirty="0"/>
              <a:t> </a:t>
            </a:r>
            <a:r>
              <a:rPr lang="en-US" dirty="0" err="1"/>
              <a:t>sınıf</a:t>
            </a:r>
            <a:r>
              <a:rPr lang="en-US" dirty="0"/>
              <a:t>, </a:t>
            </a:r>
            <a:r>
              <a:rPr lang="en-US" b="1" i="1" dirty="0" err="1"/>
              <a:t>ObjectOutput</a:t>
            </a:r>
            <a:r>
              <a:rPr lang="en-US" dirty="0"/>
              <a:t> </a:t>
            </a:r>
            <a:r>
              <a:rPr lang="en-US" dirty="0" smtClean="0"/>
              <a:t>interface</a:t>
            </a:r>
            <a:r>
              <a:rPr lang="tr-TR" dirty="0" smtClean="0"/>
              <a:t> </a:t>
            </a:r>
            <a:r>
              <a:rPr lang="en-US" dirty="0" err="1" smtClean="0"/>
              <a:t>ini</a:t>
            </a:r>
            <a:r>
              <a:rPr lang="en-US" dirty="0" smtClean="0"/>
              <a:t> </a:t>
            </a:r>
            <a:r>
              <a:rPr lang="en-US" dirty="0" err="1"/>
              <a:t>uygular</a:t>
            </a:r>
            <a:r>
              <a:rPr lang="en-US" dirty="0"/>
              <a:t> </a:t>
            </a:r>
            <a:r>
              <a:rPr lang="en-US" dirty="0" err="1"/>
              <a:t>ve</a:t>
            </a:r>
            <a:r>
              <a:rPr lang="en-US" dirty="0"/>
              <a:t> </a:t>
            </a:r>
            <a:r>
              <a:rPr lang="en-US" dirty="0" err="1"/>
              <a:t>herhangi</a:t>
            </a:r>
            <a:r>
              <a:rPr lang="en-US" dirty="0"/>
              <a:t> </a:t>
            </a:r>
            <a:r>
              <a:rPr lang="en-US" dirty="0" err="1"/>
              <a:t>bir</a:t>
            </a:r>
            <a:r>
              <a:rPr lang="en-US" dirty="0"/>
              <a:t> </a:t>
            </a:r>
            <a:r>
              <a:rPr lang="en-US" dirty="0" err="1"/>
              <a:t>nesneyi</a:t>
            </a:r>
            <a:r>
              <a:rPr lang="en-US" dirty="0"/>
              <a:t> </a:t>
            </a:r>
            <a:r>
              <a:rPr lang="en-US" dirty="0" err="1"/>
              <a:t>akışa</a:t>
            </a:r>
            <a:r>
              <a:rPr lang="en-US" dirty="0"/>
              <a:t> </a:t>
            </a:r>
            <a:r>
              <a:rPr lang="en-US" dirty="0" err="1"/>
              <a:t>yazdırmak</a:t>
            </a:r>
            <a:r>
              <a:rPr lang="en-US" dirty="0"/>
              <a:t> </a:t>
            </a:r>
            <a:r>
              <a:rPr lang="en-US" dirty="0" err="1"/>
              <a:t>için</a:t>
            </a:r>
            <a:r>
              <a:rPr lang="en-US" dirty="0"/>
              <a:t> </a:t>
            </a:r>
            <a:r>
              <a:rPr lang="en-US" dirty="0" err="1"/>
              <a:t>kullanılır</a:t>
            </a:r>
            <a:r>
              <a:rPr lang="en-US" dirty="0"/>
              <a:t>.</a:t>
            </a:r>
          </a:p>
          <a:p>
            <a:pPr marL="0" indent="0">
              <a:buNone/>
            </a:pPr>
            <a:r>
              <a:rPr lang="en-US" b="1" dirty="0" err="1"/>
              <a:t>ObjectInput</a:t>
            </a:r>
            <a:r>
              <a:rPr lang="en-US" dirty="0"/>
              <a:t> </a:t>
            </a:r>
            <a:r>
              <a:rPr lang="en-US" dirty="0" smtClean="0"/>
              <a:t>interface</a:t>
            </a:r>
            <a:r>
              <a:rPr lang="tr-TR" dirty="0" smtClean="0"/>
              <a:t> </a:t>
            </a:r>
            <a:r>
              <a:rPr lang="en-US" dirty="0" err="1" smtClean="0"/>
              <a:t>i</a:t>
            </a:r>
            <a:r>
              <a:rPr lang="en-US" dirty="0"/>
              <a:t>, </a:t>
            </a:r>
            <a:r>
              <a:rPr lang="en-US" b="1" i="1" dirty="0" err="1"/>
              <a:t>readObject</a:t>
            </a:r>
            <a:r>
              <a:rPr lang="en-US" dirty="0"/>
              <a:t> </a:t>
            </a:r>
            <a:r>
              <a:rPr lang="en-US" dirty="0" err="1"/>
              <a:t>adında</a:t>
            </a:r>
            <a:r>
              <a:rPr lang="en-US" dirty="0"/>
              <a:t> </a:t>
            </a:r>
            <a:r>
              <a:rPr lang="en-US" dirty="0" err="1"/>
              <a:t>bir</a:t>
            </a:r>
            <a:r>
              <a:rPr lang="en-US" dirty="0"/>
              <a:t> method </a:t>
            </a:r>
            <a:r>
              <a:rPr lang="en-US" dirty="0" err="1"/>
              <a:t>sunar</a:t>
            </a:r>
            <a:r>
              <a:rPr lang="en-US" dirty="0"/>
              <a:t> </a:t>
            </a:r>
            <a:r>
              <a:rPr lang="en-US" dirty="0" err="1"/>
              <a:t>ve</a:t>
            </a:r>
            <a:r>
              <a:rPr lang="en-US" dirty="0"/>
              <a:t> </a:t>
            </a:r>
            <a:r>
              <a:rPr lang="en-US" dirty="0" err="1"/>
              <a:t>serileştirilen</a:t>
            </a:r>
            <a:r>
              <a:rPr lang="en-US" dirty="0"/>
              <a:t> </a:t>
            </a:r>
            <a:r>
              <a:rPr lang="en-US" dirty="0" err="1"/>
              <a:t>nesneyi</a:t>
            </a:r>
            <a:r>
              <a:rPr lang="en-US" dirty="0"/>
              <a:t> </a:t>
            </a:r>
            <a:r>
              <a:rPr lang="en-US" dirty="0" err="1" smtClean="0"/>
              <a:t>akış</a:t>
            </a:r>
            <a:r>
              <a:rPr lang="tr-TR" dirty="0" smtClean="0"/>
              <a:t>t</a:t>
            </a:r>
            <a:r>
              <a:rPr lang="en-US" dirty="0" smtClean="0"/>
              <a:t>an </a:t>
            </a:r>
            <a:r>
              <a:rPr lang="en-US" dirty="0" err="1"/>
              <a:t>okumak</a:t>
            </a:r>
            <a:r>
              <a:rPr lang="en-US" dirty="0"/>
              <a:t> </a:t>
            </a:r>
            <a:r>
              <a:rPr lang="en-US" dirty="0" err="1"/>
              <a:t>için</a:t>
            </a:r>
            <a:r>
              <a:rPr lang="en-US" dirty="0"/>
              <a:t> </a:t>
            </a:r>
            <a:r>
              <a:rPr lang="en-US" dirty="0" err="1"/>
              <a:t>kullanılır</a:t>
            </a:r>
            <a:r>
              <a:rPr lang="en-US" dirty="0"/>
              <a:t>. </a:t>
            </a:r>
            <a:r>
              <a:rPr lang="en-US" dirty="0" err="1"/>
              <a:t>Yine</a:t>
            </a:r>
            <a:r>
              <a:rPr lang="en-US" dirty="0"/>
              <a:t> </a:t>
            </a:r>
            <a:r>
              <a:rPr lang="en-US" dirty="0" err="1"/>
              <a:t>aynı</a:t>
            </a:r>
            <a:r>
              <a:rPr lang="en-US" dirty="0"/>
              <a:t> </a:t>
            </a:r>
            <a:r>
              <a:rPr lang="en-US" dirty="0" err="1"/>
              <a:t>şekilde</a:t>
            </a:r>
            <a:r>
              <a:rPr lang="en-US" dirty="0"/>
              <a:t> </a:t>
            </a:r>
            <a:r>
              <a:rPr lang="en-US" b="1" dirty="0" err="1"/>
              <a:t>ObjectOutput</a:t>
            </a:r>
            <a:r>
              <a:rPr lang="en-US" dirty="0"/>
              <a:t> </a:t>
            </a:r>
            <a:r>
              <a:rPr lang="en-US" dirty="0" smtClean="0"/>
              <a:t>interface</a:t>
            </a:r>
            <a:r>
              <a:rPr lang="tr-TR" dirty="0" smtClean="0"/>
              <a:t> </a:t>
            </a:r>
            <a:r>
              <a:rPr lang="en-US" dirty="0" err="1" smtClean="0"/>
              <a:t>i</a:t>
            </a:r>
            <a:r>
              <a:rPr lang="en-US" dirty="0"/>
              <a:t>, </a:t>
            </a:r>
            <a:r>
              <a:rPr lang="en-US" b="1" i="1" dirty="0" err="1"/>
              <a:t>writeObject</a:t>
            </a:r>
            <a:r>
              <a:rPr lang="en-US" dirty="0"/>
              <a:t> </a:t>
            </a:r>
            <a:r>
              <a:rPr lang="en-US" dirty="0" err="1"/>
              <a:t>adında</a:t>
            </a:r>
            <a:r>
              <a:rPr lang="en-US" dirty="0"/>
              <a:t> </a:t>
            </a:r>
            <a:r>
              <a:rPr lang="en-US" dirty="0" err="1"/>
              <a:t>bir</a:t>
            </a:r>
            <a:r>
              <a:rPr lang="en-US" dirty="0"/>
              <a:t> method </a:t>
            </a:r>
            <a:r>
              <a:rPr lang="en-US" dirty="0" err="1"/>
              <a:t>sunar</a:t>
            </a:r>
            <a:r>
              <a:rPr lang="en-US" dirty="0"/>
              <a:t> </a:t>
            </a:r>
            <a:r>
              <a:rPr lang="en-US" dirty="0" err="1"/>
              <a:t>ve</a:t>
            </a:r>
            <a:r>
              <a:rPr lang="en-US" dirty="0"/>
              <a:t> </a:t>
            </a:r>
            <a:r>
              <a:rPr lang="en-US" dirty="0" err="1"/>
              <a:t>bu</a:t>
            </a:r>
            <a:r>
              <a:rPr lang="en-US" dirty="0"/>
              <a:t> method </a:t>
            </a:r>
            <a:r>
              <a:rPr lang="en-US" dirty="0" err="1"/>
              <a:t>sayesinde</a:t>
            </a:r>
            <a:r>
              <a:rPr lang="en-US" dirty="0"/>
              <a:t> </a:t>
            </a:r>
            <a:r>
              <a:rPr lang="en-US" b="1" dirty="0" err="1"/>
              <a:t>Serializable</a:t>
            </a:r>
            <a:r>
              <a:rPr lang="en-US" dirty="0"/>
              <a:t> </a:t>
            </a:r>
            <a:r>
              <a:rPr lang="en-US" dirty="0" err="1"/>
              <a:t>interfaceini</a:t>
            </a:r>
            <a:r>
              <a:rPr lang="en-US" dirty="0"/>
              <a:t> </a:t>
            </a:r>
            <a:r>
              <a:rPr lang="en-US" dirty="0" err="1"/>
              <a:t>uygulayan</a:t>
            </a:r>
            <a:r>
              <a:rPr lang="en-US" dirty="0"/>
              <a:t> </a:t>
            </a:r>
            <a:r>
              <a:rPr lang="en-US" dirty="0" err="1"/>
              <a:t>herhangi</a:t>
            </a:r>
            <a:r>
              <a:rPr lang="en-US" dirty="0"/>
              <a:t> </a:t>
            </a:r>
            <a:r>
              <a:rPr lang="en-US" dirty="0" err="1"/>
              <a:t>bir</a:t>
            </a:r>
            <a:r>
              <a:rPr lang="en-US" dirty="0"/>
              <a:t> </a:t>
            </a:r>
            <a:r>
              <a:rPr lang="en-US" dirty="0" err="1"/>
              <a:t>nesneyi</a:t>
            </a:r>
            <a:r>
              <a:rPr lang="en-US" dirty="0"/>
              <a:t> </a:t>
            </a:r>
            <a:r>
              <a:rPr lang="en-US" dirty="0" err="1"/>
              <a:t>herhangi</a:t>
            </a:r>
            <a:r>
              <a:rPr lang="en-US" dirty="0"/>
              <a:t> </a:t>
            </a:r>
            <a:r>
              <a:rPr lang="en-US" dirty="0" err="1"/>
              <a:t>bir</a:t>
            </a:r>
            <a:r>
              <a:rPr lang="en-US" dirty="0"/>
              <a:t> </a:t>
            </a:r>
            <a:r>
              <a:rPr lang="en-US" dirty="0" err="1"/>
              <a:t>akışa</a:t>
            </a:r>
            <a:r>
              <a:rPr lang="en-US" dirty="0"/>
              <a:t> </a:t>
            </a:r>
            <a:r>
              <a:rPr lang="en-US" dirty="0" err="1"/>
              <a:t>yazdırabiliriz</a:t>
            </a:r>
            <a:r>
              <a:rPr lang="en-US" dirty="0"/>
              <a:t>. Bu </a:t>
            </a:r>
            <a:r>
              <a:rPr lang="en-US" dirty="0" err="1"/>
              <a:t>iki</a:t>
            </a:r>
            <a:r>
              <a:rPr lang="en-US" dirty="0"/>
              <a:t> </a:t>
            </a:r>
            <a:r>
              <a:rPr lang="en-US" b="1" dirty="0" smtClean="0"/>
              <a:t>interface</a:t>
            </a:r>
            <a:r>
              <a:rPr lang="tr-TR" dirty="0" smtClean="0"/>
              <a:t> </a:t>
            </a:r>
            <a:r>
              <a:rPr lang="en-US" dirty="0" err="1" smtClean="0"/>
              <a:t>i</a:t>
            </a:r>
            <a:r>
              <a:rPr lang="en-US" dirty="0" smtClean="0"/>
              <a:t> </a:t>
            </a:r>
            <a:r>
              <a:rPr lang="en-US" dirty="0" err="1"/>
              <a:t>sırasıyla</a:t>
            </a:r>
            <a:r>
              <a:rPr lang="en-US" dirty="0"/>
              <a:t> </a:t>
            </a:r>
            <a:r>
              <a:rPr lang="en-US" dirty="0" err="1"/>
              <a:t>uygulayan</a:t>
            </a:r>
            <a:r>
              <a:rPr lang="en-US" dirty="0"/>
              <a:t> </a:t>
            </a:r>
            <a:r>
              <a:rPr lang="en-US" b="1" i="1" dirty="0" err="1"/>
              <a:t>ObjectInputStream</a:t>
            </a:r>
            <a:r>
              <a:rPr lang="en-US" dirty="0"/>
              <a:t> </a:t>
            </a:r>
            <a:r>
              <a:rPr lang="en-US" dirty="0" err="1"/>
              <a:t>ve</a:t>
            </a:r>
            <a:r>
              <a:rPr lang="en-US" dirty="0"/>
              <a:t> </a:t>
            </a:r>
            <a:r>
              <a:rPr lang="en-US" b="1" i="1" dirty="0" err="1"/>
              <a:t>ObjectOutputStream</a:t>
            </a:r>
            <a:r>
              <a:rPr lang="en-US" dirty="0"/>
              <a:t> </a:t>
            </a:r>
            <a:r>
              <a:rPr lang="en-US" dirty="0" err="1"/>
              <a:t>sınıfları</a:t>
            </a:r>
            <a:r>
              <a:rPr lang="en-US" dirty="0"/>
              <a:t> </a:t>
            </a:r>
            <a:r>
              <a:rPr lang="en-US" dirty="0" err="1"/>
              <a:t>bu</a:t>
            </a:r>
            <a:r>
              <a:rPr lang="en-US" dirty="0"/>
              <a:t> </a:t>
            </a:r>
            <a:r>
              <a:rPr lang="en-US" dirty="0" err="1"/>
              <a:t>methodları</a:t>
            </a:r>
            <a:r>
              <a:rPr lang="en-US" dirty="0"/>
              <a:t> </a:t>
            </a:r>
            <a:r>
              <a:rPr lang="en-US" dirty="0" err="1"/>
              <a:t>kendi</a:t>
            </a:r>
            <a:r>
              <a:rPr lang="en-US" dirty="0"/>
              <a:t> </a:t>
            </a:r>
            <a:r>
              <a:rPr lang="en-US" dirty="0" err="1"/>
              <a:t>içinde</a:t>
            </a:r>
            <a:r>
              <a:rPr lang="en-US" dirty="0"/>
              <a:t> </a:t>
            </a:r>
            <a:r>
              <a:rPr lang="en-US" dirty="0" err="1"/>
              <a:t>tanımlayarak</a:t>
            </a:r>
            <a:r>
              <a:rPr lang="en-US" dirty="0"/>
              <a:t>, </a:t>
            </a:r>
            <a:r>
              <a:rPr lang="en-US" dirty="0" err="1"/>
              <a:t>kullanıma</a:t>
            </a:r>
            <a:r>
              <a:rPr lang="en-US" dirty="0"/>
              <a:t> </a:t>
            </a:r>
            <a:r>
              <a:rPr lang="en-US" dirty="0" err="1"/>
              <a:t>hazırlar</a:t>
            </a:r>
            <a:r>
              <a:rPr lang="en-US" dirty="0"/>
              <a:t>.</a:t>
            </a:r>
          </a:p>
          <a:p>
            <a:pPr marL="0" indent="0">
              <a:buNone/>
            </a:pPr>
            <a:r>
              <a:rPr lang="en-US" dirty="0"/>
              <a:t>Bu </a:t>
            </a:r>
            <a:r>
              <a:rPr lang="en-US" dirty="0" err="1"/>
              <a:t>iki</a:t>
            </a:r>
            <a:r>
              <a:rPr lang="en-US" dirty="0"/>
              <a:t> </a:t>
            </a:r>
            <a:r>
              <a:rPr lang="en-US" dirty="0" err="1"/>
              <a:t>sınıfı</a:t>
            </a:r>
            <a:r>
              <a:rPr lang="en-US" dirty="0"/>
              <a:t> </a:t>
            </a:r>
            <a:r>
              <a:rPr lang="en-US" dirty="0" err="1"/>
              <a:t>kullanmak</a:t>
            </a:r>
            <a:r>
              <a:rPr lang="en-US" dirty="0"/>
              <a:t> </a:t>
            </a:r>
            <a:r>
              <a:rPr lang="en-US" dirty="0" err="1"/>
              <a:t>çok</a:t>
            </a:r>
            <a:r>
              <a:rPr lang="en-US" dirty="0"/>
              <a:t> </a:t>
            </a:r>
            <a:r>
              <a:rPr lang="en-US" dirty="0" err="1"/>
              <a:t>basittir</a:t>
            </a:r>
            <a:r>
              <a:rPr lang="en-US" dirty="0"/>
              <a:t>. </a:t>
            </a:r>
            <a:r>
              <a:rPr lang="en-US" dirty="0" err="1"/>
              <a:t>Serileştirilecek</a:t>
            </a:r>
            <a:r>
              <a:rPr lang="en-US" dirty="0"/>
              <a:t> </a:t>
            </a:r>
            <a:r>
              <a:rPr lang="en-US" dirty="0" err="1"/>
              <a:t>ve</a:t>
            </a:r>
            <a:r>
              <a:rPr lang="en-US" dirty="0"/>
              <a:t> </a:t>
            </a:r>
            <a:r>
              <a:rPr lang="en-US" dirty="0" err="1"/>
              <a:t>geri</a:t>
            </a:r>
            <a:r>
              <a:rPr lang="en-US" dirty="0"/>
              <a:t> </a:t>
            </a:r>
            <a:r>
              <a:rPr lang="en-US" dirty="0" err="1"/>
              <a:t>çekilecek</a:t>
            </a:r>
            <a:r>
              <a:rPr lang="en-US" dirty="0"/>
              <a:t> </a:t>
            </a:r>
            <a:r>
              <a:rPr lang="en-US" dirty="0" err="1"/>
              <a:t>nesneler</a:t>
            </a:r>
            <a:r>
              <a:rPr lang="en-US" dirty="0"/>
              <a:t> </a:t>
            </a:r>
            <a:r>
              <a:rPr lang="en-US" dirty="0" err="1"/>
              <a:t>eğer</a:t>
            </a:r>
            <a:r>
              <a:rPr lang="en-US" dirty="0"/>
              <a:t> </a:t>
            </a:r>
            <a:r>
              <a:rPr lang="en-US" dirty="0" err="1"/>
              <a:t>dosyalar</a:t>
            </a:r>
            <a:r>
              <a:rPr lang="en-US" dirty="0"/>
              <a:t> </a:t>
            </a:r>
            <a:r>
              <a:rPr lang="en-US" dirty="0" err="1"/>
              <a:t>üzerinde</a:t>
            </a:r>
            <a:r>
              <a:rPr lang="en-US" dirty="0"/>
              <a:t> </a:t>
            </a:r>
            <a:r>
              <a:rPr lang="en-US" dirty="0" err="1"/>
              <a:t>yapılacaksa</a:t>
            </a:r>
            <a:r>
              <a:rPr lang="en-US" dirty="0"/>
              <a:t>, </a:t>
            </a:r>
            <a:r>
              <a:rPr lang="en-US" dirty="0" err="1"/>
              <a:t>bu</a:t>
            </a:r>
            <a:r>
              <a:rPr lang="en-US" dirty="0"/>
              <a:t> </a:t>
            </a:r>
            <a:r>
              <a:rPr lang="en-US" dirty="0" err="1"/>
              <a:t>iki</a:t>
            </a:r>
            <a:r>
              <a:rPr lang="en-US" dirty="0"/>
              <a:t> </a:t>
            </a:r>
            <a:r>
              <a:rPr lang="en-US" dirty="0" err="1"/>
              <a:t>sınıfa</a:t>
            </a:r>
            <a:r>
              <a:rPr lang="en-US" dirty="0"/>
              <a:t> </a:t>
            </a:r>
            <a:r>
              <a:rPr lang="en-US" dirty="0" err="1"/>
              <a:t>dosyaya</a:t>
            </a:r>
            <a:r>
              <a:rPr lang="en-US" dirty="0"/>
              <a:t> </a:t>
            </a:r>
            <a:r>
              <a:rPr lang="en-US" dirty="0" err="1"/>
              <a:t>yazdırmak</a:t>
            </a:r>
            <a:r>
              <a:rPr lang="en-US" dirty="0"/>
              <a:t> </a:t>
            </a:r>
            <a:r>
              <a:rPr lang="en-US" dirty="0" err="1"/>
              <a:t>için</a:t>
            </a:r>
            <a:r>
              <a:rPr lang="en-US" dirty="0"/>
              <a:t> </a:t>
            </a:r>
            <a:r>
              <a:rPr lang="en-US" b="1" dirty="0"/>
              <a:t>java.io</a:t>
            </a:r>
            <a:r>
              <a:rPr lang="en-US" dirty="0"/>
              <a:t> </a:t>
            </a:r>
            <a:r>
              <a:rPr lang="en-US" dirty="0" err="1"/>
              <a:t>paketince</a:t>
            </a:r>
            <a:r>
              <a:rPr lang="en-US" dirty="0"/>
              <a:t> </a:t>
            </a:r>
            <a:r>
              <a:rPr lang="en-US" dirty="0" err="1"/>
              <a:t>sunulan</a:t>
            </a:r>
            <a:r>
              <a:rPr lang="en-US" dirty="0"/>
              <a:t> </a:t>
            </a:r>
            <a:r>
              <a:rPr lang="en-US" b="1" i="1" dirty="0" err="1"/>
              <a:t>FileInputStream</a:t>
            </a:r>
            <a:r>
              <a:rPr lang="en-US" dirty="0"/>
              <a:t> </a:t>
            </a:r>
            <a:r>
              <a:rPr lang="en-US" dirty="0" err="1"/>
              <a:t>veya</a:t>
            </a:r>
            <a:r>
              <a:rPr lang="en-US" dirty="0"/>
              <a:t> </a:t>
            </a:r>
            <a:r>
              <a:rPr lang="en-US" b="1" i="1" dirty="0" err="1"/>
              <a:t>FileOutputStream</a:t>
            </a:r>
            <a:r>
              <a:rPr lang="en-US" dirty="0"/>
              <a:t> </a:t>
            </a:r>
            <a:r>
              <a:rPr lang="en-US" dirty="0" err="1"/>
              <a:t>nesnelerini</a:t>
            </a:r>
            <a:r>
              <a:rPr lang="en-US" dirty="0"/>
              <a:t> </a:t>
            </a:r>
            <a:r>
              <a:rPr lang="en-US" dirty="0" err="1"/>
              <a:t>geçirmek</a:t>
            </a:r>
            <a:r>
              <a:rPr lang="en-US" dirty="0"/>
              <a:t> </a:t>
            </a:r>
            <a:r>
              <a:rPr lang="en-US" dirty="0" err="1"/>
              <a:t>yeterlidir</a:t>
            </a:r>
            <a:r>
              <a:rPr lang="en-US" dirty="0"/>
              <a:t>.</a:t>
            </a:r>
          </a:p>
          <a:p>
            <a:endParaRPr lang="en-US" dirty="0"/>
          </a:p>
        </p:txBody>
      </p:sp>
    </p:spTree>
    <p:extLst>
      <p:ext uri="{BB962C8B-B14F-4D97-AF65-F5344CB8AC3E}">
        <p14:creationId xmlns:p14="http://schemas.microsoft.com/office/powerpoint/2010/main" val="2005622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0200" y="279400"/>
            <a:ext cx="11557000" cy="6184900"/>
          </a:xfrm>
        </p:spPr>
        <p:txBody>
          <a:bodyPr>
            <a:normAutofit fontScale="92500"/>
          </a:bodyPr>
          <a:lstStyle/>
          <a:p>
            <a:pPr marL="0" indent="0">
              <a:buNone/>
            </a:pPr>
            <a:r>
              <a:rPr lang="en-US" b="1" dirty="0" err="1"/>
              <a:t>NonSerializable</a:t>
            </a:r>
            <a:r>
              <a:rPr lang="en-US" b="1" dirty="0"/>
              <a:t> Objects</a:t>
            </a:r>
          </a:p>
          <a:p>
            <a:pPr marL="0" indent="0">
              <a:buNone/>
            </a:pPr>
            <a:r>
              <a:rPr lang="en-US" dirty="0" err="1"/>
              <a:t>Buraya</a:t>
            </a:r>
            <a:r>
              <a:rPr lang="en-US" dirty="0"/>
              <a:t> </a:t>
            </a:r>
            <a:r>
              <a:rPr lang="en-US" dirty="0" err="1"/>
              <a:t>kadar</a:t>
            </a:r>
            <a:r>
              <a:rPr lang="en-US" dirty="0"/>
              <a:t> </a:t>
            </a:r>
            <a:r>
              <a:rPr lang="en-US" dirty="0" err="1"/>
              <a:t>nesnelerin</a:t>
            </a:r>
            <a:r>
              <a:rPr lang="en-US" dirty="0"/>
              <a:t> </a:t>
            </a:r>
            <a:r>
              <a:rPr lang="en-US" dirty="0" err="1"/>
              <a:t>neden</a:t>
            </a:r>
            <a:r>
              <a:rPr lang="en-US" dirty="0"/>
              <a:t> </a:t>
            </a:r>
            <a:r>
              <a:rPr lang="en-US" dirty="0" err="1"/>
              <a:t>serileştirilmesi</a:t>
            </a:r>
            <a:r>
              <a:rPr lang="en-US" dirty="0"/>
              <a:t> </a:t>
            </a:r>
            <a:r>
              <a:rPr lang="en-US" dirty="0" err="1"/>
              <a:t>gerektiğini</a:t>
            </a:r>
            <a:r>
              <a:rPr lang="en-US" dirty="0"/>
              <a:t> </a:t>
            </a:r>
            <a:r>
              <a:rPr lang="en-US" dirty="0" err="1"/>
              <a:t>ve</a:t>
            </a:r>
            <a:r>
              <a:rPr lang="en-US" dirty="0"/>
              <a:t> </a:t>
            </a:r>
            <a:r>
              <a:rPr lang="en-US" dirty="0" err="1"/>
              <a:t>bunlar</a:t>
            </a:r>
            <a:r>
              <a:rPr lang="en-US" dirty="0"/>
              <a:t> </a:t>
            </a:r>
            <a:r>
              <a:rPr lang="en-US" dirty="0" err="1"/>
              <a:t>için</a:t>
            </a:r>
            <a:r>
              <a:rPr lang="en-US" dirty="0"/>
              <a:t> </a:t>
            </a:r>
            <a:r>
              <a:rPr lang="en-US" dirty="0" err="1"/>
              <a:t>hangi</a:t>
            </a:r>
            <a:r>
              <a:rPr lang="en-US" dirty="0"/>
              <a:t> </a:t>
            </a:r>
            <a:r>
              <a:rPr lang="en-US" dirty="0" err="1"/>
              <a:t>adımları</a:t>
            </a:r>
            <a:r>
              <a:rPr lang="en-US" dirty="0"/>
              <a:t> </a:t>
            </a:r>
            <a:r>
              <a:rPr lang="en-US" dirty="0" err="1"/>
              <a:t>takip</a:t>
            </a:r>
            <a:r>
              <a:rPr lang="en-US" dirty="0"/>
              <a:t> </a:t>
            </a:r>
            <a:r>
              <a:rPr lang="en-US" dirty="0" err="1"/>
              <a:t>etmemiz</a:t>
            </a:r>
            <a:r>
              <a:rPr lang="en-US" dirty="0"/>
              <a:t> </a:t>
            </a:r>
            <a:r>
              <a:rPr lang="en-US" dirty="0" err="1"/>
              <a:t>gerektiğinden</a:t>
            </a:r>
            <a:r>
              <a:rPr lang="en-US" dirty="0"/>
              <a:t> </a:t>
            </a:r>
            <a:r>
              <a:rPr lang="en-US" dirty="0" err="1"/>
              <a:t>bahsettik</a:t>
            </a:r>
            <a:r>
              <a:rPr lang="en-US" dirty="0"/>
              <a:t>. </a:t>
            </a:r>
            <a:r>
              <a:rPr lang="en-US" b="1" dirty="0" err="1"/>
              <a:t>Serializable</a:t>
            </a:r>
            <a:r>
              <a:rPr lang="en-US" dirty="0"/>
              <a:t> </a:t>
            </a:r>
            <a:r>
              <a:rPr lang="en-US" dirty="0" err="1"/>
              <a:t>arayüzünü</a:t>
            </a:r>
            <a:r>
              <a:rPr lang="en-US" dirty="0"/>
              <a:t> </a:t>
            </a:r>
            <a:r>
              <a:rPr lang="en-US" dirty="0" err="1"/>
              <a:t>uygulayan</a:t>
            </a:r>
            <a:r>
              <a:rPr lang="en-US" dirty="0"/>
              <a:t> </a:t>
            </a:r>
            <a:r>
              <a:rPr lang="en-US" dirty="0" err="1"/>
              <a:t>bir</a:t>
            </a:r>
            <a:r>
              <a:rPr lang="en-US" dirty="0"/>
              <a:t> </a:t>
            </a:r>
            <a:r>
              <a:rPr lang="en-US" dirty="0" err="1"/>
              <a:t>sınıfın</a:t>
            </a:r>
            <a:r>
              <a:rPr lang="en-US" dirty="0"/>
              <a:t> </a:t>
            </a:r>
            <a:r>
              <a:rPr lang="en-US" dirty="0" err="1"/>
              <a:t>tüm</a:t>
            </a:r>
            <a:r>
              <a:rPr lang="en-US" dirty="0"/>
              <a:t> </a:t>
            </a:r>
            <a:r>
              <a:rPr lang="en-US" dirty="0" err="1"/>
              <a:t>nesneleri</a:t>
            </a:r>
            <a:r>
              <a:rPr lang="en-US" dirty="0"/>
              <a:t> </a:t>
            </a:r>
            <a:r>
              <a:rPr lang="en-US" dirty="0" err="1"/>
              <a:t>serileştirilebilirdir</a:t>
            </a:r>
            <a:r>
              <a:rPr lang="en-US" dirty="0"/>
              <a:t>. </a:t>
            </a:r>
            <a:r>
              <a:rPr lang="en-US" dirty="0" err="1"/>
              <a:t>Ancak</a:t>
            </a:r>
            <a:r>
              <a:rPr lang="en-US" dirty="0"/>
              <a:t>, </a:t>
            </a:r>
            <a:r>
              <a:rPr lang="en-US" dirty="0" err="1"/>
              <a:t>eğer</a:t>
            </a:r>
            <a:r>
              <a:rPr lang="en-US" dirty="0"/>
              <a:t> </a:t>
            </a:r>
            <a:r>
              <a:rPr lang="en-US" dirty="0" err="1"/>
              <a:t>sınıf</a:t>
            </a:r>
            <a:r>
              <a:rPr lang="en-US" dirty="0"/>
              <a:t> </a:t>
            </a:r>
            <a:r>
              <a:rPr lang="en-US" dirty="0" err="1"/>
              <a:t>içerisindeki</a:t>
            </a:r>
            <a:r>
              <a:rPr lang="en-US" dirty="0"/>
              <a:t> </a:t>
            </a:r>
            <a:r>
              <a:rPr lang="en-US" dirty="0" err="1"/>
              <a:t>değişkenlerin</a:t>
            </a:r>
            <a:r>
              <a:rPr lang="en-US" dirty="0"/>
              <a:t> </a:t>
            </a:r>
            <a:r>
              <a:rPr lang="en-US" dirty="0" err="1"/>
              <a:t>tamamı</a:t>
            </a:r>
            <a:r>
              <a:rPr lang="en-US" dirty="0"/>
              <a:t> primitive tip </a:t>
            </a:r>
            <a:r>
              <a:rPr lang="en-US" dirty="0" err="1"/>
              <a:t>ise</a:t>
            </a:r>
            <a:r>
              <a:rPr lang="en-US" dirty="0"/>
              <a:t> </a:t>
            </a:r>
            <a:r>
              <a:rPr lang="en-US" dirty="0" err="1"/>
              <a:t>sorun</a:t>
            </a:r>
            <a:r>
              <a:rPr lang="en-US" dirty="0"/>
              <a:t> </a:t>
            </a:r>
            <a:r>
              <a:rPr lang="en-US" dirty="0" err="1"/>
              <a:t>yok</a:t>
            </a:r>
            <a:r>
              <a:rPr lang="en-US" dirty="0"/>
              <a:t>, </a:t>
            </a:r>
            <a:r>
              <a:rPr lang="en-US" dirty="0" err="1"/>
              <a:t>çünkü</a:t>
            </a:r>
            <a:r>
              <a:rPr lang="en-US" dirty="0"/>
              <a:t> </a:t>
            </a:r>
            <a:r>
              <a:rPr lang="en-US" dirty="0" err="1"/>
              <a:t>tüm</a:t>
            </a:r>
            <a:r>
              <a:rPr lang="en-US" dirty="0"/>
              <a:t> </a:t>
            </a:r>
            <a:r>
              <a:rPr lang="en-US" b="1" dirty="0"/>
              <a:t>primitive</a:t>
            </a:r>
            <a:r>
              <a:rPr lang="en-US" dirty="0"/>
              <a:t> </a:t>
            </a:r>
            <a:r>
              <a:rPr lang="en-US" dirty="0" err="1"/>
              <a:t>tipler</a:t>
            </a:r>
            <a:r>
              <a:rPr lang="en-US" dirty="0"/>
              <a:t> </a:t>
            </a:r>
            <a:r>
              <a:rPr lang="en-US" dirty="0" err="1"/>
              <a:t>otomatik</a:t>
            </a:r>
            <a:r>
              <a:rPr lang="en-US" dirty="0"/>
              <a:t> </a:t>
            </a:r>
            <a:r>
              <a:rPr lang="en-US" dirty="0" err="1"/>
              <a:t>olarak</a:t>
            </a:r>
            <a:r>
              <a:rPr lang="en-US" dirty="0"/>
              <a:t> </a:t>
            </a:r>
            <a:r>
              <a:rPr lang="en-US" dirty="0" err="1"/>
              <a:t>serileştirilebilir</a:t>
            </a:r>
            <a:r>
              <a:rPr lang="en-US" dirty="0"/>
              <a:t>. </a:t>
            </a:r>
            <a:r>
              <a:rPr lang="en-US" dirty="0" err="1"/>
              <a:t>Ama</a:t>
            </a:r>
            <a:r>
              <a:rPr lang="en-US" dirty="0"/>
              <a:t>, </a:t>
            </a:r>
            <a:r>
              <a:rPr lang="en-US" dirty="0" err="1"/>
              <a:t>sınıf</a:t>
            </a:r>
            <a:r>
              <a:rPr lang="en-US" dirty="0"/>
              <a:t> </a:t>
            </a:r>
            <a:r>
              <a:rPr lang="en-US" dirty="0" err="1"/>
              <a:t>içerisinde</a:t>
            </a:r>
            <a:r>
              <a:rPr lang="en-US" dirty="0"/>
              <a:t> </a:t>
            </a:r>
            <a:r>
              <a:rPr lang="en-US" b="1" dirty="0" err="1"/>
              <a:t>referans</a:t>
            </a:r>
            <a:r>
              <a:rPr lang="en-US" dirty="0"/>
              <a:t> </a:t>
            </a:r>
            <a:r>
              <a:rPr lang="en-US" dirty="0" err="1"/>
              <a:t>tipde</a:t>
            </a:r>
            <a:r>
              <a:rPr lang="en-US" dirty="0"/>
              <a:t> </a:t>
            </a:r>
            <a:r>
              <a:rPr lang="en-US" dirty="0" err="1"/>
              <a:t>değişkenler</a:t>
            </a:r>
            <a:r>
              <a:rPr lang="en-US" b="1" dirty="0"/>
              <a:t> (reference type variables) </a:t>
            </a:r>
            <a:r>
              <a:rPr lang="en-US" dirty="0" err="1"/>
              <a:t>var</a:t>
            </a:r>
            <a:r>
              <a:rPr lang="en-US" dirty="0"/>
              <a:t> </a:t>
            </a:r>
            <a:r>
              <a:rPr lang="en-US" dirty="0" err="1"/>
              <a:t>ise</a:t>
            </a:r>
            <a:r>
              <a:rPr lang="en-US" dirty="0"/>
              <a:t>, </a:t>
            </a:r>
            <a:r>
              <a:rPr lang="en-US" dirty="0" err="1"/>
              <a:t>bu</a:t>
            </a:r>
            <a:r>
              <a:rPr lang="en-US" dirty="0"/>
              <a:t> </a:t>
            </a:r>
            <a:r>
              <a:rPr lang="en-US" dirty="0" err="1"/>
              <a:t>değişkenlerin</a:t>
            </a:r>
            <a:r>
              <a:rPr lang="en-US" dirty="0"/>
              <a:t> </a:t>
            </a:r>
            <a:r>
              <a:rPr lang="en-US" dirty="0" err="1"/>
              <a:t>tuttuğu</a:t>
            </a:r>
            <a:r>
              <a:rPr lang="en-US" dirty="0"/>
              <a:t> </a:t>
            </a:r>
            <a:r>
              <a:rPr lang="en-US" dirty="0" err="1"/>
              <a:t>nesne</a:t>
            </a:r>
            <a:r>
              <a:rPr lang="en-US" dirty="0"/>
              <a:t> </a:t>
            </a:r>
            <a:r>
              <a:rPr lang="en-US" dirty="0" err="1"/>
              <a:t>örneklerinin</a:t>
            </a:r>
            <a:r>
              <a:rPr lang="en-US" dirty="0"/>
              <a:t> </a:t>
            </a:r>
            <a:r>
              <a:rPr lang="en-US" dirty="0" err="1"/>
              <a:t>serileştirilebilir</a:t>
            </a:r>
            <a:r>
              <a:rPr lang="en-US" dirty="0"/>
              <a:t> </a:t>
            </a:r>
            <a:r>
              <a:rPr lang="en-US" b="1" dirty="0"/>
              <a:t>(</a:t>
            </a:r>
            <a:r>
              <a:rPr lang="en-US" b="1" dirty="0" err="1"/>
              <a:t>Serializable</a:t>
            </a:r>
            <a:r>
              <a:rPr lang="en-US" b="1" dirty="0"/>
              <a:t>) </a:t>
            </a:r>
            <a:r>
              <a:rPr lang="en-US" dirty="0" err="1"/>
              <a:t>olduğunu</a:t>
            </a:r>
            <a:r>
              <a:rPr lang="en-US" dirty="0"/>
              <a:t> </a:t>
            </a:r>
            <a:r>
              <a:rPr lang="en-US" dirty="0" err="1"/>
              <a:t>sınıf</a:t>
            </a:r>
            <a:r>
              <a:rPr lang="en-US" dirty="0"/>
              <a:t> </a:t>
            </a:r>
            <a:r>
              <a:rPr lang="en-US" dirty="0" err="1"/>
              <a:t>tanımlamasından</a:t>
            </a:r>
            <a:r>
              <a:rPr lang="en-US" dirty="0"/>
              <a:t> </a:t>
            </a:r>
            <a:r>
              <a:rPr lang="en-US" dirty="0" err="1"/>
              <a:t>tespit</a:t>
            </a:r>
            <a:r>
              <a:rPr lang="en-US" dirty="0"/>
              <a:t> </a:t>
            </a:r>
            <a:r>
              <a:rPr lang="en-US" dirty="0" err="1"/>
              <a:t>etmelisiniz</a:t>
            </a:r>
            <a:r>
              <a:rPr lang="en-US" dirty="0"/>
              <a:t>. </a:t>
            </a:r>
            <a:r>
              <a:rPr lang="en-US" dirty="0" err="1"/>
              <a:t>Çünkü</a:t>
            </a:r>
            <a:r>
              <a:rPr lang="en-US" dirty="0"/>
              <a:t> </a:t>
            </a:r>
            <a:r>
              <a:rPr lang="en-US" dirty="0" err="1"/>
              <a:t>tüm</a:t>
            </a:r>
            <a:r>
              <a:rPr lang="en-US" dirty="0"/>
              <a:t> </a:t>
            </a:r>
            <a:r>
              <a:rPr lang="en-US" dirty="0" err="1"/>
              <a:t>nesnelerin</a:t>
            </a:r>
            <a:r>
              <a:rPr lang="en-US" dirty="0"/>
              <a:t> </a:t>
            </a:r>
            <a:r>
              <a:rPr lang="en-US" dirty="0" err="1"/>
              <a:t>türediği</a:t>
            </a:r>
            <a:r>
              <a:rPr lang="en-US" dirty="0"/>
              <a:t> </a:t>
            </a:r>
            <a:r>
              <a:rPr lang="en-US" b="1" dirty="0" err="1"/>
              <a:t>java.lang.Object</a:t>
            </a:r>
            <a:r>
              <a:rPr lang="en-US" dirty="0"/>
              <a:t> </a:t>
            </a:r>
            <a:r>
              <a:rPr lang="en-US" dirty="0" err="1"/>
              <a:t>sınıfı</a:t>
            </a:r>
            <a:r>
              <a:rPr lang="en-US" dirty="0"/>
              <a:t> </a:t>
            </a:r>
            <a:r>
              <a:rPr lang="en-US" b="1" dirty="0" err="1"/>
              <a:t>Serializable</a:t>
            </a:r>
            <a:r>
              <a:rPr lang="en-US" dirty="0"/>
              <a:t> </a:t>
            </a:r>
            <a:r>
              <a:rPr lang="en-US" dirty="0" smtClean="0"/>
              <a:t>interface</a:t>
            </a:r>
            <a:r>
              <a:rPr lang="tr-TR" dirty="0" smtClean="0"/>
              <a:t> </a:t>
            </a:r>
            <a:r>
              <a:rPr lang="en-US" dirty="0" err="1" smtClean="0"/>
              <a:t>ini</a:t>
            </a:r>
            <a:r>
              <a:rPr lang="en-US" dirty="0" smtClean="0"/>
              <a:t> </a:t>
            </a:r>
            <a:r>
              <a:rPr lang="en-US" dirty="0" err="1"/>
              <a:t>uygulamaz</a:t>
            </a:r>
            <a:r>
              <a:rPr lang="en-US" dirty="0"/>
              <a:t>. </a:t>
            </a:r>
            <a:r>
              <a:rPr lang="en-US" dirty="0" err="1"/>
              <a:t>Örnek</a:t>
            </a:r>
            <a:r>
              <a:rPr lang="en-US" dirty="0"/>
              <a:t> </a:t>
            </a:r>
            <a:r>
              <a:rPr lang="en-US" dirty="0" err="1"/>
              <a:t>olarak</a:t>
            </a:r>
            <a:r>
              <a:rPr lang="en-US" dirty="0"/>
              <a:t> </a:t>
            </a:r>
            <a:r>
              <a:rPr lang="en-US" b="1" dirty="0"/>
              <a:t>String</a:t>
            </a:r>
            <a:r>
              <a:rPr lang="en-US" dirty="0"/>
              <a:t> </a:t>
            </a:r>
            <a:r>
              <a:rPr lang="en-US" dirty="0" err="1"/>
              <a:t>nesneleri</a:t>
            </a:r>
            <a:r>
              <a:rPr lang="en-US" dirty="0"/>
              <a:t> Java da </a:t>
            </a:r>
            <a:r>
              <a:rPr lang="en-US" dirty="0" err="1"/>
              <a:t>öntanımlı</a:t>
            </a:r>
            <a:r>
              <a:rPr lang="en-US" dirty="0"/>
              <a:t> </a:t>
            </a:r>
            <a:r>
              <a:rPr lang="en-US" dirty="0" err="1"/>
              <a:t>olarak</a:t>
            </a:r>
            <a:r>
              <a:rPr lang="en-US" dirty="0"/>
              <a:t> </a:t>
            </a:r>
            <a:r>
              <a:rPr lang="en-US" b="1" dirty="0" err="1"/>
              <a:t>Serializable</a:t>
            </a:r>
            <a:r>
              <a:rPr lang="en-US" dirty="0"/>
              <a:t> </a:t>
            </a:r>
            <a:r>
              <a:rPr lang="en-US" dirty="0" err="1"/>
              <a:t>interfaceini</a:t>
            </a:r>
            <a:r>
              <a:rPr lang="en-US" dirty="0"/>
              <a:t> </a:t>
            </a:r>
            <a:r>
              <a:rPr lang="en-US" dirty="0" err="1"/>
              <a:t>tanımlar</a:t>
            </a:r>
            <a:r>
              <a:rPr lang="en-US" dirty="0"/>
              <a:t>.</a:t>
            </a:r>
          </a:p>
          <a:p>
            <a:pPr marL="0" indent="0">
              <a:buNone/>
            </a:pPr>
            <a:r>
              <a:rPr lang="en-US" dirty="0" err="1"/>
              <a:t>Burda</a:t>
            </a:r>
            <a:r>
              <a:rPr lang="en-US" dirty="0"/>
              <a:t> </a:t>
            </a:r>
            <a:r>
              <a:rPr lang="en-US" dirty="0" err="1" smtClean="0"/>
              <a:t>bahsetme</a:t>
            </a:r>
            <a:r>
              <a:rPr lang="tr-TR" dirty="0" smtClean="0"/>
              <a:t>k</a:t>
            </a:r>
            <a:r>
              <a:rPr lang="en-US" dirty="0" smtClean="0"/>
              <a:t> </a:t>
            </a:r>
            <a:r>
              <a:rPr lang="en-US" dirty="0" err="1"/>
              <a:t>gereken</a:t>
            </a:r>
            <a:r>
              <a:rPr lang="en-US" dirty="0"/>
              <a:t> </a:t>
            </a:r>
            <a:r>
              <a:rPr lang="en-US" dirty="0" err="1"/>
              <a:t>bir</a:t>
            </a:r>
            <a:r>
              <a:rPr lang="en-US" dirty="0"/>
              <a:t> </a:t>
            </a:r>
            <a:r>
              <a:rPr lang="en-US" dirty="0" err="1"/>
              <a:t>diğer</a:t>
            </a:r>
            <a:r>
              <a:rPr lang="en-US" dirty="0"/>
              <a:t> </a:t>
            </a:r>
            <a:r>
              <a:rPr lang="en-US" dirty="0" err="1"/>
              <a:t>nokta</a:t>
            </a:r>
            <a:r>
              <a:rPr lang="en-US" dirty="0"/>
              <a:t> da, </a:t>
            </a:r>
            <a:r>
              <a:rPr lang="en-US" dirty="0" err="1"/>
              <a:t>serileştirilme</a:t>
            </a:r>
            <a:r>
              <a:rPr lang="en-US" dirty="0"/>
              <a:t> </a:t>
            </a:r>
            <a:r>
              <a:rPr lang="en-US" dirty="0" err="1"/>
              <a:t>işleminin</a:t>
            </a:r>
            <a:r>
              <a:rPr lang="en-US" dirty="0"/>
              <a:t> </a:t>
            </a:r>
            <a:r>
              <a:rPr lang="en-US" dirty="0" err="1"/>
              <a:t>yapılmasını</a:t>
            </a:r>
            <a:r>
              <a:rPr lang="en-US" dirty="0"/>
              <a:t> </a:t>
            </a:r>
            <a:r>
              <a:rPr lang="en-US" dirty="0" err="1"/>
              <a:t>istemediğiniz</a:t>
            </a:r>
            <a:r>
              <a:rPr lang="en-US" dirty="0"/>
              <a:t> </a:t>
            </a:r>
            <a:r>
              <a:rPr lang="en-US" dirty="0" err="1"/>
              <a:t>sınıf</a:t>
            </a:r>
            <a:r>
              <a:rPr lang="en-US" dirty="0"/>
              <a:t> </a:t>
            </a:r>
            <a:r>
              <a:rPr lang="en-US" dirty="0" err="1"/>
              <a:t>alanları</a:t>
            </a:r>
            <a:r>
              <a:rPr lang="en-US" dirty="0"/>
              <a:t> </a:t>
            </a:r>
            <a:r>
              <a:rPr lang="en-US" dirty="0" err="1"/>
              <a:t>varsa</a:t>
            </a:r>
            <a:r>
              <a:rPr lang="en-US" dirty="0"/>
              <a:t> </a:t>
            </a:r>
            <a:r>
              <a:rPr lang="en-US" b="1" dirty="0"/>
              <a:t>(fields) </a:t>
            </a:r>
            <a:r>
              <a:rPr lang="en-US" dirty="0" err="1"/>
              <a:t>bunları</a:t>
            </a:r>
            <a:r>
              <a:rPr lang="en-US" dirty="0"/>
              <a:t> </a:t>
            </a:r>
            <a:r>
              <a:rPr lang="en-US" b="1" i="1" dirty="0"/>
              <a:t>transient</a:t>
            </a:r>
            <a:r>
              <a:rPr lang="en-US" dirty="0"/>
              <a:t> </a:t>
            </a:r>
            <a:r>
              <a:rPr lang="en-US" dirty="0" err="1"/>
              <a:t>olarak</a:t>
            </a:r>
            <a:r>
              <a:rPr lang="en-US" dirty="0"/>
              <a:t> </a:t>
            </a:r>
            <a:r>
              <a:rPr lang="en-US" dirty="0" err="1"/>
              <a:t>sınıf</a:t>
            </a:r>
            <a:r>
              <a:rPr lang="en-US" dirty="0"/>
              <a:t> </a:t>
            </a:r>
            <a:r>
              <a:rPr lang="en-US" dirty="0" err="1"/>
              <a:t>tanımlamasında</a:t>
            </a:r>
            <a:r>
              <a:rPr lang="en-US" dirty="0"/>
              <a:t> </a:t>
            </a:r>
            <a:r>
              <a:rPr lang="en-US" dirty="0" err="1"/>
              <a:t>belirtmemiz</a:t>
            </a:r>
            <a:r>
              <a:rPr lang="en-US" dirty="0"/>
              <a:t> </a:t>
            </a:r>
            <a:r>
              <a:rPr lang="en-US" dirty="0" err="1"/>
              <a:t>gerekiyor</a:t>
            </a:r>
            <a:r>
              <a:rPr lang="en-US" dirty="0"/>
              <a:t>. </a:t>
            </a:r>
            <a:r>
              <a:rPr lang="en-US" dirty="0" err="1"/>
              <a:t>Eğer</a:t>
            </a:r>
            <a:r>
              <a:rPr lang="en-US" dirty="0"/>
              <a:t>, </a:t>
            </a:r>
            <a:r>
              <a:rPr lang="en-US" dirty="0" err="1"/>
              <a:t>herhangi</a:t>
            </a:r>
            <a:r>
              <a:rPr lang="en-US" dirty="0"/>
              <a:t> </a:t>
            </a:r>
            <a:r>
              <a:rPr lang="en-US" dirty="0" err="1"/>
              <a:t>bir</a:t>
            </a:r>
            <a:r>
              <a:rPr lang="en-US" dirty="0"/>
              <a:t> </a:t>
            </a:r>
            <a:r>
              <a:rPr lang="en-US" dirty="0" err="1"/>
              <a:t>sınıf</a:t>
            </a:r>
            <a:r>
              <a:rPr lang="en-US" dirty="0"/>
              <a:t> </a:t>
            </a:r>
            <a:r>
              <a:rPr lang="en-US" dirty="0" err="1"/>
              <a:t>içinde</a:t>
            </a:r>
            <a:r>
              <a:rPr lang="en-US" dirty="0"/>
              <a:t> </a:t>
            </a:r>
            <a:r>
              <a:rPr lang="en-US" b="1" dirty="0" err="1"/>
              <a:t>javaBlog</a:t>
            </a:r>
            <a:r>
              <a:rPr lang="en-US" dirty="0"/>
              <a:t> </a:t>
            </a:r>
            <a:r>
              <a:rPr lang="en-US" dirty="0" err="1"/>
              <a:t>adında</a:t>
            </a:r>
            <a:r>
              <a:rPr lang="en-US" dirty="0"/>
              <a:t> </a:t>
            </a:r>
            <a:r>
              <a:rPr lang="en-US" dirty="0" err="1"/>
              <a:t>bir</a:t>
            </a:r>
            <a:r>
              <a:rPr lang="en-US" dirty="0"/>
              <a:t> </a:t>
            </a:r>
            <a:r>
              <a:rPr lang="en-US" b="1" dirty="0"/>
              <a:t>field</a:t>
            </a:r>
            <a:r>
              <a:rPr lang="en-US" dirty="0"/>
              <a:t> </a:t>
            </a:r>
            <a:r>
              <a:rPr lang="en-US" dirty="0" err="1"/>
              <a:t>var</a:t>
            </a:r>
            <a:r>
              <a:rPr lang="en-US" dirty="0"/>
              <a:t> </a:t>
            </a:r>
            <a:r>
              <a:rPr lang="en-US" dirty="0" err="1"/>
              <a:t>ve</a:t>
            </a:r>
            <a:r>
              <a:rPr lang="en-US" dirty="0"/>
              <a:t> </a:t>
            </a:r>
            <a:r>
              <a:rPr lang="en-US" dirty="0" err="1"/>
              <a:t>siz</a:t>
            </a:r>
            <a:r>
              <a:rPr lang="en-US" dirty="0"/>
              <a:t> </a:t>
            </a:r>
            <a:r>
              <a:rPr lang="en-US" dirty="0" err="1"/>
              <a:t>bu</a:t>
            </a:r>
            <a:r>
              <a:rPr lang="en-US" dirty="0"/>
              <a:t> </a:t>
            </a:r>
            <a:r>
              <a:rPr lang="en-US" b="1" dirty="0" smtClean="0"/>
              <a:t>field</a:t>
            </a:r>
            <a:r>
              <a:rPr lang="tr-TR" b="1" dirty="0" smtClean="0"/>
              <a:t> </a:t>
            </a:r>
            <a:r>
              <a:rPr lang="en-US" b="1" dirty="0" err="1" smtClean="0"/>
              <a:t>ı</a:t>
            </a:r>
            <a:r>
              <a:rPr lang="en-US" dirty="0" smtClean="0"/>
              <a:t> </a:t>
            </a:r>
            <a:r>
              <a:rPr lang="en-US" dirty="0" err="1"/>
              <a:t>serileştirilme</a:t>
            </a:r>
            <a:r>
              <a:rPr lang="en-US" dirty="0"/>
              <a:t> </a:t>
            </a:r>
            <a:r>
              <a:rPr lang="en-US" dirty="0" err="1"/>
              <a:t>işleminden</a:t>
            </a:r>
            <a:r>
              <a:rPr lang="en-US" dirty="0"/>
              <a:t> </a:t>
            </a:r>
            <a:r>
              <a:rPr lang="en-US" dirty="0" err="1"/>
              <a:t>hariç</a:t>
            </a:r>
            <a:r>
              <a:rPr lang="en-US" dirty="0"/>
              <a:t> </a:t>
            </a:r>
            <a:r>
              <a:rPr lang="en-US" dirty="0" err="1"/>
              <a:t>tutmak</a:t>
            </a:r>
            <a:r>
              <a:rPr lang="en-US" dirty="0"/>
              <a:t> </a:t>
            </a:r>
            <a:r>
              <a:rPr lang="en-US" dirty="0" err="1"/>
              <a:t>istiyor</a:t>
            </a:r>
            <a:r>
              <a:rPr lang="en-US" dirty="0"/>
              <a:t> </a:t>
            </a:r>
            <a:r>
              <a:rPr lang="en-US" dirty="0" err="1"/>
              <a:t>iseniz</a:t>
            </a:r>
            <a:r>
              <a:rPr lang="en-US" dirty="0"/>
              <a:t>, </a:t>
            </a:r>
            <a:r>
              <a:rPr lang="en-US" dirty="0" err="1"/>
              <a:t>şu</a:t>
            </a:r>
            <a:r>
              <a:rPr lang="en-US" dirty="0"/>
              <a:t> </a:t>
            </a:r>
            <a:r>
              <a:rPr lang="en-US" dirty="0" err="1"/>
              <a:t>şekilde</a:t>
            </a:r>
            <a:r>
              <a:rPr lang="en-US" dirty="0"/>
              <a:t> </a:t>
            </a:r>
            <a:r>
              <a:rPr lang="en-US" dirty="0" err="1"/>
              <a:t>tanımlamanız</a:t>
            </a:r>
            <a:r>
              <a:rPr lang="en-US" dirty="0"/>
              <a:t> </a:t>
            </a:r>
            <a:r>
              <a:rPr lang="en-US" dirty="0" err="1"/>
              <a:t>gerekiyor</a:t>
            </a:r>
            <a:r>
              <a:rPr lang="en-US" dirty="0" smtClean="0"/>
              <a:t>.</a:t>
            </a:r>
            <a:endParaRPr lang="tr-TR" dirty="0" smtClean="0"/>
          </a:p>
          <a:p>
            <a:pPr marL="0" indent="0">
              <a:buNone/>
            </a:pPr>
            <a:r>
              <a:rPr lang="en-US" b="1" dirty="0"/>
              <a:t>transient</a:t>
            </a:r>
            <a:r>
              <a:rPr lang="en-US" dirty="0"/>
              <a:t> private </a:t>
            </a:r>
            <a:r>
              <a:rPr lang="en-US" dirty="0" err="1"/>
              <a:t>JavaBlog</a:t>
            </a:r>
            <a:r>
              <a:rPr lang="en-US" dirty="0"/>
              <a:t> </a:t>
            </a:r>
            <a:r>
              <a:rPr lang="en-US" dirty="0" err="1"/>
              <a:t>javaBlog</a:t>
            </a:r>
            <a:r>
              <a:rPr lang="en-US" dirty="0"/>
              <a:t>;</a:t>
            </a:r>
          </a:p>
          <a:p>
            <a:endParaRPr lang="en-US" dirty="0"/>
          </a:p>
        </p:txBody>
      </p:sp>
    </p:spTree>
    <p:extLst>
      <p:ext uri="{BB962C8B-B14F-4D97-AF65-F5344CB8AC3E}">
        <p14:creationId xmlns:p14="http://schemas.microsoft.com/office/powerpoint/2010/main" val="2172484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292100"/>
            <a:ext cx="11506200" cy="6235700"/>
          </a:xfrm>
        </p:spPr>
        <p:txBody>
          <a:bodyPr>
            <a:normAutofit fontScale="85000" lnSpcReduction="20000"/>
          </a:bodyPr>
          <a:lstStyle/>
          <a:p>
            <a:pPr marL="0" indent="0">
              <a:buNone/>
            </a:pPr>
            <a:r>
              <a:rPr lang="tr-TR" b="1" dirty="0" smtClean="0"/>
              <a:t>JDBC (Java Database Connectivity) </a:t>
            </a:r>
            <a:r>
              <a:rPr lang="tr-TR" dirty="0" smtClean="0"/>
              <a:t>veriyi kalıcı hale getirmek için kullanabileceğimiz  klasik bir yaklaşımdır. Bu yöntem ile bağlantı açmak ve kapatmaktan tutunda </a:t>
            </a:r>
            <a:r>
              <a:rPr lang="tr-TR" b="1" dirty="0" smtClean="0"/>
              <a:t>Transaction</a:t>
            </a:r>
            <a:r>
              <a:rPr lang="tr-TR" dirty="0" smtClean="0"/>
              <a:t> yönetimine kadar tüm işlemler tek tek yazılımcılar tarafından yönetilir. Bu yöntemde hata yapma olasılığı istenilenden yüksektir,  ve spagetti kod olarak tarif edilen kod kalabalığı çok fazla olmaktadır. Bu yüzden bu yöntem de tam olarak istenileni vermemektedir. Çünkü; Kurumsal yazılımlarda, örneğin bir banka uygulamasında veri çok kıymetlidir ve en ufak hata çok derin hasidelere yol açabilir. Kod karmaşası hata yapma olasılığını yükselten bir etkendir. Bu yöntemde ilişkisel bir veritabanı üzerinde </a:t>
            </a:r>
            <a:r>
              <a:rPr lang="tr-TR" b="1" dirty="0" smtClean="0"/>
              <a:t>SQL</a:t>
            </a:r>
            <a:r>
              <a:rPr lang="tr-TR" dirty="0" smtClean="0"/>
              <a:t> cümleleri kullanarak </a:t>
            </a:r>
            <a:r>
              <a:rPr lang="tr-TR" b="1" dirty="0" smtClean="0"/>
              <a:t>CRUD</a:t>
            </a:r>
            <a:r>
              <a:rPr lang="tr-TR" dirty="0" smtClean="0"/>
              <a:t> işlemleri gerçekleştirilir. </a:t>
            </a:r>
          </a:p>
          <a:p>
            <a:pPr marL="0" indent="0">
              <a:buNone/>
            </a:pPr>
            <a:r>
              <a:rPr lang="tr-TR" dirty="0" smtClean="0"/>
              <a:t>İlişkisel veritabanları, verileri </a:t>
            </a:r>
            <a:r>
              <a:rPr lang="tr-TR" b="1" dirty="0" smtClean="0"/>
              <a:t>satır</a:t>
            </a:r>
            <a:r>
              <a:rPr lang="tr-TR" dirty="0" smtClean="0"/>
              <a:t> ve </a:t>
            </a:r>
            <a:r>
              <a:rPr lang="tr-TR" b="1" dirty="0" smtClean="0"/>
              <a:t>sütunlardan</a:t>
            </a:r>
            <a:r>
              <a:rPr lang="tr-TR" dirty="0" smtClean="0"/>
              <a:t> oluşan </a:t>
            </a:r>
            <a:r>
              <a:rPr lang="tr-TR" b="1" dirty="0" smtClean="0"/>
              <a:t>tablolar</a:t>
            </a:r>
            <a:r>
              <a:rPr lang="tr-TR" dirty="0" smtClean="0"/>
              <a:t> şeklinde kayıt ederler. </a:t>
            </a:r>
            <a:r>
              <a:rPr lang="tr-TR" b="1" dirty="0" smtClean="0"/>
              <a:t>Satırlar</a:t>
            </a:r>
            <a:r>
              <a:rPr lang="tr-TR" dirty="0" smtClean="0"/>
              <a:t> halinde tutulan her bir kayıt, kendi aidiyetini tanımlayan </a:t>
            </a:r>
            <a:r>
              <a:rPr lang="tr-TR" b="1" dirty="0" smtClean="0"/>
              <a:t>birincil anahtar</a:t>
            </a:r>
            <a:r>
              <a:rPr lang="tr-TR" dirty="0" smtClean="0"/>
              <a:t> </a:t>
            </a:r>
            <a:r>
              <a:rPr lang="tr-TR" b="1" dirty="0" smtClean="0"/>
              <a:t>(primary key ) </a:t>
            </a:r>
            <a:r>
              <a:rPr lang="tr-TR" dirty="0" smtClean="0"/>
              <a:t>ile temsil edilir. Bu sebeple her bir kaydın </a:t>
            </a:r>
            <a:r>
              <a:rPr lang="tr-TR" b="1" dirty="0" smtClean="0"/>
              <a:t>birincil anahtarı </a:t>
            </a:r>
            <a:r>
              <a:rPr lang="tr-TR" dirty="0" smtClean="0"/>
              <a:t>eşsiz olmak zorundadır. Tablolararası ilişki ise </a:t>
            </a:r>
            <a:r>
              <a:rPr lang="tr-TR" b="1" dirty="0" smtClean="0"/>
              <a:t>yabancı anahtarlar(foreign keys) </a:t>
            </a:r>
            <a:r>
              <a:rPr lang="tr-TR" dirty="0" smtClean="0"/>
              <a:t>ya da kalıtım tabloları </a:t>
            </a:r>
            <a:r>
              <a:rPr lang="tr-TR" b="1" dirty="0" smtClean="0"/>
              <a:t>(join tables) </a:t>
            </a:r>
            <a:r>
              <a:rPr lang="tr-TR" dirty="0" smtClean="0"/>
              <a:t>ile sağlanır. </a:t>
            </a:r>
            <a:r>
              <a:rPr lang="tr-TR" b="1" dirty="0" smtClean="0"/>
              <a:t>Nesneye yönelik yaklaşımla </a:t>
            </a:r>
            <a:r>
              <a:rPr lang="tr-TR" dirty="0" smtClean="0"/>
              <a:t>oluşturulan bir yazılım projesinde eldeki enstrümanlar nesneler, soyut sınıflar kalıtım gibi kavramlar iken, veritabanlarının enstrümanları, tablolar, satırlar, birincil anahtarlar vs.’dir.  Arada görülen bu farklılıkları gidermek için </a:t>
            </a:r>
            <a:r>
              <a:rPr lang="tr-TR" b="1" dirty="0" smtClean="0"/>
              <a:t>ORM (Object Relation Mapping) </a:t>
            </a:r>
            <a:r>
              <a:rPr lang="tr-TR" dirty="0" smtClean="0"/>
              <a:t>ortaya çıkmıştır.  Bu yaklaşımda birbiriyle ilişkili nesneler, hiçbir gayret göstermeksizin doğrudan ilişkisel veritabanlarına haritalanabilmektedir. Nesne – Tablo haritalamasını sağlayan birden fazla altyapı çözümü bulunmaktadır. </a:t>
            </a:r>
            <a:r>
              <a:rPr lang="tr-TR" b="1" dirty="0" smtClean="0"/>
              <a:t>(Hibernate, Toplink ve JDO) </a:t>
            </a:r>
            <a:r>
              <a:rPr lang="tr-TR" dirty="0" smtClean="0"/>
              <a:t>bunlardan bazılarıdır. Fakat </a:t>
            </a:r>
            <a:r>
              <a:rPr lang="tr-TR" b="1" dirty="0" smtClean="0"/>
              <a:t>JPA</a:t>
            </a:r>
            <a:r>
              <a:rPr lang="tr-TR" dirty="0" smtClean="0"/>
              <a:t> standardı </a:t>
            </a:r>
            <a:r>
              <a:rPr lang="tr-TR" b="1" dirty="0" smtClean="0"/>
              <a:t>JCP( Java Commuity Process) </a:t>
            </a:r>
            <a:r>
              <a:rPr lang="tr-TR" dirty="0" smtClean="0"/>
              <a:t>tarafından önerilen bir teklonojidir. </a:t>
            </a:r>
            <a:r>
              <a:rPr lang="tr-TR" b="1" dirty="0" smtClean="0"/>
              <a:t>JPA</a:t>
            </a:r>
            <a:r>
              <a:rPr lang="tr-TR" dirty="0" smtClean="0"/>
              <a:t> bir Java standardı iken diğer framework ler farklı toplulukların oluşturduğu çözümlerdir. </a:t>
            </a:r>
            <a:endParaRPr lang="en-US" dirty="0"/>
          </a:p>
        </p:txBody>
      </p:sp>
    </p:spTree>
    <p:extLst>
      <p:ext uri="{BB962C8B-B14F-4D97-AF65-F5344CB8AC3E}">
        <p14:creationId xmlns:p14="http://schemas.microsoft.com/office/powerpoint/2010/main" val="2039379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266700"/>
            <a:ext cx="11607800" cy="6248400"/>
          </a:xfrm>
        </p:spPr>
        <p:txBody>
          <a:bodyPr>
            <a:normAutofit fontScale="92500" lnSpcReduction="20000"/>
          </a:bodyPr>
          <a:lstStyle/>
          <a:p>
            <a:pPr marL="0" indent="0">
              <a:buNone/>
            </a:pPr>
            <a:r>
              <a:rPr lang="tr-TR" b="1" dirty="0" smtClean="0"/>
              <a:t>JPA Standartları</a:t>
            </a:r>
          </a:p>
          <a:p>
            <a:pPr marL="0" indent="0">
              <a:buNone/>
            </a:pPr>
            <a:r>
              <a:rPr lang="tr-TR" b="1" dirty="0" smtClean="0"/>
              <a:t>JPA</a:t>
            </a:r>
            <a:r>
              <a:rPr lang="tr-TR" dirty="0" smtClean="0"/>
              <a:t> kütüphanesi aracılığıyla, </a:t>
            </a:r>
            <a:r>
              <a:rPr lang="tr-TR" b="1" dirty="0" smtClean="0"/>
              <a:t>EJB ( Enterprise Java Beans)</a:t>
            </a:r>
            <a:r>
              <a:rPr lang="tr-TR" dirty="0" smtClean="0"/>
              <a:t>’lerden, Web bileşenlerinden ya da </a:t>
            </a:r>
            <a:r>
              <a:rPr lang="tr-TR" b="1" dirty="0" smtClean="0"/>
              <a:t>Java Standart </a:t>
            </a:r>
            <a:r>
              <a:rPr lang="tr-TR" dirty="0" smtClean="0"/>
              <a:t>sürümleri kullanılarak ilişkisel veritabanlarına erişilebilir, ve istenilen manipülasyonlar yapılabilir</a:t>
            </a:r>
            <a:r>
              <a:rPr lang="tr-TR" b="1" dirty="0" smtClean="0"/>
              <a:t>. JPA JDBC </a:t>
            </a:r>
            <a:r>
              <a:rPr lang="tr-TR" dirty="0" smtClean="0"/>
              <a:t>kütüphanesi üzerinde soyut bir katman olarak bulunur ve uygulamayı </a:t>
            </a:r>
            <a:r>
              <a:rPr lang="tr-TR" b="1" dirty="0" smtClean="0"/>
              <a:t>SQL’den</a:t>
            </a:r>
            <a:r>
              <a:rPr lang="tr-TR" dirty="0" smtClean="0"/>
              <a:t> bağımsız bir hale getirir. Bu kütüphanin tüm sınıfları ve annotation ları </a:t>
            </a:r>
            <a:r>
              <a:rPr lang="tr-TR" b="1" dirty="0" smtClean="0"/>
              <a:t>javax.persistance</a:t>
            </a:r>
            <a:r>
              <a:rPr lang="tr-TR" dirty="0" smtClean="0"/>
              <a:t> paketi içerisinde bulunur. </a:t>
            </a:r>
          </a:p>
          <a:p>
            <a:pPr marL="0" indent="0">
              <a:buNone/>
            </a:pPr>
            <a:r>
              <a:rPr lang="tr-TR" b="1" dirty="0" smtClean="0"/>
              <a:t>JPA’nın temel bileşenleri </a:t>
            </a:r>
          </a:p>
          <a:p>
            <a:pPr marL="0" indent="0">
              <a:buNone/>
            </a:pPr>
            <a:r>
              <a:rPr lang="tr-TR" b="1" dirty="0" smtClean="0"/>
              <a:t>ORM (Object Relational Mapping) Entity </a:t>
            </a:r>
            <a:r>
              <a:rPr lang="tr-TR" dirty="0" smtClean="0"/>
              <a:t>nesnelerini ilişkisel veritabanlarına haritalayan mekanizmadır. </a:t>
            </a:r>
          </a:p>
          <a:p>
            <a:pPr marL="0" indent="0">
              <a:buNone/>
            </a:pPr>
            <a:r>
              <a:rPr lang="tr-TR" b="1" dirty="0" smtClean="0"/>
              <a:t>Entity Manager API, CRUD </a:t>
            </a:r>
            <a:r>
              <a:rPr lang="tr-TR" dirty="0" smtClean="0"/>
              <a:t>operasyonlarını gerçekleştirmek için kullanılır ve </a:t>
            </a:r>
            <a:r>
              <a:rPr lang="tr-TR" b="1" dirty="0" smtClean="0"/>
              <a:t>JDBC</a:t>
            </a:r>
            <a:r>
              <a:rPr lang="tr-TR" dirty="0" smtClean="0"/>
              <a:t> kütüphanesini doğrudan kulanmaktan kaçınmaya olanak sağlar. </a:t>
            </a:r>
          </a:p>
          <a:p>
            <a:pPr marL="0" indent="0">
              <a:buNone/>
            </a:pPr>
            <a:r>
              <a:rPr lang="tr-TR" b="1" dirty="0" smtClean="0"/>
              <a:t>JPQL(Java Persistance Query Language) </a:t>
            </a:r>
            <a:r>
              <a:rPr lang="tr-TR" dirty="0" smtClean="0"/>
              <a:t>veriyi nesneye yönelik yaklaşıma uygun olarak sorgulamak için kullanılan </a:t>
            </a:r>
            <a:r>
              <a:rPr lang="tr-TR" b="1" dirty="0" smtClean="0"/>
              <a:t>SQL</a:t>
            </a:r>
            <a:r>
              <a:rPr lang="tr-TR" dirty="0" smtClean="0"/>
              <a:t> söz dizimine yakın bir dildir. </a:t>
            </a:r>
          </a:p>
          <a:p>
            <a:pPr marL="0" indent="0">
              <a:buNone/>
            </a:pPr>
            <a:r>
              <a:rPr lang="tr-TR" b="1" dirty="0" smtClean="0"/>
              <a:t>Transaction ve Kilitleme (Locking ) Mekanizmaları JTA (Java Transaction Api) </a:t>
            </a:r>
            <a:r>
              <a:rPr lang="tr-TR" dirty="0" smtClean="0"/>
              <a:t>tarafından veriye paralel erişim sırasında kullanılan mekanizmalarıdır. </a:t>
            </a:r>
          </a:p>
          <a:p>
            <a:pPr marL="0" indent="0">
              <a:buNone/>
            </a:pPr>
            <a:r>
              <a:rPr lang="tr-TR" b="1" dirty="0" smtClean="0"/>
              <a:t>Çağrı (Callback) ve Dinleyici (Listener)’ler</a:t>
            </a:r>
            <a:r>
              <a:rPr lang="tr-TR" dirty="0" smtClean="0"/>
              <a:t>, kalıcı hale getirilen nesnenin yaşam döngüsünü kontrol etmeyi sağlar. </a:t>
            </a:r>
          </a:p>
          <a:p>
            <a:endParaRPr lang="tr-TR" dirty="0" smtClean="0"/>
          </a:p>
          <a:p>
            <a:endParaRPr lang="tr-TR" dirty="0"/>
          </a:p>
          <a:p>
            <a:endParaRPr lang="en-US" dirty="0"/>
          </a:p>
        </p:txBody>
      </p:sp>
    </p:spTree>
    <p:extLst>
      <p:ext uri="{BB962C8B-B14F-4D97-AF65-F5344CB8AC3E}">
        <p14:creationId xmlns:p14="http://schemas.microsoft.com/office/powerpoint/2010/main" val="2075913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9900" y="203200"/>
            <a:ext cx="11391900" cy="6197600"/>
          </a:xfrm>
        </p:spPr>
        <p:txBody>
          <a:bodyPr/>
          <a:lstStyle/>
          <a:p>
            <a:pPr marL="0" indent="0">
              <a:buNone/>
            </a:pPr>
            <a:r>
              <a:rPr lang="tr-TR" dirty="0" smtClean="0"/>
              <a:t>Bir </a:t>
            </a:r>
            <a:r>
              <a:rPr lang="tr-TR" b="1" dirty="0" smtClean="0"/>
              <a:t>Entity</a:t>
            </a:r>
            <a:r>
              <a:rPr lang="tr-TR" dirty="0" smtClean="0"/>
              <a:t> tanımlamak için, </a:t>
            </a:r>
            <a:r>
              <a:rPr lang="tr-TR" b="1" dirty="0" smtClean="0"/>
              <a:t>Entity</a:t>
            </a:r>
            <a:r>
              <a:rPr lang="tr-TR" dirty="0" smtClean="0"/>
              <a:t> olarak tanımlamak istenilen sınıfın başına </a:t>
            </a:r>
            <a:r>
              <a:rPr lang="tr-TR" b="1" dirty="0" smtClean="0"/>
              <a:t>@javax.persistence.Entity annotation</a:t>
            </a:r>
            <a:r>
              <a:rPr lang="tr-TR" dirty="0" smtClean="0"/>
              <a:t> ı uygulanır. </a:t>
            </a:r>
            <a:r>
              <a:rPr lang="tr-TR" b="1" dirty="0" smtClean="0"/>
              <a:t>ORM</a:t>
            </a:r>
            <a:r>
              <a:rPr lang="tr-TR" dirty="0" smtClean="0"/>
              <a:t> ile ilgili tüm annotation lar javax.persistence paketinde bulunmaktadır. Bu nedenle </a:t>
            </a:r>
            <a:r>
              <a:rPr lang="tr-TR" b="1" dirty="0" smtClean="0"/>
              <a:t>import javax.persistence.*;</a:t>
            </a:r>
            <a:r>
              <a:rPr lang="tr-TR" dirty="0" smtClean="0"/>
              <a:t> ifadesiyle kütüphane sınıfı içerisine yüklenmeliir. Aksi halde </a:t>
            </a:r>
            <a:r>
              <a:rPr lang="tr-TR" b="1" dirty="0" smtClean="0"/>
              <a:t>entity’de</a:t>
            </a:r>
            <a:r>
              <a:rPr lang="tr-TR" dirty="0" smtClean="0"/>
              <a:t> tanımlı tüm </a:t>
            </a:r>
            <a:r>
              <a:rPr lang="tr-TR" b="1" dirty="0" smtClean="0"/>
              <a:t>annotation</a:t>
            </a:r>
            <a:r>
              <a:rPr lang="tr-TR" dirty="0" smtClean="0"/>
              <a:t> ların başında paket adı yani </a:t>
            </a:r>
            <a:r>
              <a:rPr lang="tr-TR" b="1" dirty="0" smtClean="0"/>
              <a:t>javax.persistence</a:t>
            </a:r>
            <a:r>
              <a:rPr lang="tr-TR" dirty="0" smtClean="0"/>
              <a:t> ifadesi bulunmak zorundadır. </a:t>
            </a:r>
          </a:p>
          <a:p>
            <a:pPr marL="0" indent="0">
              <a:buNone/>
            </a:pPr>
            <a:r>
              <a:rPr lang="tr-TR" b="1" dirty="0" smtClean="0"/>
              <a:t>Entity Sorgulama</a:t>
            </a:r>
          </a:p>
          <a:p>
            <a:pPr marL="0" indent="0">
              <a:buNone/>
            </a:pPr>
            <a:r>
              <a:rPr lang="tr-TR" b="1" dirty="0" smtClean="0"/>
              <a:t>JPA</a:t>
            </a:r>
            <a:r>
              <a:rPr lang="tr-TR" dirty="0" smtClean="0"/>
              <a:t>, </a:t>
            </a:r>
            <a:r>
              <a:rPr lang="tr-TR" b="1" dirty="0" smtClean="0"/>
              <a:t>Entity’leri</a:t>
            </a:r>
            <a:r>
              <a:rPr lang="tr-TR" dirty="0" smtClean="0"/>
              <a:t> veritabanına haritaladığı gibi, çeşitli ölçütler kulanarak sorgulama yapmayı da sağlar. </a:t>
            </a:r>
            <a:r>
              <a:rPr lang="tr-TR" b="1" dirty="0" smtClean="0"/>
              <a:t>JPA’nın</a:t>
            </a:r>
            <a:r>
              <a:rPr lang="tr-TR" dirty="0" smtClean="0"/>
              <a:t> gücü </a:t>
            </a:r>
            <a:r>
              <a:rPr lang="tr-TR" b="1" dirty="0" smtClean="0"/>
              <a:t>entity’leri</a:t>
            </a:r>
            <a:r>
              <a:rPr lang="tr-TR" dirty="0" smtClean="0"/>
              <a:t> sorgularken bunu nesneye yönelik bir yaklaşım ile yapmasıdır. Bu sayede veritabanı tarafında hiçbir bilgiye ihtiyaç duyulmadan sorgulamalar gerçekleştirilir. </a:t>
            </a:r>
            <a:r>
              <a:rPr lang="tr-TR" b="1" dirty="0" smtClean="0"/>
              <a:t>JPA’nın</a:t>
            </a:r>
            <a:r>
              <a:rPr lang="tr-TR" dirty="0" smtClean="0"/>
              <a:t> en temel parçası </a:t>
            </a:r>
            <a:r>
              <a:rPr lang="tr-TR" b="1" dirty="0" smtClean="0"/>
              <a:t>EntityManager’dır</a:t>
            </a:r>
            <a:r>
              <a:rPr lang="tr-TR" dirty="0" smtClean="0"/>
              <a:t>. Adından da anlaşıldığı gibi görevi </a:t>
            </a:r>
            <a:r>
              <a:rPr lang="tr-TR" b="1" dirty="0" smtClean="0"/>
              <a:t>Entity</a:t>
            </a:r>
            <a:r>
              <a:rPr lang="tr-TR" dirty="0" smtClean="0"/>
              <a:t> nesnelerini yönetmektir. </a:t>
            </a:r>
            <a:r>
              <a:rPr lang="tr-TR" b="1" dirty="0" smtClean="0"/>
              <a:t>Entity Manager </a:t>
            </a:r>
            <a:r>
              <a:rPr lang="tr-TR" dirty="0" smtClean="0"/>
              <a:t>sayesinden basit bi şekilde karmaşık verileri sorgularken </a:t>
            </a:r>
            <a:r>
              <a:rPr lang="tr-TR" b="1" dirty="0" smtClean="0"/>
              <a:t>SQL</a:t>
            </a:r>
            <a:r>
              <a:rPr lang="tr-TR" dirty="0" smtClean="0"/>
              <a:t> söz dizimine benzeyen, </a:t>
            </a:r>
            <a:r>
              <a:rPr lang="tr-TR" b="1" dirty="0" smtClean="0"/>
              <a:t>JPQL( Java Persistence Query Language) </a:t>
            </a:r>
            <a:r>
              <a:rPr lang="tr-TR" dirty="0" smtClean="0"/>
              <a:t>kullanılır. </a:t>
            </a:r>
            <a:endParaRPr lang="en-US" dirty="0"/>
          </a:p>
        </p:txBody>
      </p:sp>
    </p:spTree>
    <p:extLst>
      <p:ext uri="{BB962C8B-B14F-4D97-AF65-F5344CB8AC3E}">
        <p14:creationId xmlns:p14="http://schemas.microsoft.com/office/powerpoint/2010/main" val="2979211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100" y="177800"/>
            <a:ext cx="11493500" cy="6337300"/>
          </a:xfrm>
        </p:spPr>
        <p:txBody>
          <a:bodyPr/>
          <a:lstStyle/>
          <a:p>
            <a:pPr marL="0" indent="0">
              <a:buNone/>
            </a:pPr>
            <a:r>
              <a:rPr lang="tr-TR" b="1" dirty="0" smtClean="0"/>
              <a:t>Entity Manager </a:t>
            </a:r>
            <a:r>
              <a:rPr lang="tr-TR" dirty="0" smtClean="0"/>
              <a:t>sadece bir interface dir. Bu yüzden somut bir sınıf tarafından implemente edilmesi gereklidir.</a:t>
            </a:r>
          </a:p>
          <a:p>
            <a:pPr marL="0" indent="0">
              <a:buNone/>
            </a:pPr>
            <a:r>
              <a:rPr lang="tr-TR" b="1" dirty="0" smtClean="0"/>
              <a:t>EntityManager ile veritabanına Entity Kaydı  Örnek:</a:t>
            </a:r>
          </a:p>
          <a:p>
            <a:pPr marL="0" indent="0">
              <a:buNone/>
            </a:pPr>
            <a:r>
              <a:rPr lang="tr-TR" dirty="0" smtClean="0"/>
              <a:t>EntityManagerFactory emf = new </a:t>
            </a:r>
            <a:r>
              <a:rPr lang="tr-TR" dirty="0"/>
              <a:t>Persistence.createEntityManagerFactory("JPA-Ornek1_PU"</a:t>
            </a:r>
            <a:r>
              <a:rPr lang="tr-TR" dirty="0" smtClean="0"/>
              <a:t>);</a:t>
            </a:r>
          </a:p>
          <a:p>
            <a:pPr marL="0" indent="0">
              <a:buNone/>
            </a:pPr>
            <a:r>
              <a:rPr lang="tr-TR" dirty="0" smtClean="0"/>
              <a:t>EntityManager em = emf.createEntityManager();</a:t>
            </a:r>
          </a:p>
          <a:p>
            <a:pPr marL="0" indent="0">
              <a:buNone/>
            </a:pPr>
            <a:r>
              <a:rPr lang="tr-TR" b="1" dirty="0"/>
              <a:t>e</a:t>
            </a:r>
            <a:r>
              <a:rPr lang="tr-TR" b="1" dirty="0" smtClean="0"/>
              <a:t>m.persist(obje);</a:t>
            </a:r>
          </a:p>
          <a:p>
            <a:pPr marL="0" indent="0">
              <a:buNone/>
            </a:pPr>
            <a:r>
              <a:rPr lang="tr-TR" b="1" dirty="0" smtClean="0"/>
              <a:t>EntityManager </a:t>
            </a:r>
            <a:r>
              <a:rPr lang="tr-TR" dirty="0" smtClean="0"/>
              <a:t>JDBC sorgularını soyutlayarak, persist(), find(), remove()  gibi metotlar sayesinde veritabanı CRUD işlemlerini gerçekleştirir. Ayrıca </a:t>
            </a:r>
            <a:r>
              <a:rPr lang="tr-TR" b="1" dirty="0" smtClean="0"/>
              <a:t>NamedQuery</a:t>
            </a:r>
            <a:r>
              <a:rPr lang="tr-TR" dirty="0" smtClean="0"/>
              <a:t> sayesinde sorgulama işlemlerini de üstlenir. </a:t>
            </a:r>
          </a:p>
          <a:p>
            <a:pPr marL="0" indent="0">
              <a:buNone/>
            </a:pPr>
            <a:endParaRPr lang="tr-TR" dirty="0" smtClean="0"/>
          </a:p>
          <a:p>
            <a:pPr marL="0" indent="0">
              <a:buNone/>
            </a:pPr>
            <a:r>
              <a:rPr lang="tr-TR" b="1" dirty="0" smtClean="0"/>
              <a:t>JPA’da</a:t>
            </a:r>
            <a:r>
              <a:rPr lang="tr-TR" dirty="0" smtClean="0"/>
              <a:t> veritabanı yapılandırma dosyası</a:t>
            </a:r>
            <a:r>
              <a:rPr lang="tr-TR" b="1" dirty="0" smtClean="0"/>
              <a:t> persistence.xml </a:t>
            </a:r>
            <a:r>
              <a:rPr lang="tr-TR" dirty="0" smtClean="0"/>
              <a:t>dosyası ile yapılır. </a:t>
            </a:r>
            <a:endParaRPr lang="en-US" dirty="0"/>
          </a:p>
        </p:txBody>
      </p:sp>
    </p:spTree>
    <p:extLst>
      <p:ext uri="{BB962C8B-B14F-4D97-AF65-F5344CB8AC3E}">
        <p14:creationId xmlns:p14="http://schemas.microsoft.com/office/powerpoint/2010/main" val="2919173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9400" y="292100"/>
            <a:ext cx="11569700" cy="6273800"/>
          </a:xfrm>
        </p:spPr>
        <p:txBody>
          <a:bodyPr>
            <a:normAutofit fontScale="85000" lnSpcReduction="10000"/>
          </a:bodyPr>
          <a:lstStyle/>
          <a:p>
            <a:pPr marL="0" indent="0">
              <a:buNone/>
            </a:pPr>
            <a:r>
              <a:rPr lang="tr-TR" b="1" dirty="0" smtClean="0"/>
              <a:t>@Table Annotation</a:t>
            </a:r>
            <a:r>
              <a:rPr lang="tr-TR" dirty="0" smtClean="0"/>
              <a:t>: Bir </a:t>
            </a:r>
            <a:r>
              <a:rPr lang="tr-TR" b="1" dirty="0" smtClean="0"/>
              <a:t>entity’e</a:t>
            </a:r>
            <a:r>
              <a:rPr lang="tr-TR" dirty="0" smtClean="0"/>
              <a:t> karşılık oluşturulmuş tablo özelliklerini düzenlemeyi sağlar. </a:t>
            </a:r>
          </a:p>
          <a:p>
            <a:pPr marL="0" indent="0">
              <a:buNone/>
            </a:pPr>
            <a:r>
              <a:rPr lang="tr-TR" dirty="0" smtClean="0"/>
              <a:t>@SecondaryTable(s) Annotation: Normal şartlarda bir Entity sınıfı, veritabanı tarafında kendisi gibi tek bir tabloya haritalanınr. Eğer Entity sınıfılarına ait alanlar ayrı tablolar halinde haritalanmak isteniyorsa @SecondaryTable(s) annotation kullanılır. </a:t>
            </a:r>
          </a:p>
          <a:p>
            <a:pPr marL="0" indent="0">
              <a:buNone/>
            </a:pPr>
            <a:r>
              <a:rPr lang="tr-TR" b="1" dirty="0" smtClean="0"/>
              <a:t>Örnek:</a:t>
            </a:r>
          </a:p>
          <a:p>
            <a:pPr marL="0" indent="0">
              <a:buNone/>
            </a:pPr>
            <a:r>
              <a:rPr lang="tr-TR" b="1" dirty="0" smtClean="0"/>
              <a:t>@Entity</a:t>
            </a:r>
          </a:p>
          <a:p>
            <a:pPr marL="0" indent="0">
              <a:buNone/>
            </a:pPr>
            <a:r>
              <a:rPr lang="tr-TR" b="1" dirty="0" smtClean="0"/>
              <a:t>@Table(name </a:t>
            </a:r>
            <a:r>
              <a:rPr lang="tr-TR" b="1" dirty="0"/>
              <a:t>= "Adres1_Tablo</a:t>
            </a:r>
            <a:r>
              <a:rPr lang="tr-TR" b="1" dirty="0" smtClean="0"/>
              <a:t>")</a:t>
            </a:r>
            <a:endParaRPr lang="tr-TR" b="1" dirty="0"/>
          </a:p>
          <a:p>
            <a:pPr marL="0" indent="0">
              <a:buNone/>
            </a:pPr>
            <a:endParaRPr lang="tr-TR" b="1" dirty="0" smtClean="0"/>
          </a:p>
          <a:p>
            <a:pPr marL="0" indent="0">
              <a:buNone/>
            </a:pPr>
            <a:r>
              <a:rPr lang="tr-TR" b="1" dirty="0"/>
              <a:t>@SecondaryTable({@SecondaryTable(name = "</a:t>
            </a:r>
            <a:r>
              <a:rPr lang="tr-TR" b="1" dirty="0" smtClean="0"/>
              <a:t>Adres1_Sokak")}) </a:t>
            </a:r>
            <a:r>
              <a:rPr lang="tr-TR" dirty="0" smtClean="0">
                <a:solidFill>
                  <a:srgbClr val="FF0000"/>
                </a:solidFill>
              </a:rPr>
              <a:t>//Entity sınıf alanları</a:t>
            </a:r>
          </a:p>
          <a:p>
            <a:pPr marL="0" indent="0">
              <a:buNone/>
            </a:pPr>
            <a:r>
              <a:rPr lang="tr-TR" dirty="0" smtClean="0"/>
              <a:t>@Id</a:t>
            </a:r>
          </a:p>
          <a:p>
            <a:pPr marL="0" indent="0">
              <a:buNone/>
            </a:pPr>
            <a:r>
              <a:rPr lang="tr-TR" dirty="0" smtClean="0"/>
              <a:t>Private Long id;</a:t>
            </a:r>
          </a:p>
          <a:p>
            <a:pPr marL="0" indent="0">
              <a:buNone/>
            </a:pPr>
            <a:r>
              <a:rPr lang="tr-TR" dirty="0"/>
              <a:t>@Column (table ="</a:t>
            </a:r>
            <a:r>
              <a:rPr lang="tr-TR" dirty="0" smtClean="0"/>
              <a:t>Adres1_Sokak")</a:t>
            </a:r>
          </a:p>
          <a:p>
            <a:pPr marL="0" indent="0">
              <a:buNone/>
            </a:pPr>
            <a:r>
              <a:rPr lang="tr-TR" dirty="0"/>
              <a:t>p</a:t>
            </a:r>
            <a:r>
              <a:rPr lang="tr-TR" dirty="0" smtClean="0"/>
              <a:t>rivate String sokak1;</a:t>
            </a:r>
          </a:p>
          <a:p>
            <a:pPr marL="0" indent="0">
              <a:buNone/>
            </a:pPr>
            <a:r>
              <a:rPr lang="tr-TR" dirty="0"/>
              <a:t>@Column (table ="Adres1_Sokak")</a:t>
            </a:r>
          </a:p>
          <a:p>
            <a:pPr marL="0" indent="0">
              <a:buNone/>
            </a:pPr>
            <a:r>
              <a:rPr lang="tr-TR" dirty="0"/>
              <a:t>private String </a:t>
            </a:r>
            <a:r>
              <a:rPr lang="tr-TR" dirty="0" smtClean="0"/>
              <a:t>sokak2;</a:t>
            </a:r>
            <a:endParaRPr lang="tr-TR" dirty="0"/>
          </a:p>
          <a:p>
            <a:pPr marL="0" indent="0">
              <a:buNone/>
            </a:pPr>
            <a:endParaRPr lang="tr-TR" dirty="0"/>
          </a:p>
          <a:p>
            <a:pPr marL="0" indent="0">
              <a:buNone/>
            </a:pPr>
            <a:endParaRPr lang="tr-TR" dirty="0" smtClean="0"/>
          </a:p>
          <a:p>
            <a:endParaRPr lang="en-US" dirty="0"/>
          </a:p>
        </p:txBody>
      </p:sp>
    </p:spTree>
    <p:extLst>
      <p:ext uri="{BB962C8B-B14F-4D97-AF65-F5344CB8AC3E}">
        <p14:creationId xmlns:p14="http://schemas.microsoft.com/office/powerpoint/2010/main" val="3042734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700" y="190500"/>
            <a:ext cx="11480800" cy="6210300"/>
          </a:xfrm>
        </p:spPr>
        <p:txBody>
          <a:bodyPr>
            <a:normAutofit lnSpcReduction="10000"/>
          </a:bodyPr>
          <a:lstStyle/>
          <a:p>
            <a:pPr marL="0" indent="0">
              <a:buNone/>
            </a:pPr>
            <a:r>
              <a:rPr lang="tr-TR" b="1" dirty="0" smtClean="0"/>
              <a:t>@Basic Annotation:</a:t>
            </a:r>
          </a:p>
          <a:p>
            <a:pPr marL="0" indent="0">
              <a:buNone/>
            </a:pPr>
            <a:r>
              <a:rPr lang="tr-TR" b="1" dirty="0" smtClean="0"/>
              <a:t>Optional</a:t>
            </a:r>
            <a:r>
              <a:rPr lang="tr-TR" dirty="0" smtClean="0"/>
              <a:t> ve </a:t>
            </a:r>
            <a:r>
              <a:rPr lang="tr-TR" b="1" dirty="0" smtClean="0"/>
              <a:t>fetch</a:t>
            </a:r>
            <a:r>
              <a:rPr lang="tr-TR" dirty="0" smtClean="0"/>
              <a:t> adında iki adet özellik sunmaktadır. </a:t>
            </a:r>
            <a:r>
              <a:rPr lang="tr-TR" b="1" dirty="0" smtClean="0"/>
              <a:t>Optional</a:t>
            </a:r>
            <a:r>
              <a:rPr lang="tr-TR" dirty="0" smtClean="0"/>
              <a:t>, parametresi tanımlanan </a:t>
            </a:r>
            <a:r>
              <a:rPr lang="tr-TR" b="1" dirty="0" smtClean="0"/>
              <a:t>Entity</a:t>
            </a:r>
            <a:r>
              <a:rPr lang="tr-TR" dirty="0" smtClean="0"/>
              <a:t> alanının null değer alıp alamayacağı konusunda boolean türünde true/false değerlerinden birini alır. </a:t>
            </a:r>
            <a:r>
              <a:rPr lang="tr-TR" b="1" dirty="0" smtClean="0"/>
              <a:t>Fetch</a:t>
            </a:r>
            <a:r>
              <a:rPr lang="tr-TR" dirty="0" smtClean="0"/>
              <a:t> parametresi </a:t>
            </a:r>
            <a:r>
              <a:rPr lang="tr-TR" b="1" dirty="0" smtClean="0"/>
              <a:t>FetchType</a:t>
            </a:r>
            <a:r>
              <a:rPr lang="tr-TR" dirty="0" smtClean="0"/>
              <a:t> türünde </a:t>
            </a:r>
            <a:r>
              <a:rPr lang="tr-TR" b="1" dirty="0" smtClean="0"/>
              <a:t>EAGER</a:t>
            </a:r>
            <a:r>
              <a:rPr lang="tr-TR" dirty="0" smtClean="0"/>
              <a:t> ve </a:t>
            </a:r>
            <a:r>
              <a:rPr lang="tr-TR" b="1" dirty="0" smtClean="0"/>
              <a:t>LAZY</a:t>
            </a:r>
            <a:r>
              <a:rPr lang="tr-TR" dirty="0" smtClean="0"/>
              <a:t> özelliklerinden birini kabul eder. Büyük veri akışlarının gerektiği ya da veritabanına kayıt yada veri okuma işleminin uzun sürme ihmitalinin olacağı veri alanlarında </a:t>
            </a:r>
            <a:r>
              <a:rPr lang="tr-TR" b="1" dirty="0" smtClean="0"/>
              <a:t>LAZY</a:t>
            </a:r>
            <a:r>
              <a:rPr lang="tr-TR" dirty="0" smtClean="0"/>
              <a:t> özelliği kullanılır. Bu özellik sayesinde veri transferi, veri alanına ihtiyaç duyulduğunda talep edilir. </a:t>
            </a:r>
            <a:r>
              <a:rPr lang="tr-TR" b="1" dirty="0" smtClean="0"/>
              <a:t>EAGER</a:t>
            </a:r>
            <a:r>
              <a:rPr lang="tr-TR" dirty="0" smtClean="0"/>
              <a:t> özelliği ise </a:t>
            </a:r>
            <a:r>
              <a:rPr lang="tr-TR" b="1" dirty="0" smtClean="0"/>
              <a:t>(varsayılan özellik) </a:t>
            </a:r>
            <a:r>
              <a:rPr lang="tr-TR" dirty="0" smtClean="0"/>
              <a:t>veri transferi </a:t>
            </a:r>
            <a:r>
              <a:rPr lang="tr-TR" b="1" dirty="0" smtClean="0"/>
              <a:t>Entity</a:t>
            </a:r>
            <a:r>
              <a:rPr lang="tr-TR" dirty="0" smtClean="0"/>
              <a:t> oluşturulur oluşmaz başlar. Büyük veri akışlarının bulunabileceği veri alanlarına ayrıca </a:t>
            </a:r>
            <a:r>
              <a:rPr lang="tr-TR" b="1" dirty="0" smtClean="0"/>
              <a:t>@Lob annotation</a:t>
            </a:r>
            <a:r>
              <a:rPr lang="tr-TR" dirty="0" smtClean="0"/>
              <a:t> ı</a:t>
            </a:r>
            <a:r>
              <a:rPr lang="tr-TR" b="1" dirty="0" smtClean="0"/>
              <a:t> (large object) </a:t>
            </a:r>
            <a:r>
              <a:rPr lang="tr-TR" dirty="0" smtClean="0"/>
              <a:t>uygulanır. Bu </a:t>
            </a:r>
            <a:r>
              <a:rPr lang="tr-TR" b="1" dirty="0" smtClean="0"/>
              <a:t>annotation</a:t>
            </a:r>
            <a:r>
              <a:rPr lang="tr-TR" dirty="0" smtClean="0"/>
              <a:t> ile kalıcılık sağlayıcı birime ilgili alanın büyük nesne türü içerdiği hakkında bilgi verilmiş olur. </a:t>
            </a:r>
          </a:p>
          <a:p>
            <a:pPr marL="0" indent="0">
              <a:buNone/>
            </a:pPr>
            <a:r>
              <a:rPr lang="tr-TR" b="1" dirty="0" smtClean="0"/>
              <a:t>Örnek :</a:t>
            </a:r>
          </a:p>
          <a:p>
            <a:pPr marL="0" indent="0">
              <a:buNone/>
            </a:pPr>
            <a:r>
              <a:rPr lang="tr-TR" b="1" dirty="0" smtClean="0"/>
              <a:t>@Basic(fetch= FetchType.LAZY)</a:t>
            </a:r>
          </a:p>
          <a:p>
            <a:pPr marL="0" indent="0">
              <a:buNone/>
            </a:pPr>
            <a:r>
              <a:rPr lang="tr-TR" b="1" dirty="0" smtClean="0"/>
              <a:t>@Lob</a:t>
            </a:r>
          </a:p>
          <a:p>
            <a:pPr marL="0" indent="0">
              <a:buNone/>
            </a:pPr>
            <a:r>
              <a:rPr lang="tr-TR" b="1" dirty="0"/>
              <a:t>p</a:t>
            </a:r>
            <a:r>
              <a:rPr lang="tr-TR" b="1" dirty="0" smtClean="0"/>
              <a:t>rivate byte[] sarki;</a:t>
            </a:r>
            <a:endParaRPr lang="en-US" b="1" dirty="0"/>
          </a:p>
        </p:txBody>
      </p:sp>
    </p:spTree>
    <p:extLst>
      <p:ext uri="{BB962C8B-B14F-4D97-AF65-F5344CB8AC3E}">
        <p14:creationId xmlns:p14="http://schemas.microsoft.com/office/powerpoint/2010/main" val="3957569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9400" y="177800"/>
            <a:ext cx="11633200" cy="6553200"/>
          </a:xfrm>
        </p:spPr>
        <p:txBody>
          <a:bodyPr>
            <a:normAutofit fontScale="92500" lnSpcReduction="20000"/>
          </a:bodyPr>
          <a:lstStyle/>
          <a:p>
            <a:pPr marL="0" indent="0">
              <a:buNone/>
            </a:pPr>
            <a:r>
              <a:rPr lang="tr-TR" b="1" dirty="0" smtClean="0"/>
              <a:t>@Temporal Annotation :</a:t>
            </a:r>
            <a:r>
              <a:rPr lang="tr-TR" dirty="0" smtClean="0"/>
              <a:t/>
            </a:r>
            <a:br>
              <a:rPr lang="tr-TR" dirty="0" smtClean="0"/>
            </a:br>
            <a:r>
              <a:rPr lang="tr-TR" b="1" dirty="0" smtClean="0"/>
              <a:t>Tarih</a:t>
            </a:r>
            <a:r>
              <a:rPr lang="tr-TR" dirty="0" smtClean="0"/>
              <a:t> ve </a:t>
            </a:r>
            <a:r>
              <a:rPr lang="tr-TR" b="1" dirty="0" smtClean="0"/>
              <a:t>Zaman</a:t>
            </a:r>
            <a:r>
              <a:rPr lang="tr-TR" dirty="0" smtClean="0"/>
              <a:t> türünde verilerin haritalanmasında </a:t>
            </a:r>
            <a:r>
              <a:rPr lang="tr-TR" b="1" dirty="0" smtClean="0"/>
              <a:t>@javax.persistence.Temporal </a:t>
            </a:r>
            <a:r>
              <a:rPr lang="tr-TR" dirty="0" smtClean="0"/>
              <a:t>annotation ından faydalanılır. </a:t>
            </a:r>
            <a:r>
              <a:rPr lang="tr-TR" b="1" dirty="0" smtClean="0"/>
              <a:t>DATE(tarih</a:t>
            </a:r>
            <a:r>
              <a:rPr lang="tr-TR" dirty="0" smtClean="0"/>
              <a:t>), </a:t>
            </a:r>
            <a:r>
              <a:rPr lang="tr-TR" b="1" dirty="0" smtClean="0"/>
              <a:t>TIME(zaman</a:t>
            </a:r>
            <a:r>
              <a:rPr lang="tr-TR" dirty="0" smtClean="0"/>
              <a:t>) veya o anki zamanı temsil eden </a:t>
            </a:r>
            <a:r>
              <a:rPr lang="tr-TR" b="1" dirty="0" smtClean="0"/>
              <a:t>TIMESTAMP(zaman</a:t>
            </a:r>
            <a:r>
              <a:rPr lang="tr-TR" dirty="0" smtClean="0"/>
              <a:t> damgası) adında üç tip parametre kabul eder. </a:t>
            </a:r>
          </a:p>
          <a:p>
            <a:pPr marL="0" indent="0">
              <a:buNone/>
            </a:pPr>
            <a:r>
              <a:rPr lang="tr-TR" b="1" dirty="0" smtClean="0"/>
              <a:t>Örnek:</a:t>
            </a:r>
            <a:br>
              <a:rPr lang="tr-TR" b="1" dirty="0" smtClean="0"/>
            </a:br>
            <a:r>
              <a:rPr lang="tr-TR" b="1" dirty="0" smtClean="0"/>
              <a:t>@Temporal(TemporalType.DATE)</a:t>
            </a:r>
          </a:p>
          <a:p>
            <a:pPr marL="0" indent="0">
              <a:buNone/>
            </a:pPr>
            <a:r>
              <a:rPr lang="tr-TR" b="1" dirty="0" smtClean="0"/>
              <a:t>Private Date dogumTarihi;</a:t>
            </a:r>
          </a:p>
          <a:p>
            <a:pPr marL="0" indent="0">
              <a:buNone/>
            </a:pPr>
            <a:r>
              <a:rPr lang="tr-TR" b="1" dirty="0" smtClean="0"/>
              <a:t>@Transiet Annotation:</a:t>
            </a:r>
          </a:p>
          <a:p>
            <a:pPr marL="0" indent="0">
              <a:buNone/>
            </a:pPr>
            <a:r>
              <a:rPr lang="tr-TR" b="1" dirty="0" smtClean="0"/>
              <a:t>Entity </a:t>
            </a:r>
            <a:r>
              <a:rPr lang="tr-TR" dirty="0" smtClean="0"/>
              <a:t>sınıflarında bulunan veri alanlarından veritabanına haritalanmasına gerek olmayanlar bu annatotion kullanılır, ilgili property haritalanma işleminden çıkartılılır. </a:t>
            </a:r>
          </a:p>
          <a:p>
            <a:pPr marL="0" indent="0">
              <a:buNone/>
            </a:pPr>
            <a:r>
              <a:rPr lang="tr-TR" b="1" dirty="0" smtClean="0"/>
              <a:t>@ElementCollection Annotation:</a:t>
            </a:r>
          </a:p>
          <a:p>
            <a:pPr marL="0" indent="0">
              <a:buNone/>
            </a:pPr>
            <a:r>
              <a:rPr lang="tr-TR" dirty="0" smtClean="0"/>
              <a:t>Koleksiyon türündeki veri alanlarını haritalamak için @ElementCollection annotation ı kullanılır. </a:t>
            </a:r>
          </a:p>
          <a:p>
            <a:pPr marL="0" indent="0">
              <a:buNone/>
            </a:pPr>
            <a:r>
              <a:rPr lang="tr-TR" b="1" dirty="0" smtClean="0"/>
              <a:t>Örnek:</a:t>
            </a:r>
          </a:p>
          <a:p>
            <a:pPr marL="0" indent="0">
              <a:buNone/>
            </a:pPr>
            <a:r>
              <a:rPr lang="tr-TR" b="1" dirty="0" smtClean="0"/>
              <a:t>@ElementCollection(fetch = FetchType.LAZY)</a:t>
            </a:r>
          </a:p>
          <a:p>
            <a:pPr marL="0" indent="0">
              <a:buNone/>
            </a:pPr>
            <a:r>
              <a:rPr lang="tr-TR" b="1" dirty="0" smtClean="0"/>
              <a:t>@CollectionTable(name = </a:t>
            </a:r>
            <a:r>
              <a:rPr lang="tr-TR" b="1" dirty="0"/>
              <a:t>"</a:t>
            </a:r>
            <a:r>
              <a:rPr lang="tr-TR" b="1" dirty="0" smtClean="0"/>
              <a:t>etiketler")</a:t>
            </a:r>
          </a:p>
          <a:p>
            <a:pPr marL="0" indent="0">
              <a:buNone/>
            </a:pPr>
            <a:r>
              <a:rPr lang="tr-TR" b="1" dirty="0"/>
              <a:t>p</a:t>
            </a:r>
            <a:r>
              <a:rPr lang="tr-TR" b="1" dirty="0" smtClean="0"/>
              <a:t>rivate List&lt;String&gt; etiket = new ArrayList&lt;String&gt;();</a:t>
            </a:r>
            <a:endParaRPr lang="en-US" b="1" dirty="0"/>
          </a:p>
        </p:txBody>
      </p:sp>
    </p:spTree>
    <p:extLst>
      <p:ext uri="{BB962C8B-B14F-4D97-AF65-F5344CB8AC3E}">
        <p14:creationId xmlns:p14="http://schemas.microsoft.com/office/powerpoint/2010/main" val="4057794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8300" y="241300"/>
            <a:ext cx="11531600" cy="6223000"/>
          </a:xfrm>
        </p:spPr>
        <p:txBody>
          <a:bodyPr>
            <a:normAutofit fontScale="70000" lnSpcReduction="20000"/>
          </a:bodyPr>
          <a:lstStyle/>
          <a:p>
            <a:pPr marL="0" indent="0">
              <a:buNone/>
            </a:pPr>
            <a:r>
              <a:rPr lang="en-US" b="1" dirty="0" err="1" smtClean="0"/>
              <a:t>TableGenerator</a:t>
            </a:r>
            <a:endParaRPr lang="tr-TR" b="1" dirty="0" smtClean="0"/>
          </a:p>
          <a:p>
            <a:pPr marL="0" indent="0" fontAlgn="base">
              <a:buNone/>
            </a:pPr>
            <a:r>
              <a:rPr lang="en-US" dirty="0"/>
              <a:t>JPA </a:t>
            </a:r>
            <a:r>
              <a:rPr lang="en-US" dirty="0" err="1"/>
              <a:t>çatısını</a:t>
            </a:r>
            <a:r>
              <a:rPr lang="en-US" dirty="0"/>
              <a:t> </a:t>
            </a:r>
            <a:r>
              <a:rPr lang="en-US" dirty="0" err="1"/>
              <a:t>geliştirenler</a:t>
            </a:r>
            <a:r>
              <a:rPr lang="en-US" dirty="0"/>
              <a:t> id </a:t>
            </a:r>
            <a:r>
              <a:rPr lang="en-US" dirty="0" err="1"/>
              <a:t>üretmeyi</a:t>
            </a:r>
            <a:r>
              <a:rPr lang="en-US" dirty="0"/>
              <a:t> 3 </a:t>
            </a:r>
            <a:r>
              <a:rPr lang="en-US" dirty="0" err="1"/>
              <a:t>şekilde</a:t>
            </a:r>
            <a:r>
              <a:rPr lang="en-US" dirty="0"/>
              <a:t> </a:t>
            </a:r>
            <a:r>
              <a:rPr lang="en-US" dirty="0" err="1"/>
              <a:t>yapabilmeyi</a:t>
            </a:r>
            <a:r>
              <a:rPr lang="en-US" dirty="0"/>
              <a:t> </a:t>
            </a:r>
            <a:r>
              <a:rPr lang="en-US" dirty="0" err="1"/>
              <a:t>sağlamışlar</a:t>
            </a:r>
            <a:r>
              <a:rPr lang="en-US" dirty="0"/>
              <a:t>. </a:t>
            </a:r>
            <a:r>
              <a:rPr lang="en-US" dirty="0" err="1"/>
              <a:t>Bunlar</a:t>
            </a:r>
            <a:r>
              <a:rPr lang="en-US" dirty="0"/>
              <a:t>:</a:t>
            </a:r>
          </a:p>
          <a:p>
            <a:pPr fontAlgn="base"/>
            <a:r>
              <a:rPr lang="en-US" b="1" dirty="0"/>
              <a:t>Identity</a:t>
            </a:r>
            <a:endParaRPr lang="en-US" dirty="0"/>
          </a:p>
          <a:p>
            <a:pPr fontAlgn="base"/>
            <a:r>
              <a:rPr lang="en-US" b="1" dirty="0"/>
              <a:t>Sequence</a:t>
            </a:r>
            <a:endParaRPr lang="en-US" dirty="0"/>
          </a:p>
          <a:p>
            <a:pPr fontAlgn="base"/>
            <a:r>
              <a:rPr lang="en-US" b="1" dirty="0" err="1"/>
              <a:t>TableGenerator</a:t>
            </a:r>
            <a:r>
              <a:rPr lang="en-US" dirty="0"/>
              <a:t>.</a:t>
            </a:r>
          </a:p>
          <a:p>
            <a:pPr marL="0" indent="0" fontAlgn="base">
              <a:buNone/>
            </a:pPr>
            <a:r>
              <a:rPr lang="en-US" dirty="0"/>
              <a:t>Bu </a:t>
            </a:r>
            <a:r>
              <a:rPr lang="en-US" dirty="0" err="1"/>
              <a:t>çeşitliliğin</a:t>
            </a:r>
            <a:r>
              <a:rPr lang="en-US" dirty="0"/>
              <a:t> </a:t>
            </a:r>
            <a:r>
              <a:rPr lang="en-US" dirty="0" err="1"/>
              <a:t>sebebi</a:t>
            </a:r>
            <a:r>
              <a:rPr lang="en-US" dirty="0"/>
              <a:t> de </a:t>
            </a:r>
            <a:r>
              <a:rPr lang="en-US" dirty="0" err="1"/>
              <a:t>aslında</a:t>
            </a:r>
            <a:r>
              <a:rPr lang="en-US" dirty="0"/>
              <a:t> </a:t>
            </a:r>
            <a:r>
              <a:rPr lang="en-US" dirty="0" err="1"/>
              <a:t>veri</a:t>
            </a:r>
            <a:r>
              <a:rPr lang="en-US" dirty="0"/>
              <a:t> </a:t>
            </a:r>
            <a:r>
              <a:rPr lang="en-US" dirty="0" err="1"/>
              <a:t>tabanı</a:t>
            </a:r>
            <a:r>
              <a:rPr lang="en-US" dirty="0"/>
              <a:t> </a:t>
            </a:r>
            <a:r>
              <a:rPr lang="en-US" dirty="0" err="1"/>
              <a:t>geliştiren</a:t>
            </a:r>
            <a:r>
              <a:rPr lang="en-US" dirty="0"/>
              <a:t> </a:t>
            </a:r>
            <a:r>
              <a:rPr lang="en-US" dirty="0" err="1"/>
              <a:t>şirketlerin</a:t>
            </a:r>
            <a:r>
              <a:rPr lang="en-US" dirty="0"/>
              <a:t> id </a:t>
            </a:r>
            <a:r>
              <a:rPr lang="en-US" dirty="0" err="1"/>
              <a:t>otomatize</a:t>
            </a:r>
            <a:r>
              <a:rPr lang="en-US" dirty="0"/>
              <a:t> </a:t>
            </a:r>
            <a:r>
              <a:rPr lang="en-US" dirty="0" err="1"/>
              <a:t>mekanizmasında</a:t>
            </a:r>
            <a:r>
              <a:rPr lang="en-US" dirty="0"/>
              <a:t> </a:t>
            </a:r>
            <a:r>
              <a:rPr lang="en-US" dirty="0" err="1"/>
              <a:t>yaşanan</a:t>
            </a:r>
            <a:r>
              <a:rPr lang="en-US" dirty="0"/>
              <a:t> </a:t>
            </a:r>
            <a:r>
              <a:rPr lang="en-US" dirty="0" err="1" smtClean="0"/>
              <a:t>farklılıklardır</a:t>
            </a:r>
            <a:r>
              <a:rPr lang="tr-TR" dirty="0" smtClean="0"/>
              <a:t>.</a:t>
            </a:r>
          </a:p>
          <a:p>
            <a:pPr marL="0" indent="0" fontAlgn="base">
              <a:buNone/>
            </a:pPr>
            <a:r>
              <a:rPr lang="en-US" b="1" dirty="0" err="1" smtClean="0"/>
              <a:t>Örne</a:t>
            </a:r>
            <a:r>
              <a:rPr lang="tr-TR" b="1" dirty="0" smtClean="0"/>
              <a:t>ğin</a:t>
            </a:r>
            <a:r>
              <a:rPr lang="en-US" b="1" dirty="0" smtClean="0"/>
              <a:t> Oracle </a:t>
            </a:r>
            <a:r>
              <a:rPr lang="en-US" dirty="0" err="1"/>
              <a:t>ve</a:t>
            </a:r>
            <a:r>
              <a:rPr lang="en-US" dirty="0"/>
              <a:t> </a:t>
            </a:r>
            <a:r>
              <a:rPr lang="en-US" dirty="0" err="1"/>
              <a:t>ona</a:t>
            </a:r>
            <a:r>
              <a:rPr lang="en-US" dirty="0"/>
              <a:t> </a:t>
            </a:r>
            <a:r>
              <a:rPr lang="en-US" dirty="0" err="1"/>
              <a:t>rakip</a:t>
            </a:r>
            <a:r>
              <a:rPr lang="en-US" dirty="0"/>
              <a:t> </a:t>
            </a:r>
            <a:r>
              <a:rPr lang="en-US" dirty="0" err="1"/>
              <a:t>olabilecek</a:t>
            </a:r>
            <a:r>
              <a:rPr lang="en-US" dirty="0"/>
              <a:t> </a:t>
            </a:r>
            <a:r>
              <a:rPr lang="en-US" dirty="0" err="1"/>
              <a:t>belki</a:t>
            </a:r>
            <a:r>
              <a:rPr lang="en-US" dirty="0"/>
              <a:t> de </a:t>
            </a:r>
            <a:r>
              <a:rPr lang="en-US" dirty="0" err="1"/>
              <a:t>tek</a:t>
            </a:r>
            <a:r>
              <a:rPr lang="en-US" dirty="0"/>
              <a:t> </a:t>
            </a:r>
            <a:r>
              <a:rPr lang="en-US" dirty="0" err="1"/>
              <a:t>veri</a:t>
            </a:r>
            <a:r>
              <a:rPr lang="en-US" dirty="0"/>
              <a:t> </a:t>
            </a:r>
            <a:r>
              <a:rPr lang="en-US" dirty="0" err="1"/>
              <a:t>tabanı</a:t>
            </a:r>
            <a:r>
              <a:rPr lang="en-US" dirty="0"/>
              <a:t> </a:t>
            </a:r>
            <a:r>
              <a:rPr lang="en-US" dirty="0" err="1"/>
              <a:t>olan</a:t>
            </a:r>
            <a:r>
              <a:rPr lang="en-US" dirty="0"/>
              <a:t> </a:t>
            </a:r>
            <a:r>
              <a:rPr lang="en-US" dirty="0" err="1"/>
              <a:t>açık</a:t>
            </a:r>
            <a:r>
              <a:rPr lang="en-US" dirty="0"/>
              <a:t> </a:t>
            </a:r>
            <a:r>
              <a:rPr lang="en-US" dirty="0" err="1"/>
              <a:t>kaynak</a:t>
            </a:r>
            <a:r>
              <a:rPr lang="en-US" dirty="0"/>
              <a:t> </a:t>
            </a:r>
            <a:r>
              <a:rPr lang="en-US" dirty="0" err="1"/>
              <a:t>kodlu</a:t>
            </a:r>
            <a:r>
              <a:rPr lang="en-US" dirty="0"/>
              <a:t> </a:t>
            </a:r>
            <a:r>
              <a:rPr lang="en-US" b="1" dirty="0" err="1"/>
              <a:t>Postgre</a:t>
            </a:r>
            <a:r>
              <a:rPr lang="en-US" b="1" dirty="0"/>
              <a:t> SQL </a:t>
            </a:r>
            <a:r>
              <a:rPr lang="en-US" dirty="0" err="1"/>
              <a:t>veri</a:t>
            </a:r>
            <a:r>
              <a:rPr lang="en-US" dirty="0"/>
              <a:t> </a:t>
            </a:r>
            <a:r>
              <a:rPr lang="en-US" dirty="0" err="1"/>
              <a:t>tabanı</a:t>
            </a:r>
            <a:r>
              <a:rPr lang="en-US" dirty="0"/>
              <a:t> id </a:t>
            </a:r>
            <a:r>
              <a:rPr lang="en-US" dirty="0" err="1"/>
              <a:t>otomatizesini</a:t>
            </a:r>
            <a:r>
              <a:rPr lang="en-US" dirty="0"/>
              <a:t> </a:t>
            </a:r>
            <a:r>
              <a:rPr lang="en-US" b="1" dirty="0"/>
              <a:t>Sequence</a:t>
            </a:r>
            <a:r>
              <a:rPr lang="en-US" dirty="0"/>
              <a:t> </a:t>
            </a:r>
            <a:r>
              <a:rPr lang="en-US" dirty="0" err="1"/>
              <a:t>ile</a:t>
            </a:r>
            <a:r>
              <a:rPr lang="en-US" dirty="0"/>
              <a:t> </a:t>
            </a:r>
            <a:r>
              <a:rPr lang="en-US" dirty="0" err="1"/>
              <a:t>yapıyorlar</a:t>
            </a:r>
            <a:r>
              <a:rPr lang="en-US" dirty="0"/>
              <a:t>.  </a:t>
            </a:r>
            <a:r>
              <a:rPr lang="en-US" b="1" dirty="0" err="1"/>
              <a:t>Microsoft’un</a:t>
            </a:r>
            <a:r>
              <a:rPr lang="en-US" b="1" dirty="0"/>
              <a:t> SQL </a:t>
            </a:r>
            <a:r>
              <a:rPr lang="en-US" b="1" dirty="0" err="1"/>
              <a:t>Server’ı</a:t>
            </a:r>
            <a:r>
              <a:rPr lang="en-US" b="1" dirty="0"/>
              <a:t> </a:t>
            </a:r>
            <a:r>
              <a:rPr lang="en-US" b="1" dirty="0" err="1"/>
              <a:t>ile</a:t>
            </a:r>
            <a:r>
              <a:rPr lang="en-US" b="1" dirty="0"/>
              <a:t> </a:t>
            </a:r>
            <a:r>
              <a:rPr lang="en-US" b="1" dirty="0" err="1"/>
              <a:t>MySql</a:t>
            </a:r>
            <a:r>
              <a:rPr lang="en-US" b="1" dirty="0"/>
              <a:t> </a:t>
            </a:r>
            <a:r>
              <a:rPr lang="en-US" dirty="0" err="1"/>
              <a:t>ise</a:t>
            </a:r>
            <a:r>
              <a:rPr lang="en-US" dirty="0"/>
              <a:t> Identity </a:t>
            </a:r>
            <a:r>
              <a:rPr lang="en-US" dirty="0" err="1"/>
              <a:t>ile</a:t>
            </a:r>
            <a:r>
              <a:rPr lang="en-US" dirty="0"/>
              <a:t> </a:t>
            </a:r>
            <a:r>
              <a:rPr lang="en-US" dirty="0" err="1"/>
              <a:t>işlemi</a:t>
            </a:r>
            <a:r>
              <a:rPr lang="en-US" dirty="0"/>
              <a:t> </a:t>
            </a:r>
            <a:r>
              <a:rPr lang="en-US" dirty="0" err="1"/>
              <a:t>yapıyor</a:t>
            </a:r>
            <a:r>
              <a:rPr lang="en-US" dirty="0" smtClean="0"/>
              <a:t>.</a:t>
            </a:r>
            <a:endParaRPr lang="tr-TR" dirty="0" smtClean="0"/>
          </a:p>
          <a:p>
            <a:pPr marL="0" indent="0" fontAlgn="base">
              <a:buNone/>
            </a:pPr>
            <a:r>
              <a:rPr lang="en-US" b="1" dirty="0" smtClean="0"/>
              <a:t>Identity</a:t>
            </a:r>
            <a:r>
              <a:rPr lang="en-US" dirty="0" smtClean="0"/>
              <a:t> </a:t>
            </a:r>
            <a:r>
              <a:rPr lang="en-US" dirty="0" err="1"/>
              <a:t>ile</a:t>
            </a:r>
            <a:r>
              <a:rPr lang="en-US" dirty="0"/>
              <a:t> </a:t>
            </a:r>
            <a:r>
              <a:rPr lang="en-US" dirty="0" err="1"/>
              <a:t>otomatize</a:t>
            </a:r>
            <a:r>
              <a:rPr lang="en-US" dirty="0"/>
              <a:t> </a:t>
            </a:r>
            <a:r>
              <a:rPr lang="en-US" dirty="0" err="1"/>
              <a:t>işleminde</a:t>
            </a:r>
            <a:r>
              <a:rPr lang="en-US" dirty="0"/>
              <a:t> </a:t>
            </a:r>
            <a:r>
              <a:rPr lang="en-US" dirty="0" err="1"/>
              <a:t>işlem</a:t>
            </a:r>
            <a:r>
              <a:rPr lang="en-US" dirty="0"/>
              <a:t> </a:t>
            </a:r>
            <a:r>
              <a:rPr lang="en-US" dirty="0" err="1"/>
              <a:t>veri</a:t>
            </a:r>
            <a:r>
              <a:rPr lang="en-US" dirty="0"/>
              <a:t> </a:t>
            </a:r>
            <a:r>
              <a:rPr lang="en-US" dirty="0" err="1"/>
              <a:t>tabanı</a:t>
            </a:r>
            <a:r>
              <a:rPr lang="en-US" dirty="0"/>
              <a:t> </a:t>
            </a:r>
            <a:r>
              <a:rPr lang="en-US" dirty="0" err="1"/>
              <a:t>tarafından</a:t>
            </a:r>
            <a:r>
              <a:rPr lang="en-US" dirty="0"/>
              <a:t> </a:t>
            </a:r>
            <a:r>
              <a:rPr lang="en-US" dirty="0" err="1"/>
              <a:t>yapılıyor</a:t>
            </a:r>
            <a:r>
              <a:rPr lang="en-US" dirty="0"/>
              <a:t>. </a:t>
            </a:r>
            <a:r>
              <a:rPr lang="en-US" dirty="0" err="1"/>
              <a:t>Örneğin</a:t>
            </a:r>
            <a:r>
              <a:rPr lang="en-US" dirty="0"/>
              <a:t> </a:t>
            </a:r>
            <a:r>
              <a:rPr lang="en-US" b="1" dirty="0" err="1"/>
              <a:t>MySql</a:t>
            </a:r>
            <a:r>
              <a:rPr lang="en-US" dirty="0"/>
              <a:t> </a:t>
            </a:r>
            <a:r>
              <a:rPr lang="en-US" dirty="0" err="1"/>
              <a:t>kullanırken</a:t>
            </a:r>
            <a:r>
              <a:rPr lang="en-US" dirty="0"/>
              <a:t> </a:t>
            </a:r>
            <a:r>
              <a:rPr lang="en-US" dirty="0" err="1"/>
              <a:t>bir</a:t>
            </a:r>
            <a:r>
              <a:rPr lang="en-US" dirty="0"/>
              <a:t> </a:t>
            </a:r>
            <a:r>
              <a:rPr lang="en-US" dirty="0" err="1"/>
              <a:t>sütuna</a:t>
            </a:r>
            <a:r>
              <a:rPr lang="en-US" dirty="0"/>
              <a:t> </a:t>
            </a:r>
            <a:r>
              <a:rPr lang="en-US" b="1" i="1" dirty="0"/>
              <a:t>Auto Increment</a:t>
            </a:r>
            <a:r>
              <a:rPr lang="en-US" dirty="0"/>
              <a:t> </a:t>
            </a:r>
            <a:r>
              <a:rPr lang="en-US" dirty="0" err="1"/>
              <a:t>özelliği</a:t>
            </a:r>
            <a:r>
              <a:rPr lang="en-US" dirty="0"/>
              <a:t> </a:t>
            </a:r>
            <a:r>
              <a:rPr lang="en-US" dirty="0" err="1"/>
              <a:t>veririz</a:t>
            </a:r>
            <a:r>
              <a:rPr lang="en-US" dirty="0"/>
              <a:t> </a:t>
            </a:r>
            <a:r>
              <a:rPr lang="en-US" dirty="0" err="1"/>
              <a:t>ve</a:t>
            </a:r>
            <a:r>
              <a:rPr lang="en-US" dirty="0"/>
              <a:t> </a:t>
            </a:r>
            <a:r>
              <a:rPr lang="en-US" dirty="0" err="1"/>
              <a:t>bu</a:t>
            </a:r>
            <a:r>
              <a:rPr lang="en-US" dirty="0"/>
              <a:t> </a:t>
            </a:r>
            <a:r>
              <a:rPr lang="en-US" dirty="0" err="1"/>
              <a:t>genelde</a:t>
            </a:r>
            <a:r>
              <a:rPr lang="en-US" dirty="0"/>
              <a:t> </a:t>
            </a:r>
            <a:r>
              <a:rPr lang="en-US" b="1" dirty="0"/>
              <a:t>Primary Key </a:t>
            </a:r>
            <a:r>
              <a:rPr lang="en-US" dirty="0" err="1"/>
              <a:t>için</a:t>
            </a:r>
            <a:r>
              <a:rPr lang="en-US" dirty="0"/>
              <a:t> </a:t>
            </a:r>
            <a:r>
              <a:rPr lang="en-US" dirty="0" err="1"/>
              <a:t>olur</a:t>
            </a:r>
            <a:r>
              <a:rPr lang="en-US" dirty="0"/>
              <a:t>. Her </a:t>
            </a:r>
            <a:r>
              <a:rPr lang="en-US" dirty="0" err="1"/>
              <a:t>kayıt</a:t>
            </a:r>
            <a:r>
              <a:rPr lang="en-US" dirty="0"/>
              <a:t> </a:t>
            </a:r>
            <a:r>
              <a:rPr lang="en-US" dirty="0" err="1"/>
              <a:t>attığımızda</a:t>
            </a:r>
            <a:r>
              <a:rPr lang="en-US" dirty="0"/>
              <a:t> </a:t>
            </a:r>
            <a:r>
              <a:rPr lang="en-US" dirty="0" err="1"/>
              <a:t>bu</a:t>
            </a:r>
            <a:r>
              <a:rPr lang="en-US" dirty="0"/>
              <a:t> </a:t>
            </a:r>
            <a:r>
              <a:rPr lang="en-US" dirty="0" err="1"/>
              <a:t>sütun</a:t>
            </a:r>
            <a:r>
              <a:rPr lang="en-US" dirty="0"/>
              <a:t> </a:t>
            </a:r>
            <a:r>
              <a:rPr lang="en-US" dirty="0" err="1"/>
              <a:t>kendi</a:t>
            </a:r>
            <a:r>
              <a:rPr lang="en-US" dirty="0"/>
              <a:t> </a:t>
            </a:r>
            <a:r>
              <a:rPr lang="en-US" dirty="0" err="1"/>
              <a:t>değerini</a:t>
            </a:r>
            <a:r>
              <a:rPr lang="en-US" dirty="0"/>
              <a:t> </a:t>
            </a:r>
            <a:r>
              <a:rPr lang="en-US" dirty="0" err="1"/>
              <a:t>otomatik</a:t>
            </a:r>
            <a:r>
              <a:rPr lang="en-US" dirty="0"/>
              <a:t> </a:t>
            </a:r>
            <a:r>
              <a:rPr lang="en-US" dirty="0" err="1"/>
              <a:t>arttırır</a:t>
            </a:r>
            <a:r>
              <a:rPr lang="en-US" dirty="0"/>
              <a:t>. </a:t>
            </a:r>
            <a:r>
              <a:rPr lang="en-US" b="1" dirty="0" err="1"/>
              <a:t>JPA’ya</a:t>
            </a:r>
            <a:r>
              <a:rPr lang="en-US" dirty="0"/>
              <a:t> da </a:t>
            </a:r>
            <a:r>
              <a:rPr lang="en-US" dirty="0" err="1"/>
              <a:t>bunu</a:t>
            </a:r>
            <a:r>
              <a:rPr lang="en-US" dirty="0"/>
              <a:t> </a:t>
            </a:r>
            <a:r>
              <a:rPr lang="en-US" dirty="0" err="1"/>
              <a:t>Idendity</a:t>
            </a:r>
            <a:r>
              <a:rPr lang="en-US" dirty="0"/>
              <a:t> </a:t>
            </a:r>
            <a:r>
              <a:rPr lang="en-US" dirty="0" err="1"/>
              <a:t>olarak</a:t>
            </a:r>
            <a:r>
              <a:rPr lang="en-US" dirty="0"/>
              <a:t> </a:t>
            </a:r>
            <a:r>
              <a:rPr lang="en-US" dirty="0" err="1"/>
              <a:t>tanıttığımızda</a:t>
            </a:r>
            <a:r>
              <a:rPr lang="en-US" dirty="0"/>
              <a:t> </a:t>
            </a:r>
            <a:r>
              <a:rPr lang="en-US" dirty="0" err="1"/>
              <a:t>işlem</a:t>
            </a:r>
            <a:r>
              <a:rPr lang="en-US" dirty="0"/>
              <a:t> </a:t>
            </a:r>
            <a:r>
              <a:rPr lang="en-US" dirty="0" err="1"/>
              <a:t>tamamen</a:t>
            </a:r>
            <a:r>
              <a:rPr lang="en-US" dirty="0"/>
              <a:t> </a:t>
            </a:r>
            <a:r>
              <a:rPr lang="en-US" dirty="0" err="1"/>
              <a:t>veri</a:t>
            </a:r>
            <a:r>
              <a:rPr lang="en-US" dirty="0"/>
              <a:t> </a:t>
            </a:r>
            <a:r>
              <a:rPr lang="en-US" dirty="0" err="1"/>
              <a:t>tabanına</a:t>
            </a:r>
            <a:r>
              <a:rPr lang="en-US" dirty="0"/>
              <a:t> </a:t>
            </a:r>
            <a:r>
              <a:rPr lang="en-US" dirty="0" err="1"/>
              <a:t>bırakılmış</a:t>
            </a:r>
            <a:r>
              <a:rPr lang="en-US" dirty="0"/>
              <a:t> </a:t>
            </a:r>
            <a:r>
              <a:rPr lang="en-US" dirty="0" err="1"/>
              <a:t>olur</a:t>
            </a:r>
            <a:r>
              <a:rPr lang="en-US" dirty="0" smtClean="0"/>
              <a:t>.</a:t>
            </a:r>
            <a:endParaRPr lang="tr-TR" dirty="0" smtClean="0"/>
          </a:p>
          <a:p>
            <a:pPr marL="0" indent="0" fontAlgn="base">
              <a:buNone/>
            </a:pPr>
            <a:r>
              <a:rPr lang="en-US" b="1" dirty="0"/>
              <a:t>@Id</a:t>
            </a:r>
          </a:p>
          <a:p>
            <a:pPr marL="0" indent="0" fontAlgn="base">
              <a:buNone/>
            </a:pPr>
            <a:r>
              <a:rPr lang="en-US" b="1" dirty="0" smtClean="0"/>
              <a:t>@</a:t>
            </a:r>
            <a:r>
              <a:rPr lang="en-US" b="1" dirty="0" err="1"/>
              <a:t>GeneratedValue</a:t>
            </a:r>
            <a:r>
              <a:rPr lang="en-US" b="1" dirty="0"/>
              <a:t>(strategy = </a:t>
            </a:r>
            <a:r>
              <a:rPr lang="en-US" b="1" dirty="0" err="1"/>
              <a:t>GenerationType.IDENTITY</a:t>
            </a:r>
            <a:r>
              <a:rPr lang="en-US" b="1" dirty="0"/>
              <a:t>)</a:t>
            </a:r>
          </a:p>
          <a:p>
            <a:pPr marL="0" indent="0" fontAlgn="base">
              <a:buNone/>
            </a:pPr>
            <a:r>
              <a:rPr lang="en-US" dirty="0" smtClean="0"/>
              <a:t>private </a:t>
            </a:r>
            <a:r>
              <a:rPr lang="en-US" dirty="0" err="1"/>
              <a:t>int</a:t>
            </a:r>
            <a:r>
              <a:rPr lang="en-US" dirty="0"/>
              <a:t> id</a:t>
            </a:r>
            <a:r>
              <a:rPr lang="en-US" dirty="0" smtClean="0"/>
              <a:t>;</a:t>
            </a:r>
            <a:endParaRPr lang="tr-TR" dirty="0" smtClean="0"/>
          </a:p>
          <a:p>
            <a:pPr marL="0" indent="0" fontAlgn="base">
              <a:buNone/>
            </a:pPr>
            <a:r>
              <a:rPr lang="en-US" dirty="0" smtClean="0"/>
              <a:t>Id’</a:t>
            </a:r>
            <a:r>
              <a:rPr lang="tr-TR" dirty="0" smtClean="0"/>
              <a:t>nin</a:t>
            </a:r>
            <a:r>
              <a:rPr lang="en-US" dirty="0" smtClean="0"/>
              <a:t> </a:t>
            </a:r>
            <a:r>
              <a:rPr lang="en-US" dirty="0" err="1" smtClean="0"/>
              <a:t>üret</a:t>
            </a:r>
            <a:r>
              <a:rPr lang="tr-TR" dirty="0" smtClean="0"/>
              <a:t>ilmesinin</a:t>
            </a:r>
            <a:r>
              <a:rPr lang="en-US" dirty="0" smtClean="0"/>
              <a:t> </a:t>
            </a:r>
            <a:r>
              <a:rPr lang="en-US" dirty="0" err="1"/>
              <a:t>nasıl</a:t>
            </a:r>
            <a:r>
              <a:rPr lang="en-US" dirty="0"/>
              <a:t> </a:t>
            </a:r>
            <a:r>
              <a:rPr lang="en-US" dirty="0" err="1"/>
              <a:t>olacağına</a:t>
            </a:r>
            <a:r>
              <a:rPr lang="en-US" dirty="0"/>
              <a:t> </a:t>
            </a:r>
            <a:r>
              <a:rPr lang="en-US" dirty="0" err="1"/>
              <a:t>karar</a:t>
            </a:r>
            <a:r>
              <a:rPr lang="en-US" dirty="0"/>
              <a:t> </a:t>
            </a:r>
            <a:r>
              <a:rPr lang="en-US" dirty="0" err="1"/>
              <a:t>verirken</a:t>
            </a:r>
            <a:r>
              <a:rPr lang="en-US" dirty="0"/>
              <a:t> </a:t>
            </a:r>
            <a:r>
              <a:rPr lang="en-US" b="1" i="1" dirty="0"/>
              <a:t>@</a:t>
            </a:r>
            <a:r>
              <a:rPr lang="en-US" b="1" i="1" dirty="0" err="1"/>
              <a:t>GeneratedValue</a:t>
            </a:r>
            <a:r>
              <a:rPr lang="en-US" dirty="0"/>
              <a:t> </a:t>
            </a:r>
            <a:r>
              <a:rPr lang="en-US" dirty="0" err="1"/>
              <a:t>notasyonunu</a:t>
            </a:r>
            <a:r>
              <a:rPr lang="en-US" dirty="0"/>
              <a:t> </a:t>
            </a:r>
            <a:r>
              <a:rPr lang="en-US" dirty="0" err="1"/>
              <a:t>kullanıyoruz</a:t>
            </a:r>
            <a:r>
              <a:rPr lang="en-US" dirty="0"/>
              <a:t>.  Bu </a:t>
            </a:r>
            <a:r>
              <a:rPr lang="en-US" dirty="0" err="1"/>
              <a:t>notasyonun</a:t>
            </a:r>
            <a:r>
              <a:rPr lang="en-US" dirty="0"/>
              <a:t> </a:t>
            </a:r>
            <a:r>
              <a:rPr lang="en-US" dirty="0" err="1"/>
              <a:t>bir</a:t>
            </a:r>
            <a:r>
              <a:rPr lang="en-US" dirty="0"/>
              <a:t> </a:t>
            </a:r>
            <a:r>
              <a:rPr lang="en-US" dirty="0" err="1"/>
              <a:t>özelliği</a:t>
            </a:r>
            <a:r>
              <a:rPr lang="en-US" dirty="0"/>
              <a:t> </a:t>
            </a:r>
            <a:r>
              <a:rPr lang="en-US" dirty="0" err="1"/>
              <a:t>olan</a:t>
            </a:r>
            <a:r>
              <a:rPr lang="en-US" dirty="0"/>
              <a:t> </a:t>
            </a:r>
            <a:r>
              <a:rPr lang="en-US" b="1" i="1" dirty="0"/>
              <a:t>strategy</a:t>
            </a:r>
            <a:r>
              <a:rPr lang="en-US" dirty="0"/>
              <a:t> </a:t>
            </a:r>
            <a:r>
              <a:rPr lang="en-US" dirty="0" err="1"/>
              <a:t>ile</a:t>
            </a:r>
            <a:r>
              <a:rPr lang="en-US" dirty="0"/>
              <a:t> de </a:t>
            </a:r>
            <a:r>
              <a:rPr lang="en-US" dirty="0" err="1"/>
              <a:t>üretmenin</a:t>
            </a:r>
            <a:r>
              <a:rPr lang="en-US" dirty="0"/>
              <a:t> </a:t>
            </a:r>
            <a:r>
              <a:rPr lang="en-US" dirty="0" err="1"/>
              <a:t>türünü</a:t>
            </a:r>
            <a:r>
              <a:rPr lang="en-US" dirty="0"/>
              <a:t> </a:t>
            </a:r>
            <a:r>
              <a:rPr lang="en-US" dirty="0" err="1"/>
              <a:t>atıyoruz</a:t>
            </a:r>
            <a:r>
              <a:rPr lang="en-US" dirty="0" smtClean="0"/>
              <a:t>.</a:t>
            </a:r>
            <a:r>
              <a:rPr lang="tr-TR" dirty="0" smtClean="0"/>
              <a:t> </a:t>
            </a:r>
            <a:r>
              <a:rPr lang="en-US" dirty="0" err="1" smtClean="0"/>
              <a:t>Üretme</a:t>
            </a:r>
            <a:r>
              <a:rPr lang="en-US" dirty="0" smtClean="0"/>
              <a:t> </a:t>
            </a:r>
            <a:r>
              <a:rPr lang="en-US" dirty="0" err="1"/>
              <a:t>türleri</a:t>
            </a:r>
            <a:r>
              <a:rPr lang="en-US" dirty="0"/>
              <a:t> </a:t>
            </a:r>
            <a:r>
              <a:rPr lang="en-US" dirty="0" err="1"/>
              <a:t>GenerationType</a:t>
            </a:r>
            <a:r>
              <a:rPr lang="en-US" dirty="0"/>
              <a:t> </a:t>
            </a:r>
            <a:r>
              <a:rPr lang="en-US" dirty="0" err="1"/>
              <a:t>sınıfının</a:t>
            </a:r>
            <a:r>
              <a:rPr lang="en-US" dirty="0"/>
              <a:t> </a:t>
            </a:r>
            <a:r>
              <a:rPr lang="en-US" dirty="0" err="1"/>
              <a:t>içinde</a:t>
            </a:r>
            <a:r>
              <a:rPr lang="en-US" dirty="0"/>
              <a:t> </a:t>
            </a:r>
            <a:r>
              <a:rPr lang="en-US" dirty="0" err="1"/>
              <a:t>yer</a:t>
            </a:r>
            <a:r>
              <a:rPr lang="en-US" dirty="0"/>
              <a:t> </a:t>
            </a:r>
            <a:r>
              <a:rPr lang="en-US" dirty="0" err="1"/>
              <a:t>alıyor</a:t>
            </a:r>
            <a:r>
              <a:rPr lang="en-US" dirty="0"/>
              <a:t> </a:t>
            </a:r>
            <a:r>
              <a:rPr lang="en-US" dirty="0" err="1"/>
              <a:t>ve</a:t>
            </a:r>
            <a:r>
              <a:rPr lang="en-US" dirty="0"/>
              <a:t> biz de </a:t>
            </a:r>
            <a:r>
              <a:rPr lang="en-US" dirty="0" err="1"/>
              <a:t>seçimimizi</a:t>
            </a:r>
            <a:r>
              <a:rPr lang="en-US" dirty="0"/>
              <a:t> </a:t>
            </a:r>
            <a:r>
              <a:rPr lang="en-US" dirty="0" err="1"/>
              <a:t>bu</a:t>
            </a:r>
            <a:r>
              <a:rPr lang="en-US" dirty="0"/>
              <a:t> </a:t>
            </a:r>
            <a:r>
              <a:rPr lang="en-US" dirty="0" err="1"/>
              <a:t>sınıftan</a:t>
            </a:r>
            <a:r>
              <a:rPr lang="en-US" dirty="0"/>
              <a:t> </a:t>
            </a:r>
            <a:r>
              <a:rPr lang="en-US" dirty="0" err="1"/>
              <a:t>yapıyoruz</a:t>
            </a:r>
            <a:r>
              <a:rPr lang="en-US" dirty="0"/>
              <a:t>. Bu </a:t>
            </a:r>
            <a:r>
              <a:rPr lang="en-US" dirty="0" err="1"/>
              <a:t>nedenle</a:t>
            </a:r>
            <a:r>
              <a:rPr lang="en-US" dirty="0"/>
              <a:t> </a:t>
            </a:r>
            <a:r>
              <a:rPr lang="en-US" b="1" i="1" dirty="0"/>
              <a:t>strategy=</a:t>
            </a:r>
            <a:r>
              <a:rPr lang="en-US" b="1" i="1" dirty="0" err="1"/>
              <a:t>GenerationType.IDENTITY</a:t>
            </a:r>
            <a:r>
              <a:rPr lang="en-US" dirty="0"/>
              <a:t> </a:t>
            </a:r>
            <a:r>
              <a:rPr lang="en-US" dirty="0" err="1"/>
              <a:t>ifadesini</a:t>
            </a:r>
            <a:r>
              <a:rPr lang="en-US" dirty="0"/>
              <a:t> </a:t>
            </a:r>
            <a:r>
              <a:rPr lang="en-US" dirty="0" err="1" smtClean="0"/>
              <a:t>kullanıyoru</a:t>
            </a:r>
            <a:r>
              <a:rPr lang="tr-TR" dirty="0" smtClean="0"/>
              <a:t>z</a:t>
            </a:r>
            <a:endParaRPr lang="en-US" dirty="0"/>
          </a:p>
          <a:p>
            <a:pPr marL="0" indent="0" fontAlgn="base">
              <a:buNone/>
            </a:pPr>
            <a:endParaRPr lang="tr-TR" dirty="0" smtClean="0"/>
          </a:p>
          <a:p>
            <a:pPr marL="0" indent="0" fontAlgn="base">
              <a:buNone/>
            </a:pPr>
            <a:endParaRPr lang="en-US" dirty="0"/>
          </a:p>
          <a:p>
            <a:pPr marL="0" indent="0">
              <a:buNone/>
            </a:pPr>
            <a:endParaRPr lang="en-US" dirty="0"/>
          </a:p>
        </p:txBody>
      </p:sp>
    </p:spTree>
    <p:extLst>
      <p:ext uri="{BB962C8B-B14F-4D97-AF65-F5344CB8AC3E}">
        <p14:creationId xmlns:p14="http://schemas.microsoft.com/office/powerpoint/2010/main" val="3527783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100" y="368300"/>
            <a:ext cx="11264900" cy="6146800"/>
          </a:xfrm>
        </p:spPr>
        <p:txBody>
          <a:bodyPr>
            <a:normAutofit fontScale="85000" lnSpcReduction="20000"/>
          </a:bodyPr>
          <a:lstStyle/>
          <a:p>
            <a:pPr marL="0" indent="0">
              <a:buNone/>
            </a:pPr>
            <a:r>
              <a:rPr lang="en-US" b="1" dirty="0"/>
              <a:t>Sequence İle </a:t>
            </a:r>
            <a:r>
              <a:rPr lang="en-US" b="1" dirty="0" err="1"/>
              <a:t>Otomatize</a:t>
            </a:r>
            <a:r>
              <a:rPr lang="en-US" b="1" dirty="0"/>
              <a:t> </a:t>
            </a:r>
            <a:r>
              <a:rPr lang="en-US" b="1" dirty="0" err="1" smtClean="0"/>
              <a:t>Etme</a:t>
            </a:r>
            <a:r>
              <a:rPr lang="tr-TR" b="1" dirty="0" smtClean="0"/>
              <a:t>:</a:t>
            </a:r>
          </a:p>
          <a:p>
            <a:pPr marL="0" indent="0" fontAlgn="base">
              <a:buNone/>
            </a:pPr>
            <a:r>
              <a:rPr lang="en-US" dirty="0"/>
              <a:t>Id </a:t>
            </a:r>
            <a:r>
              <a:rPr lang="en-US" dirty="0" err="1"/>
              <a:t>üretmesini</a:t>
            </a:r>
            <a:r>
              <a:rPr lang="en-US" dirty="0"/>
              <a:t> Sequence </a:t>
            </a:r>
            <a:r>
              <a:rPr lang="en-US" dirty="0" err="1"/>
              <a:t>ile</a:t>
            </a:r>
            <a:r>
              <a:rPr lang="en-US" dirty="0"/>
              <a:t> </a:t>
            </a:r>
            <a:r>
              <a:rPr lang="en-US" dirty="0" err="1"/>
              <a:t>yapmak</a:t>
            </a:r>
            <a:r>
              <a:rPr lang="en-US" dirty="0"/>
              <a:t> </a:t>
            </a:r>
            <a:r>
              <a:rPr lang="en-US" dirty="0" err="1"/>
              <a:t>istersek</a:t>
            </a:r>
            <a:r>
              <a:rPr lang="en-US" dirty="0"/>
              <a:t> </a:t>
            </a:r>
            <a:r>
              <a:rPr lang="en-US" b="1" i="1" dirty="0"/>
              <a:t>@</a:t>
            </a:r>
            <a:r>
              <a:rPr lang="en-US" b="1" i="1" dirty="0" err="1"/>
              <a:t>SequenceGenerator</a:t>
            </a:r>
            <a:r>
              <a:rPr lang="en-US" dirty="0"/>
              <a:t> </a:t>
            </a:r>
            <a:r>
              <a:rPr lang="en-US" dirty="0" err="1"/>
              <a:t>notasyonunu</a:t>
            </a:r>
            <a:r>
              <a:rPr lang="en-US" dirty="0"/>
              <a:t> </a:t>
            </a:r>
            <a:r>
              <a:rPr lang="en-US" dirty="0" err="1"/>
              <a:t>kullanmamız</a:t>
            </a:r>
            <a:r>
              <a:rPr lang="en-US" dirty="0"/>
              <a:t> </a:t>
            </a:r>
            <a:r>
              <a:rPr lang="en-US" dirty="0" err="1" smtClean="0"/>
              <a:t>gerekir</a:t>
            </a:r>
            <a:r>
              <a:rPr lang="en-US" dirty="0" smtClean="0"/>
              <a:t>. </a:t>
            </a:r>
            <a:r>
              <a:rPr lang="en-US" dirty="0"/>
              <a:t> </a:t>
            </a:r>
            <a:r>
              <a:rPr lang="en-US" dirty="0" err="1"/>
              <a:t>Kodu</a:t>
            </a:r>
            <a:r>
              <a:rPr lang="en-US" dirty="0"/>
              <a:t> </a:t>
            </a:r>
            <a:r>
              <a:rPr lang="en-US" dirty="0" err="1"/>
              <a:t>incelediğimizde</a:t>
            </a:r>
            <a:r>
              <a:rPr lang="en-US" dirty="0"/>
              <a:t> </a:t>
            </a:r>
            <a:r>
              <a:rPr lang="en-US" dirty="0" err="1"/>
              <a:t>bu</a:t>
            </a:r>
            <a:r>
              <a:rPr lang="en-US" dirty="0"/>
              <a:t> </a:t>
            </a:r>
            <a:r>
              <a:rPr lang="tr-TR" dirty="0" smtClean="0"/>
              <a:t>annotation un </a:t>
            </a:r>
            <a:r>
              <a:rPr lang="en-US" dirty="0" smtClean="0"/>
              <a:t>4 </a:t>
            </a:r>
            <a:r>
              <a:rPr lang="en-US" dirty="0" err="1"/>
              <a:t>özelliğini</a:t>
            </a:r>
            <a:r>
              <a:rPr lang="en-US" dirty="0"/>
              <a:t> </a:t>
            </a:r>
            <a:r>
              <a:rPr lang="en-US" dirty="0" err="1" smtClean="0"/>
              <a:t>kullan</a:t>
            </a:r>
            <a:r>
              <a:rPr lang="tr-TR" dirty="0" smtClean="0"/>
              <a:t>abiliriz</a:t>
            </a:r>
            <a:r>
              <a:rPr lang="en-US" dirty="0" smtClean="0"/>
              <a:t>. </a:t>
            </a:r>
            <a:r>
              <a:rPr lang="en-US" b="1" dirty="0"/>
              <a:t>Bu </a:t>
            </a:r>
            <a:r>
              <a:rPr lang="tr-TR" b="1" dirty="0" smtClean="0"/>
              <a:t>annotation özellikleri</a:t>
            </a:r>
            <a:r>
              <a:rPr lang="en-US" b="1" dirty="0" smtClean="0"/>
              <a:t>:</a:t>
            </a:r>
            <a:endParaRPr lang="en-US" b="1" dirty="0"/>
          </a:p>
          <a:p>
            <a:pPr marL="0" indent="0" fontAlgn="base">
              <a:buNone/>
            </a:pPr>
            <a:r>
              <a:rPr lang="en-US" b="1" i="1" dirty="0"/>
              <a:t>name</a:t>
            </a:r>
            <a:r>
              <a:rPr lang="en-US" dirty="0"/>
              <a:t> </a:t>
            </a:r>
            <a:r>
              <a:rPr lang="en-US" dirty="0" err="1"/>
              <a:t>özelliği</a:t>
            </a:r>
            <a:r>
              <a:rPr lang="en-US" dirty="0"/>
              <a:t> </a:t>
            </a:r>
            <a:r>
              <a:rPr lang="en-US" dirty="0" err="1"/>
              <a:t>uygulama</a:t>
            </a:r>
            <a:r>
              <a:rPr lang="en-US" dirty="0"/>
              <a:t> </a:t>
            </a:r>
            <a:r>
              <a:rPr lang="en-US" dirty="0" err="1"/>
              <a:t>içinde</a:t>
            </a:r>
            <a:r>
              <a:rPr lang="en-US" dirty="0"/>
              <a:t> </a:t>
            </a:r>
            <a:r>
              <a:rPr lang="en-US" dirty="0" err="1"/>
              <a:t>Sequence’in</a:t>
            </a:r>
            <a:r>
              <a:rPr lang="en-US" dirty="0"/>
              <a:t> </a:t>
            </a:r>
            <a:r>
              <a:rPr lang="en-US" dirty="0" err="1"/>
              <a:t>adını</a:t>
            </a:r>
            <a:r>
              <a:rPr lang="en-US" dirty="0"/>
              <a:t> </a:t>
            </a:r>
            <a:r>
              <a:rPr lang="en-US" dirty="0" err="1"/>
              <a:t>tanımlamaya</a:t>
            </a:r>
            <a:r>
              <a:rPr lang="en-US" dirty="0"/>
              <a:t> </a:t>
            </a:r>
            <a:r>
              <a:rPr lang="en-US" dirty="0" err="1"/>
              <a:t>yarar</a:t>
            </a:r>
            <a:r>
              <a:rPr lang="en-US" dirty="0"/>
              <a:t>.</a:t>
            </a:r>
          </a:p>
          <a:p>
            <a:pPr fontAlgn="base"/>
            <a:r>
              <a:rPr lang="en-US" b="1" i="1" dirty="0" err="1"/>
              <a:t>sequenceName</a:t>
            </a:r>
            <a:r>
              <a:rPr lang="en-US" dirty="0"/>
              <a:t> </a:t>
            </a:r>
            <a:r>
              <a:rPr lang="en-US" dirty="0" err="1"/>
              <a:t>özelliği</a:t>
            </a:r>
            <a:r>
              <a:rPr lang="en-US" dirty="0"/>
              <a:t> </a:t>
            </a:r>
            <a:r>
              <a:rPr lang="en-US" dirty="0" err="1"/>
              <a:t>verilen</a:t>
            </a:r>
            <a:r>
              <a:rPr lang="en-US" dirty="0"/>
              <a:t> </a:t>
            </a:r>
            <a:r>
              <a:rPr lang="tr-TR" dirty="0" err="1"/>
              <a:t>S</a:t>
            </a:r>
            <a:r>
              <a:rPr lang="en-US" dirty="0" err="1" smtClean="0"/>
              <a:t>tring’i</a:t>
            </a:r>
            <a:r>
              <a:rPr lang="en-US" dirty="0" smtClean="0"/>
              <a:t> </a:t>
            </a:r>
            <a:r>
              <a:rPr lang="en-US" dirty="0" err="1"/>
              <a:t>veri</a:t>
            </a:r>
            <a:r>
              <a:rPr lang="en-US" dirty="0"/>
              <a:t> </a:t>
            </a:r>
            <a:r>
              <a:rPr lang="en-US" dirty="0" err="1"/>
              <a:t>tabanı</a:t>
            </a:r>
            <a:r>
              <a:rPr lang="en-US" dirty="0"/>
              <a:t> </a:t>
            </a:r>
            <a:r>
              <a:rPr lang="en-US" dirty="0" err="1"/>
              <a:t>katmanında</a:t>
            </a:r>
            <a:r>
              <a:rPr lang="en-US" dirty="0"/>
              <a:t> </a:t>
            </a:r>
            <a:r>
              <a:rPr lang="en-US" b="1" dirty="0"/>
              <a:t>sequence</a:t>
            </a:r>
            <a:r>
              <a:rPr lang="en-US" dirty="0"/>
              <a:t> </a:t>
            </a:r>
            <a:r>
              <a:rPr lang="en-US" dirty="0" err="1"/>
              <a:t>adı</a:t>
            </a:r>
            <a:r>
              <a:rPr lang="en-US" dirty="0"/>
              <a:t> </a:t>
            </a:r>
            <a:r>
              <a:rPr lang="en-US" dirty="0" err="1"/>
              <a:t>olarak</a:t>
            </a:r>
            <a:r>
              <a:rPr lang="en-US" dirty="0"/>
              <a:t> </a:t>
            </a:r>
            <a:r>
              <a:rPr lang="en-US" dirty="0" err="1"/>
              <a:t>tanıtır</a:t>
            </a:r>
            <a:r>
              <a:rPr lang="en-US" dirty="0"/>
              <a:t>.</a:t>
            </a:r>
          </a:p>
          <a:p>
            <a:pPr fontAlgn="base"/>
            <a:r>
              <a:rPr lang="en-US" b="1" i="1" dirty="0" err="1"/>
              <a:t>initialValue</a:t>
            </a:r>
            <a:r>
              <a:rPr lang="en-US" dirty="0"/>
              <a:t> </a:t>
            </a:r>
            <a:r>
              <a:rPr lang="en-US" dirty="0" err="1"/>
              <a:t>özelliği</a:t>
            </a:r>
            <a:r>
              <a:rPr lang="en-US" dirty="0"/>
              <a:t> id </a:t>
            </a:r>
            <a:r>
              <a:rPr lang="en-US" dirty="0" err="1"/>
              <a:t>sütununun</a:t>
            </a:r>
            <a:r>
              <a:rPr lang="en-US" dirty="0"/>
              <a:t> </a:t>
            </a:r>
            <a:r>
              <a:rPr lang="en-US" dirty="0" err="1"/>
              <a:t>kaçtan</a:t>
            </a:r>
            <a:r>
              <a:rPr lang="en-US" dirty="0"/>
              <a:t> </a:t>
            </a:r>
            <a:r>
              <a:rPr lang="en-US" dirty="0" err="1"/>
              <a:t>başlıyacağını</a:t>
            </a:r>
            <a:r>
              <a:rPr lang="en-US" dirty="0"/>
              <a:t> </a:t>
            </a:r>
            <a:r>
              <a:rPr lang="en-US" dirty="0" err="1"/>
              <a:t>bildirir</a:t>
            </a:r>
            <a:r>
              <a:rPr lang="en-US" dirty="0"/>
              <a:t>. Bu </a:t>
            </a:r>
            <a:r>
              <a:rPr lang="en-US" dirty="0" err="1"/>
              <a:t>örnekte</a:t>
            </a:r>
            <a:r>
              <a:rPr lang="en-US" dirty="0"/>
              <a:t> </a:t>
            </a:r>
            <a:r>
              <a:rPr lang="en-US" dirty="0" err="1"/>
              <a:t>gelecek</a:t>
            </a:r>
            <a:r>
              <a:rPr lang="en-US" dirty="0"/>
              <a:t> ilk </a:t>
            </a:r>
            <a:r>
              <a:rPr lang="en-US" dirty="0" err="1"/>
              <a:t>kayıt</a:t>
            </a:r>
            <a:r>
              <a:rPr lang="en-US" dirty="0"/>
              <a:t> 10 </a:t>
            </a:r>
            <a:r>
              <a:rPr lang="en-US" dirty="0" err="1"/>
              <a:t>numaralı</a:t>
            </a:r>
            <a:r>
              <a:rPr lang="en-US" dirty="0"/>
              <a:t> </a:t>
            </a:r>
            <a:r>
              <a:rPr lang="en-US" dirty="0" err="1"/>
              <a:t>id’ye</a:t>
            </a:r>
            <a:r>
              <a:rPr lang="en-US" dirty="0"/>
              <a:t> </a:t>
            </a:r>
            <a:r>
              <a:rPr lang="en-US" dirty="0" err="1"/>
              <a:t>sahip</a:t>
            </a:r>
            <a:r>
              <a:rPr lang="en-US" dirty="0"/>
              <a:t> </a:t>
            </a:r>
            <a:r>
              <a:rPr lang="en-US" dirty="0" err="1"/>
              <a:t>olacak</a:t>
            </a:r>
            <a:r>
              <a:rPr lang="en-US" dirty="0"/>
              <a:t>.</a:t>
            </a:r>
          </a:p>
          <a:p>
            <a:pPr fontAlgn="base"/>
            <a:r>
              <a:rPr lang="en-US" b="1" dirty="0" err="1"/>
              <a:t>allocationSize</a:t>
            </a:r>
            <a:r>
              <a:rPr lang="en-US" dirty="0"/>
              <a:t> </a:t>
            </a:r>
            <a:r>
              <a:rPr lang="en-US" dirty="0" err="1"/>
              <a:t>özelliği</a:t>
            </a:r>
            <a:r>
              <a:rPr lang="en-US" dirty="0"/>
              <a:t> cache </a:t>
            </a:r>
            <a:r>
              <a:rPr lang="en-US" dirty="0" err="1"/>
              <a:t>yapısı</a:t>
            </a:r>
            <a:r>
              <a:rPr lang="en-US" dirty="0"/>
              <a:t> </a:t>
            </a:r>
            <a:r>
              <a:rPr lang="en-US" dirty="0" err="1"/>
              <a:t>içinde</a:t>
            </a:r>
            <a:r>
              <a:rPr lang="en-US" dirty="0"/>
              <a:t> </a:t>
            </a:r>
            <a:r>
              <a:rPr lang="en-US" dirty="0" err="1"/>
              <a:t>kaç</a:t>
            </a:r>
            <a:r>
              <a:rPr lang="en-US" dirty="0"/>
              <a:t> </a:t>
            </a:r>
            <a:r>
              <a:rPr lang="en-US" dirty="0" err="1"/>
              <a:t>tane</a:t>
            </a:r>
            <a:r>
              <a:rPr lang="en-US" dirty="0"/>
              <a:t> </a:t>
            </a:r>
            <a:r>
              <a:rPr lang="en-US" dirty="0" err="1"/>
              <a:t>bilgi</a:t>
            </a:r>
            <a:r>
              <a:rPr lang="en-US" dirty="0"/>
              <a:t> id </a:t>
            </a:r>
            <a:r>
              <a:rPr lang="en-US" dirty="0" err="1"/>
              <a:t>tutulacak</a:t>
            </a:r>
            <a:r>
              <a:rPr lang="en-US" dirty="0"/>
              <a:t> </a:t>
            </a:r>
            <a:r>
              <a:rPr lang="en-US" dirty="0" err="1"/>
              <a:t>onu</a:t>
            </a:r>
            <a:r>
              <a:rPr lang="en-US" dirty="0"/>
              <a:t> </a:t>
            </a:r>
            <a:r>
              <a:rPr lang="en-US" dirty="0" err="1"/>
              <a:t>belirtmeye</a:t>
            </a:r>
            <a:r>
              <a:rPr lang="en-US" dirty="0"/>
              <a:t> </a:t>
            </a:r>
            <a:r>
              <a:rPr lang="en-US" dirty="0" err="1"/>
              <a:t>yarar</a:t>
            </a:r>
            <a:r>
              <a:rPr lang="en-US" dirty="0"/>
              <a:t>. </a:t>
            </a:r>
            <a:endParaRPr lang="tr-TR" dirty="0" smtClean="0"/>
          </a:p>
          <a:p>
            <a:pPr marL="0" indent="0" fontAlgn="base">
              <a:buNone/>
            </a:pPr>
            <a:r>
              <a:rPr lang="en-US" b="1" dirty="0">
                <a:solidFill>
                  <a:srgbClr val="FF0000"/>
                </a:solidFill>
              </a:rPr>
              <a:t>@</a:t>
            </a:r>
            <a:r>
              <a:rPr lang="en-US" b="1" dirty="0" err="1">
                <a:solidFill>
                  <a:srgbClr val="FF0000"/>
                </a:solidFill>
              </a:rPr>
              <a:t>SequenceGenerator</a:t>
            </a:r>
            <a:r>
              <a:rPr lang="en-US" b="1" dirty="0">
                <a:solidFill>
                  <a:srgbClr val="FF0000"/>
                </a:solidFill>
              </a:rPr>
              <a:t>(name = </a:t>
            </a:r>
            <a:r>
              <a:rPr lang="en-US" b="1" dirty="0" smtClean="0">
                <a:solidFill>
                  <a:srgbClr val="FF0000"/>
                </a:solidFill>
              </a:rPr>
              <a:t>SEQUENCE_NAME</a:t>
            </a:r>
            <a:r>
              <a:rPr lang="en-US" b="1" dirty="0">
                <a:solidFill>
                  <a:srgbClr val="FF0000"/>
                </a:solidFill>
              </a:rPr>
              <a:t>, </a:t>
            </a:r>
            <a:r>
              <a:rPr lang="en-US" b="1" dirty="0" err="1">
                <a:solidFill>
                  <a:srgbClr val="FF0000"/>
                </a:solidFill>
              </a:rPr>
              <a:t>sequenceName</a:t>
            </a:r>
            <a:r>
              <a:rPr lang="en-US" b="1" dirty="0">
                <a:solidFill>
                  <a:srgbClr val="FF0000"/>
                </a:solidFill>
              </a:rPr>
              <a:t> = </a:t>
            </a:r>
            <a:r>
              <a:rPr lang="en-US" b="1" dirty="0" smtClean="0">
                <a:solidFill>
                  <a:srgbClr val="FF0000"/>
                </a:solidFill>
              </a:rPr>
              <a:t>SEQUENCE_NAME</a:t>
            </a:r>
            <a:r>
              <a:rPr lang="en-US" b="1" dirty="0">
                <a:solidFill>
                  <a:srgbClr val="FF0000"/>
                </a:solidFill>
              </a:rPr>
              <a:t>, </a:t>
            </a:r>
            <a:r>
              <a:rPr lang="en-US" b="1" dirty="0" err="1">
                <a:solidFill>
                  <a:srgbClr val="FF0000"/>
                </a:solidFill>
              </a:rPr>
              <a:t>initialValue</a:t>
            </a:r>
            <a:r>
              <a:rPr lang="en-US" b="1" dirty="0">
                <a:solidFill>
                  <a:srgbClr val="FF0000"/>
                </a:solidFill>
              </a:rPr>
              <a:t> =</a:t>
            </a:r>
            <a:r>
              <a:rPr lang="en-US" b="1" dirty="0" smtClean="0">
                <a:solidFill>
                  <a:srgbClr val="FF0000"/>
                </a:solidFill>
              </a:rPr>
              <a:t>10,allocationSize </a:t>
            </a:r>
            <a:r>
              <a:rPr lang="en-US" b="1" dirty="0">
                <a:solidFill>
                  <a:srgbClr val="FF0000"/>
                </a:solidFill>
              </a:rPr>
              <a:t>=53</a:t>
            </a:r>
            <a:r>
              <a:rPr lang="en-US" b="1" dirty="0" smtClean="0">
                <a:solidFill>
                  <a:srgbClr val="FF0000"/>
                </a:solidFill>
              </a:rPr>
              <a:t>)</a:t>
            </a:r>
            <a:endParaRPr lang="tr-TR" b="1" dirty="0">
              <a:solidFill>
                <a:srgbClr val="FF0000"/>
              </a:solidFill>
            </a:endParaRPr>
          </a:p>
          <a:p>
            <a:pPr marL="0" indent="0" fontAlgn="base">
              <a:buNone/>
            </a:pPr>
            <a:r>
              <a:rPr lang="en-US" dirty="0" smtClean="0"/>
              <a:t>Bu </a:t>
            </a:r>
            <a:r>
              <a:rPr lang="en-US" dirty="0" err="1"/>
              <a:t>örnekte</a:t>
            </a:r>
            <a:r>
              <a:rPr lang="en-US" dirty="0"/>
              <a:t> </a:t>
            </a:r>
            <a:r>
              <a:rPr lang="en-US" dirty="0" err="1"/>
              <a:t>girilecek</a:t>
            </a:r>
            <a:r>
              <a:rPr lang="en-US" dirty="0"/>
              <a:t> ilk </a:t>
            </a:r>
            <a:r>
              <a:rPr lang="en-US" dirty="0" err="1"/>
              <a:t>kaydın</a:t>
            </a:r>
            <a:r>
              <a:rPr lang="en-US" dirty="0"/>
              <a:t> </a:t>
            </a:r>
            <a:r>
              <a:rPr lang="en-US" dirty="0" err="1"/>
              <a:t>id’si</a:t>
            </a:r>
            <a:r>
              <a:rPr lang="en-US" dirty="0"/>
              <a:t> 10 </a:t>
            </a:r>
            <a:r>
              <a:rPr lang="en-US" dirty="0" err="1"/>
              <a:t>olacak</a:t>
            </a:r>
            <a:r>
              <a:rPr lang="en-US" dirty="0"/>
              <a:t> </a:t>
            </a:r>
            <a:r>
              <a:rPr lang="en-US" dirty="0" err="1"/>
              <a:t>ve</a:t>
            </a:r>
            <a:r>
              <a:rPr lang="en-US" dirty="0"/>
              <a:t> </a:t>
            </a:r>
            <a:r>
              <a:rPr lang="en-US" dirty="0" err="1"/>
              <a:t>uygulama</a:t>
            </a:r>
            <a:r>
              <a:rPr lang="en-US" dirty="0"/>
              <a:t> biz </a:t>
            </a:r>
            <a:r>
              <a:rPr lang="en-US" dirty="0" err="1"/>
              <a:t>allocationSize’ı</a:t>
            </a:r>
            <a:r>
              <a:rPr lang="en-US" dirty="0"/>
              <a:t> 53 </a:t>
            </a:r>
            <a:r>
              <a:rPr lang="en-US" b="1" dirty="0" smtClean="0"/>
              <a:t>@</a:t>
            </a:r>
            <a:r>
              <a:rPr lang="en-US" b="1" dirty="0" err="1" smtClean="0"/>
              <a:t>Sequenc</a:t>
            </a:r>
            <a:r>
              <a:rPr lang="tr-TR" b="1" dirty="0" smtClean="0"/>
              <a:t>e </a:t>
            </a:r>
            <a:r>
              <a:rPr lang="en-US" dirty="0" err="1" smtClean="0"/>
              <a:t>verdiğimiz</a:t>
            </a:r>
            <a:r>
              <a:rPr lang="en-US" dirty="0" smtClean="0"/>
              <a:t> </a:t>
            </a:r>
            <a:r>
              <a:rPr lang="en-US" dirty="0" err="1"/>
              <a:t>için</a:t>
            </a:r>
            <a:r>
              <a:rPr lang="en-US" dirty="0"/>
              <a:t> 10 </a:t>
            </a:r>
            <a:r>
              <a:rPr lang="en-US" dirty="0" err="1"/>
              <a:t>ile</a:t>
            </a:r>
            <a:r>
              <a:rPr lang="en-US" dirty="0"/>
              <a:t> 63 </a:t>
            </a:r>
            <a:r>
              <a:rPr lang="en-US" dirty="0" err="1"/>
              <a:t>arasındaki</a:t>
            </a:r>
            <a:r>
              <a:rPr lang="en-US" dirty="0"/>
              <a:t> </a:t>
            </a:r>
            <a:r>
              <a:rPr lang="en-US" dirty="0" err="1"/>
              <a:t>id’leri</a:t>
            </a:r>
            <a:r>
              <a:rPr lang="en-US" dirty="0"/>
              <a:t> </a:t>
            </a:r>
            <a:r>
              <a:rPr lang="en-US" dirty="0" err="1"/>
              <a:t>tutacak</a:t>
            </a:r>
            <a:r>
              <a:rPr lang="en-US" dirty="0"/>
              <a:t>.</a:t>
            </a:r>
          </a:p>
          <a:p>
            <a:pPr marL="0" indent="0" fontAlgn="base">
              <a:buNone/>
            </a:pPr>
            <a:r>
              <a:rPr lang="en-US" b="1" dirty="0" err="1" smtClean="0"/>
              <a:t>eGenerator</a:t>
            </a:r>
            <a:r>
              <a:rPr lang="en-US" dirty="0" smtClean="0"/>
              <a:t> </a:t>
            </a:r>
            <a:r>
              <a:rPr lang="tr-TR" dirty="0" smtClean="0"/>
              <a:t>annotation </a:t>
            </a:r>
            <a:r>
              <a:rPr lang="en-US" dirty="0" err="1" smtClean="0"/>
              <a:t>ile</a:t>
            </a:r>
            <a:r>
              <a:rPr lang="en-US" dirty="0" smtClean="0"/>
              <a:t> </a:t>
            </a:r>
            <a:r>
              <a:rPr lang="en-US" dirty="0" err="1"/>
              <a:t>tanımlama</a:t>
            </a:r>
            <a:r>
              <a:rPr lang="en-US" dirty="0"/>
              <a:t> </a:t>
            </a:r>
            <a:r>
              <a:rPr lang="en-US" dirty="0" err="1"/>
              <a:t>yaptıktan</a:t>
            </a:r>
            <a:r>
              <a:rPr lang="en-US" dirty="0"/>
              <a:t> </a:t>
            </a:r>
            <a:r>
              <a:rPr lang="en-US" dirty="0" err="1"/>
              <a:t>sonra</a:t>
            </a:r>
            <a:r>
              <a:rPr lang="en-US" dirty="0"/>
              <a:t> </a:t>
            </a:r>
            <a:r>
              <a:rPr lang="en-US" dirty="0" err="1"/>
              <a:t>yine</a:t>
            </a:r>
            <a:r>
              <a:rPr lang="en-US" dirty="0"/>
              <a:t> </a:t>
            </a:r>
            <a:r>
              <a:rPr lang="en-US" b="1" dirty="0"/>
              <a:t>@</a:t>
            </a:r>
            <a:r>
              <a:rPr lang="en-US" b="1" dirty="0" err="1"/>
              <a:t>GeneratedValue</a:t>
            </a:r>
            <a:r>
              <a:rPr lang="en-US" dirty="0"/>
              <a:t> </a:t>
            </a:r>
            <a:r>
              <a:rPr lang="tr-TR" dirty="0" smtClean="0"/>
              <a:t>annotation ın </a:t>
            </a:r>
            <a:r>
              <a:rPr lang="en-US" b="1" dirty="0" smtClean="0"/>
              <a:t>strategy</a:t>
            </a:r>
            <a:r>
              <a:rPr lang="en-US" dirty="0" smtClean="0"/>
              <a:t> </a:t>
            </a:r>
            <a:r>
              <a:rPr lang="en-US" dirty="0" err="1"/>
              <a:t>özelliğine</a:t>
            </a:r>
            <a:r>
              <a:rPr lang="en-US" dirty="0"/>
              <a:t> </a:t>
            </a:r>
            <a:r>
              <a:rPr lang="en-US" b="1" dirty="0" err="1"/>
              <a:t>GenerationType</a:t>
            </a:r>
            <a:r>
              <a:rPr lang="en-US" dirty="0"/>
              <a:t> </a:t>
            </a:r>
            <a:r>
              <a:rPr lang="en-US" dirty="0" err="1"/>
              <a:t>sınıfındaki</a:t>
            </a:r>
            <a:r>
              <a:rPr lang="en-US" dirty="0"/>
              <a:t> </a:t>
            </a:r>
            <a:r>
              <a:rPr lang="en-US" b="1" i="1" dirty="0" err="1"/>
              <a:t>SEQUENCE</a:t>
            </a:r>
            <a:r>
              <a:rPr lang="en-US" dirty="0" err="1"/>
              <a:t>‘i</a:t>
            </a:r>
            <a:r>
              <a:rPr lang="en-US" dirty="0"/>
              <a:t> </a:t>
            </a:r>
            <a:r>
              <a:rPr lang="en-US" dirty="0" err="1"/>
              <a:t>atıyoruz</a:t>
            </a:r>
            <a:r>
              <a:rPr lang="en-US" dirty="0"/>
              <a:t>. </a:t>
            </a:r>
            <a:r>
              <a:rPr lang="en-US" dirty="0" err="1"/>
              <a:t>Akabinde</a:t>
            </a:r>
            <a:r>
              <a:rPr lang="en-US" dirty="0"/>
              <a:t> </a:t>
            </a:r>
            <a:r>
              <a:rPr lang="en-US" b="1" dirty="0"/>
              <a:t>Sequence</a:t>
            </a:r>
            <a:r>
              <a:rPr lang="en-US" dirty="0"/>
              <a:t> </a:t>
            </a:r>
            <a:r>
              <a:rPr lang="en-US" dirty="0" err="1"/>
              <a:t>kullandığımız</a:t>
            </a:r>
            <a:r>
              <a:rPr lang="en-US" dirty="0"/>
              <a:t> </a:t>
            </a:r>
            <a:r>
              <a:rPr lang="en-US" dirty="0" err="1"/>
              <a:t>için</a:t>
            </a:r>
            <a:r>
              <a:rPr lang="en-US" dirty="0"/>
              <a:t> </a:t>
            </a:r>
            <a:r>
              <a:rPr lang="en-US" dirty="0" err="1"/>
              <a:t>bir</a:t>
            </a:r>
            <a:r>
              <a:rPr lang="en-US" dirty="0"/>
              <a:t> de </a:t>
            </a:r>
            <a:r>
              <a:rPr lang="en-US" b="1" i="1" dirty="0"/>
              <a:t>generator</a:t>
            </a:r>
            <a:r>
              <a:rPr lang="en-US" dirty="0"/>
              <a:t> </a:t>
            </a:r>
            <a:r>
              <a:rPr lang="en-US" dirty="0" err="1"/>
              <a:t>tanımlaması</a:t>
            </a:r>
            <a:r>
              <a:rPr lang="en-US" dirty="0"/>
              <a:t> </a:t>
            </a:r>
            <a:r>
              <a:rPr lang="en-US" dirty="0" err="1"/>
              <a:t>yapmamız</a:t>
            </a:r>
            <a:r>
              <a:rPr lang="en-US" dirty="0"/>
              <a:t> </a:t>
            </a:r>
            <a:r>
              <a:rPr lang="en-US" dirty="0" err="1"/>
              <a:t>gerekiyor</a:t>
            </a:r>
            <a:r>
              <a:rPr lang="en-US" dirty="0"/>
              <a:t>.</a:t>
            </a:r>
          </a:p>
          <a:p>
            <a:pPr marL="0" indent="0">
              <a:buNone/>
            </a:pPr>
            <a:endParaRPr lang="en-US" dirty="0"/>
          </a:p>
        </p:txBody>
      </p:sp>
    </p:spTree>
    <p:extLst>
      <p:ext uri="{BB962C8B-B14F-4D97-AF65-F5344CB8AC3E}">
        <p14:creationId xmlns:p14="http://schemas.microsoft.com/office/powerpoint/2010/main" val="376830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8300" y="292100"/>
            <a:ext cx="11544300" cy="6172200"/>
          </a:xfrm>
        </p:spPr>
        <p:txBody>
          <a:bodyPr>
            <a:normAutofit/>
          </a:bodyPr>
          <a:lstStyle/>
          <a:p>
            <a:pPr marL="0" indent="0">
              <a:buNone/>
            </a:pPr>
            <a:r>
              <a:rPr lang="tr-TR" dirty="0" smtClean="0"/>
              <a:t>@TableGenerator annotaion : </a:t>
            </a:r>
            <a:r>
              <a:rPr lang="en-US" dirty="0" err="1" smtClean="0"/>
              <a:t>Veri</a:t>
            </a:r>
            <a:r>
              <a:rPr lang="en-US" dirty="0" smtClean="0"/>
              <a:t> </a:t>
            </a:r>
            <a:r>
              <a:rPr lang="en-US" dirty="0" err="1"/>
              <a:t>tabanınızda</a:t>
            </a:r>
            <a:r>
              <a:rPr lang="en-US" dirty="0"/>
              <a:t> </a:t>
            </a:r>
            <a:r>
              <a:rPr lang="en-US" dirty="0" err="1"/>
              <a:t>sırf</a:t>
            </a:r>
            <a:r>
              <a:rPr lang="en-US" dirty="0"/>
              <a:t> </a:t>
            </a:r>
            <a:r>
              <a:rPr lang="en-US" dirty="0" err="1"/>
              <a:t>bu</a:t>
            </a:r>
            <a:r>
              <a:rPr lang="en-US" dirty="0"/>
              <a:t> Id </a:t>
            </a:r>
            <a:r>
              <a:rPr lang="en-US" dirty="0" err="1"/>
              <a:t>genelleştirme</a:t>
            </a:r>
            <a:r>
              <a:rPr lang="en-US" dirty="0"/>
              <a:t> </a:t>
            </a:r>
            <a:r>
              <a:rPr lang="en-US" dirty="0" err="1"/>
              <a:t>işlemi</a:t>
            </a:r>
            <a:r>
              <a:rPr lang="en-US" dirty="0"/>
              <a:t> </a:t>
            </a:r>
            <a:r>
              <a:rPr lang="en-US" dirty="0" err="1"/>
              <a:t>için</a:t>
            </a:r>
            <a:r>
              <a:rPr lang="en-US" dirty="0"/>
              <a:t> Id </a:t>
            </a:r>
            <a:r>
              <a:rPr lang="en-US" dirty="0" err="1"/>
              <a:t>bilgisini</a:t>
            </a:r>
            <a:r>
              <a:rPr lang="en-US" dirty="0"/>
              <a:t> </a:t>
            </a:r>
            <a:r>
              <a:rPr lang="en-US" dirty="0" err="1"/>
              <a:t>tutan</a:t>
            </a:r>
            <a:r>
              <a:rPr lang="en-US" dirty="0"/>
              <a:t> </a:t>
            </a:r>
            <a:r>
              <a:rPr lang="en-US" dirty="0" err="1"/>
              <a:t>bir</a:t>
            </a:r>
            <a:r>
              <a:rPr lang="en-US" dirty="0"/>
              <a:t> </a:t>
            </a:r>
            <a:r>
              <a:rPr lang="en-US" dirty="0" err="1"/>
              <a:t>tablo</a:t>
            </a:r>
            <a:r>
              <a:rPr lang="en-US" dirty="0"/>
              <a:t> </a:t>
            </a:r>
            <a:r>
              <a:rPr lang="en-US" dirty="0" err="1"/>
              <a:t>oluşturursunuz</a:t>
            </a:r>
            <a:r>
              <a:rPr lang="en-US" dirty="0"/>
              <a:t> </a:t>
            </a:r>
            <a:r>
              <a:rPr lang="en-US" dirty="0" err="1"/>
              <a:t>ve</a:t>
            </a:r>
            <a:r>
              <a:rPr lang="en-US" dirty="0"/>
              <a:t> Id </a:t>
            </a:r>
            <a:r>
              <a:rPr lang="en-US" dirty="0" err="1"/>
              <a:t>genelleştirme</a:t>
            </a:r>
            <a:r>
              <a:rPr lang="en-US" dirty="0"/>
              <a:t> </a:t>
            </a:r>
            <a:r>
              <a:rPr lang="en-US" dirty="0" err="1"/>
              <a:t>işlemlerini</a:t>
            </a:r>
            <a:r>
              <a:rPr lang="en-US" dirty="0"/>
              <a:t> </a:t>
            </a:r>
            <a:r>
              <a:rPr lang="en-US" b="1" i="1" dirty="0"/>
              <a:t>@</a:t>
            </a:r>
            <a:r>
              <a:rPr lang="en-US" b="1" i="1" dirty="0" err="1"/>
              <a:t>TableGenerator</a:t>
            </a:r>
            <a:r>
              <a:rPr lang="en-US" dirty="0"/>
              <a:t> </a:t>
            </a:r>
            <a:r>
              <a:rPr lang="en-US" dirty="0" err="1"/>
              <a:t>notasyonu</a:t>
            </a:r>
            <a:r>
              <a:rPr lang="en-US" dirty="0"/>
              <a:t> </a:t>
            </a:r>
            <a:r>
              <a:rPr lang="en-US" dirty="0" err="1"/>
              <a:t>ve</a:t>
            </a:r>
            <a:r>
              <a:rPr lang="en-US" dirty="0"/>
              <a:t> </a:t>
            </a:r>
            <a:r>
              <a:rPr lang="en-US" dirty="0" err="1"/>
              <a:t>bu</a:t>
            </a:r>
            <a:r>
              <a:rPr lang="en-US" dirty="0"/>
              <a:t> </a:t>
            </a:r>
            <a:r>
              <a:rPr lang="en-US" dirty="0" err="1"/>
              <a:t>tablo</a:t>
            </a:r>
            <a:r>
              <a:rPr lang="en-US" dirty="0"/>
              <a:t> </a:t>
            </a:r>
            <a:r>
              <a:rPr lang="en-US" dirty="0" err="1"/>
              <a:t>vasıtası</a:t>
            </a:r>
            <a:r>
              <a:rPr lang="en-US" dirty="0"/>
              <a:t> </a:t>
            </a:r>
            <a:r>
              <a:rPr lang="en-US" dirty="0" err="1"/>
              <a:t>ile</a:t>
            </a:r>
            <a:r>
              <a:rPr lang="en-US" dirty="0"/>
              <a:t> </a:t>
            </a:r>
            <a:r>
              <a:rPr lang="en-US" dirty="0" err="1"/>
              <a:t>yaparsınız</a:t>
            </a:r>
            <a:r>
              <a:rPr lang="en-US" dirty="0"/>
              <a:t>.  </a:t>
            </a:r>
            <a:r>
              <a:rPr lang="en-US" dirty="0" err="1"/>
              <a:t>Veritabanının</a:t>
            </a:r>
            <a:r>
              <a:rPr lang="en-US" dirty="0"/>
              <a:t> </a:t>
            </a:r>
            <a:r>
              <a:rPr lang="en-US" dirty="0" err="1"/>
              <a:t>taşınabilir</a:t>
            </a:r>
            <a:r>
              <a:rPr lang="en-US" dirty="0"/>
              <a:t> </a:t>
            </a:r>
            <a:r>
              <a:rPr lang="en-US" dirty="0" err="1"/>
              <a:t>olabilmesi</a:t>
            </a:r>
            <a:r>
              <a:rPr lang="en-US" dirty="0"/>
              <a:t> </a:t>
            </a:r>
            <a:r>
              <a:rPr lang="en-US" dirty="0" err="1"/>
              <a:t>için</a:t>
            </a:r>
            <a:r>
              <a:rPr lang="en-US" dirty="0"/>
              <a:t> </a:t>
            </a:r>
            <a:r>
              <a:rPr lang="en-US" dirty="0" err="1"/>
              <a:t>kullanılabilecek</a:t>
            </a:r>
            <a:r>
              <a:rPr lang="en-US" dirty="0"/>
              <a:t> </a:t>
            </a:r>
            <a:r>
              <a:rPr lang="en-US" dirty="0" err="1"/>
              <a:t>tek</a:t>
            </a:r>
            <a:r>
              <a:rPr lang="en-US" dirty="0"/>
              <a:t> </a:t>
            </a:r>
            <a:r>
              <a:rPr lang="en-US" dirty="0" err="1" smtClean="0"/>
              <a:t>yöntem</a:t>
            </a:r>
            <a:r>
              <a:rPr lang="tr-TR" dirty="0" smtClean="0"/>
              <a:t> budur, </a:t>
            </a:r>
            <a:r>
              <a:rPr lang="en-US" dirty="0" err="1" smtClean="0"/>
              <a:t>bir</a:t>
            </a:r>
            <a:r>
              <a:rPr lang="en-US" dirty="0" smtClean="0"/>
              <a:t> </a:t>
            </a:r>
            <a:r>
              <a:rPr lang="en-US" dirty="0" err="1"/>
              <a:t>takım</a:t>
            </a:r>
            <a:r>
              <a:rPr lang="en-US" dirty="0"/>
              <a:t> </a:t>
            </a:r>
            <a:r>
              <a:rPr lang="en-US" dirty="0" err="1"/>
              <a:t>veritabanları</a:t>
            </a:r>
            <a:r>
              <a:rPr lang="en-US" dirty="0"/>
              <a:t> </a:t>
            </a:r>
            <a:r>
              <a:rPr lang="en-US" dirty="0" err="1"/>
              <a:t>Identitiy</a:t>
            </a:r>
            <a:r>
              <a:rPr lang="en-US" dirty="0"/>
              <a:t> </a:t>
            </a:r>
            <a:r>
              <a:rPr lang="en-US" dirty="0" err="1"/>
              <a:t>bir</a:t>
            </a:r>
            <a:r>
              <a:rPr lang="en-US" dirty="0"/>
              <a:t> </a:t>
            </a:r>
            <a:r>
              <a:rPr lang="en-US" dirty="0" err="1"/>
              <a:t>takım</a:t>
            </a:r>
            <a:r>
              <a:rPr lang="en-US" dirty="0"/>
              <a:t> </a:t>
            </a:r>
            <a:r>
              <a:rPr lang="en-US" dirty="0" err="1"/>
              <a:t>veritabanları</a:t>
            </a:r>
            <a:r>
              <a:rPr lang="en-US" dirty="0"/>
              <a:t> Sequence </a:t>
            </a:r>
            <a:r>
              <a:rPr lang="en-US" dirty="0" err="1"/>
              <a:t>destekler</a:t>
            </a:r>
            <a:r>
              <a:rPr lang="en-US" dirty="0"/>
              <a:t>. </a:t>
            </a:r>
            <a:r>
              <a:rPr lang="en-US" dirty="0" err="1"/>
              <a:t>Bir</a:t>
            </a:r>
            <a:r>
              <a:rPr lang="en-US" dirty="0"/>
              <a:t> </a:t>
            </a:r>
            <a:r>
              <a:rPr lang="en-US" dirty="0" err="1"/>
              <a:t>veri</a:t>
            </a:r>
            <a:r>
              <a:rPr lang="en-US" dirty="0"/>
              <a:t> </a:t>
            </a:r>
            <a:r>
              <a:rPr lang="en-US" dirty="0" err="1"/>
              <a:t>tabanını</a:t>
            </a:r>
            <a:r>
              <a:rPr lang="en-US" dirty="0"/>
              <a:t> </a:t>
            </a:r>
            <a:r>
              <a:rPr lang="en-US" dirty="0" err="1"/>
              <a:t>örneğin</a:t>
            </a:r>
            <a:r>
              <a:rPr lang="en-US" dirty="0"/>
              <a:t> </a:t>
            </a:r>
            <a:r>
              <a:rPr lang="en-US" dirty="0" err="1"/>
              <a:t>PostgreSQL’den</a:t>
            </a:r>
            <a:r>
              <a:rPr lang="en-US" dirty="0"/>
              <a:t> MS SQL </a:t>
            </a:r>
            <a:r>
              <a:rPr lang="en-US" dirty="0" err="1"/>
              <a:t>Server’a</a:t>
            </a:r>
            <a:r>
              <a:rPr lang="en-US" dirty="0"/>
              <a:t> </a:t>
            </a:r>
            <a:r>
              <a:rPr lang="en-US" dirty="0" err="1"/>
              <a:t>taşımak</a:t>
            </a:r>
            <a:r>
              <a:rPr lang="en-US" dirty="0"/>
              <a:t> </a:t>
            </a:r>
            <a:r>
              <a:rPr lang="en-US" dirty="0" err="1"/>
              <a:t>istediniz</a:t>
            </a:r>
            <a:r>
              <a:rPr lang="en-US" dirty="0"/>
              <a:t>. Bu </a:t>
            </a:r>
            <a:r>
              <a:rPr lang="en-US" dirty="0" err="1"/>
              <a:t>sırada</a:t>
            </a:r>
            <a:r>
              <a:rPr lang="en-US" dirty="0"/>
              <a:t> </a:t>
            </a:r>
            <a:r>
              <a:rPr lang="en-US" dirty="0" err="1"/>
              <a:t>eğer</a:t>
            </a:r>
            <a:r>
              <a:rPr lang="en-US" dirty="0"/>
              <a:t> </a:t>
            </a:r>
            <a:r>
              <a:rPr lang="en-US" dirty="0" err="1"/>
              <a:t>TableGenerator</a:t>
            </a:r>
            <a:r>
              <a:rPr lang="en-US" dirty="0"/>
              <a:t> </a:t>
            </a:r>
            <a:r>
              <a:rPr lang="en-US" dirty="0" err="1"/>
              <a:t>kullanmadı</a:t>
            </a:r>
            <a:r>
              <a:rPr lang="en-US" dirty="0"/>
              <a:t> </a:t>
            </a:r>
            <a:r>
              <a:rPr lang="en-US" dirty="0" err="1"/>
              <a:t>iseniz</a:t>
            </a:r>
            <a:r>
              <a:rPr lang="en-US" dirty="0"/>
              <a:t> </a:t>
            </a:r>
            <a:r>
              <a:rPr lang="en-US" dirty="0" err="1"/>
              <a:t>proje</a:t>
            </a:r>
            <a:r>
              <a:rPr lang="en-US" dirty="0"/>
              <a:t> </a:t>
            </a:r>
            <a:r>
              <a:rPr lang="en-US" dirty="0" err="1"/>
              <a:t>içinde</a:t>
            </a:r>
            <a:r>
              <a:rPr lang="en-US" dirty="0"/>
              <a:t> </a:t>
            </a:r>
            <a:r>
              <a:rPr lang="en-US" dirty="0" err="1"/>
              <a:t>bu</a:t>
            </a:r>
            <a:r>
              <a:rPr lang="en-US" dirty="0"/>
              <a:t> </a:t>
            </a:r>
            <a:r>
              <a:rPr lang="en-US" dirty="0" err="1"/>
              <a:t>veritabanı</a:t>
            </a:r>
            <a:r>
              <a:rPr lang="en-US" dirty="0"/>
              <a:t> </a:t>
            </a:r>
            <a:r>
              <a:rPr lang="en-US" dirty="0" err="1"/>
              <a:t>sorununu</a:t>
            </a:r>
            <a:r>
              <a:rPr lang="en-US" dirty="0"/>
              <a:t> </a:t>
            </a:r>
            <a:r>
              <a:rPr lang="en-US" dirty="0" err="1"/>
              <a:t>aşabilmek</a:t>
            </a:r>
            <a:r>
              <a:rPr lang="en-US" dirty="0"/>
              <a:t> </a:t>
            </a:r>
            <a:r>
              <a:rPr lang="en-US" dirty="0" err="1"/>
              <a:t>için</a:t>
            </a:r>
            <a:r>
              <a:rPr lang="en-US" dirty="0"/>
              <a:t> </a:t>
            </a:r>
            <a:r>
              <a:rPr lang="en-US" dirty="0" err="1"/>
              <a:t>farklı</a:t>
            </a:r>
            <a:r>
              <a:rPr lang="en-US" dirty="0"/>
              <a:t> </a:t>
            </a:r>
            <a:r>
              <a:rPr lang="en-US" dirty="0" err="1"/>
              <a:t>modüller</a:t>
            </a:r>
            <a:r>
              <a:rPr lang="en-US" dirty="0"/>
              <a:t> </a:t>
            </a:r>
            <a:r>
              <a:rPr lang="en-US" dirty="0" err="1"/>
              <a:t>oluşturmanız</a:t>
            </a:r>
            <a:r>
              <a:rPr lang="en-US" dirty="0"/>
              <a:t> </a:t>
            </a:r>
            <a:r>
              <a:rPr lang="tr-TR" dirty="0" smtClean="0"/>
              <a:t>gerekir</a:t>
            </a:r>
            <a:r>
              <a:rPr lang="en-US" dirty="0" smtClean="0"/>
              <a:t>. </a:t>
            </a:r>
            <a:r>
              <a:rPr lang="en-US" dirty="0" err="1"/>
              <a:t>Ama</a:t>
            </a:r>
            <a:r>
              <a:rPr lang="en-US" dirty="0"/>
              <a:t> </a:t>
            </a:r>
            <a:r>
              <a:rPr lang="en-US" b="1" dirty="0" err="1"/>
              <a:t>TableGenerator</a:t>
            </a:r>
            <a:r>
              <a:rPr lang="en-US" dirty="0"/>
              <a:t> </a:t>
            </a:r>
            <a:r>
              <a:rPr lang="en-US" dirty="0" err="1"/>
              <a:t>bizi</a:t>
            </a:r>
            <a:r>
              <a:rPr lang="en-US" dirty="0"/>
              <a:t> </a:t>
            </a:r>
            <a:r>
              <a:rPr lang="en-US" dirty="0" err="1"/>
              <a:t>bu</a:t>
            </a:r>
            <a:r>
              <a:rPr lang="en-US" dirty="0"/>
              <a:t> </a:t>
            </a:r>
            <a:r>
              <a:rPr lang="en-US" dirty="0" err="1"/>
              <a:t>sorundan</a:t>
            </a:r>
            <a:r>
              <a:rPr lang="en-US" dirty="0"/>
              <a:t> </a:t>
            </a:r>
            <a:r>
              <a:rPr lang="en-US" dirty="0" err="1"/>
              <a:t>kurtarıyor</a:t>
            </a:r>
            <a:r>
              <a:rPr lang="en-US" dirty="0"/>
              <a:t>. </a:t>
            </a:r>
            <a:r>
              <a:rPr lang="en-US" dirty="0" err="1"/>
              <a:t>Şimdi</a:t>
            </a:r>
            <a:r>
              <a:rPr lang="en-US" dirty="0"/>
              <a:t> </a:t>
            </a:r>
            <a:r>
              <a:rPr lang="en-US" dirty="0" err="1"/>
              <a:t>örnek</a:t>
            </a:r>
            <a:r>
              <a:rPr lang="en-US" dirty="0"/>
              <a:t> </a:t>
            </a:r>
            <a:r>
              <a:rPr lang="en-US" dirty="0" err="1"/>
              <a:t>kodumuza</a:t>
            </a:r>
            <a:r>
              <a:rPr lang="en-US" dirty="0"/>
              <a:t> </a:t>
            </a:r>
            <a:r>
              <a:rPr lang="en-US" dirty="0" err="1"/>
              <a:t>bakalım</a:t>
            </a:r>
            <a:r>
              <a:rPr lang="en-US" dirty="0" smtClean="0"/>
              <a:t>:</a:t>
            </a:r>
            <a:endParaRPr lang="tr-TR" dirty="0" smtClean="0"/>
          </a:p>
          <a:p>
            <a:pPr fontAlgn="base"/>
            <a:r>
              <a:rPr lang="en-US" dirty="0"/>
              <a:t> </a:t>
            </a:r>
            <a:r>
              <a:rPr lang="en-US" b="1" i="1" dirty="0"/>
              <a:t>name</a:t>
            </a:r>
            <a:r>
              <a:rPr lang="en-US" dirty="0"/>
              <a:t> </a:t>
            </a:r>
            <a:r>
              <a:rPr lang="en-US" dirty="0" err="1"/>
              <a:t>özelliğine</a:t>
            </a:r>
            <a:r>
              <a:rPr lang="en-US" dirty="0"/>
              <a:t> @</a:t>
            </a:r>
            <a:r>
              <a:rPr lang="en-US" b="1" dirty="0" err="1"/>
              <a:t>GeneratedValue</a:t>
            </a:r>
            <a:r>
              <a:rPr lang="en-US" dirty="0"/>
              <a:t> </a:t>
            </a:r>
            <a:r>
              <a:rPr lang="tr-TR" dirty="0" smtClean="0"/>
              <a:t>annotation </a:t>
            </a:r>
            <a:r>
              <a:rPr lang="en-US" dirty="0" smtClean="0"/>
              <a:t>generator </a:t>
            </a:r>
            <a:r>
              <a:rPr lang="en-US" dirty="0" err="1"/>
              <a:t>kısmında</a:t>
            </a:r>
            <a:r>
              <a:rPr lang="en-US" dirty="0"/>
              <a:t> da </a:t>
            </a:r>
            <a:r>
              <a:rPr lang="en-US" dirty="0" err="1"/>
              <a:t>kullanacağımız</a:t>
            </a:r>
            <a:r>
              <a:rPr lang="en-US" dirty="0"/>
              <a:t>  </a:t>
            </a:r>
            <a:r>
              <a:rPr lang="en-US" dirty="0" err="1"/>
              <a:t>ismini</a:t>
            </a:r>
            <a:r>
              <a:rPr lang="en-US" dirty="0"/>
              <a:t> </a:t>
            </a:r>
            <a:r>
              <a:rPr lang="en-US" dirty="0" err="1"/>
              <a:t>atıyoruz</a:t>
            </a:r>
            <a:r>
              <a:rPr lang="en-US" dirty="0"/>
              <a:t>.</a:t>
            </a:r>
          </a:p>
          <a:p>
            <a:pPr fontAlgn="base"/>
            <a:r>
              <a:rPr lang="en-US" b="1" i="1" dirty="0"/>
              <a:t>table</a:t>
            </a:r>
            <a:r>
              <a:rPr lang="en-US" dirty="0"/>
              <a:t>  </a:t>
            </a:r>
            <a:r>
              <a:rPr lang="en-US" dirty="0" err="1"/>
              <a:t>özelliğine</a:t>
            </a:r>
            <a:r>
              <a:rPr lang="en-US" dirty="0"/>
              <a:t> </a:t>
            </a:r>
            <a:r>
              <a:rPr lang="en-US" dirty="0" err="1"/>
              <a:t>hangi</a:t>
            </a:r>
            <a:r>
              <a:rPr lang="en-US" dirty="0"/>
              <a:t> </a:t>
            </a:r>
            <a:r>
              <a:rPr lang="en-US" dirty="0" err="1"/>
              <a:t>tabloyu</a:t>
            </a:r>
            <a:r>
              <a:rPr lang="en-US" dirty="0"/>
              <a:t> Id </a:t>
            </a:r>
            <a:r>
              <a:rPr lang="en-US" dirty="0" err="1"/>
              <a:t>genelleştirme</a:t>
            </a:r>
            <a:r>
              <a:rPr lang="en-US" dirty="0"/>
              <a:t> </a:t>
            </a:r>
            <a:r>
              <a:rPr lang="en-US" dirty="0" err="1"/>
              <a:t>için</a:t>
            </a:r>
            <a:r>
              <a:rPr lang="en-US" dirty="0"/>
              <a:t> </a:t>
            </a:r>
            <a:r>
              <a:rPr lang="en-US" dirty="0" err="1"/>
              <a:t>kullanacağımızı</a:t>
            </a:r>
            <a:r>
              <a:rPr lang="en-US" dirty="0"/>
              <a:t> </a:t>
            </a:r>
            <a:r>
              <a:rPr lang="en-US" dirty="0" err="1"/>
              <a:t>atıyoruz</a:t>
            </a:r>
            <a:r>
              <a:rPr lang="en-US" dirty="0"/>
              <a:t>. </a:t>
            </a:r>
            <a:r>
              <a:rPr lang="en-US" b="1" i="1" dirty="0" err="1" smtClean="0"/>
              <a:t>pkColumnName</a:t>
            </a:r>
            <a:r>
              <a:rPr lang="en-US" dirty="0"/>
              <a:t> </a:t>
            </a:r>
            <a:r>
              <a:rPr lang="en-US" dirty="0" err="1"/>
              <a:t>özelliğine</a:t>
            </a:r>
            <a:r>
              <a:rPr lang="en-US" dirty="0"/>
              <a:t> </a:t>
            </a:r>
            <a:r>
              <a:rPr lang="en-US" dirty="0" err="1"/>
              <a:t>id’nin</a:t>
            </a:r>
            <a:r>
              <a:rPr lang="en-US" dirty="0"/>
              <a:t> </a:t>
            </a:r>
            <a:r>
              <a:rPr lang="en-US" dirty="0" err="1"/>
              <a:t>adını</a:t>
            </a:r>
            <a:r>
              <a:rPr lang="en-US" dirty="0"/>
              <a:t> </a:t>
            </a:r>
            <a:r>
              <a:rPr lang="en-US" dirty="0" err="1"/>
              <a:t>tutacak</a:t>
            </a:r>
            <a:r>
              <a:rPr lang="en-US" dirty="0"/>
              <a:t> </a:t>
            </a:r>
            <a:r>
              <a:rPr lang="en-US" dirty="0" err="1"/>
              <a:t>kolonu</a:t>
            </a:r>
            <a:r>
              <a:rPr lang="en-US" dirty="0"/>
              <a:t> </a:t>
            </a:r>
            <a:r>
              <a:rPr lang="en-US" dirty="0" err="1"/>
              <a:t>atıyoruz</a:t>
            </a:r>
            <a:r>
              <a:rPr lang="en-US" dirty="0"/>
              <a:t>. </a:t>
            </a:r>
            <a:r>
              <a:rPr lang="en-US" dirty="0" err="1"/>
              <a:t>Örneğin</a:t>
            </a:r>
            <a:r>
              <a:rPr lang="en-US" dirty="0"/>
              <a:t> </a:t>
            </a:r>
            <a:r>
              <a:rPr lang="en-US" dirty="0" err="1"/>
              <a:t>IdTablosu</a:t>
            </a:r>
            <a:r>
              <a:rPr lang="en-US" dirty="0"/>
              <a:t> </a:t>
            </a:r>
            <a:r>
              <a:rPr lang="en-US" dirty="0" err="1"/>
              <a:t>içindeki</a:t>
            </a:r>
            <a:r>
              <a:rPr lang="en-US" dirty="0"/>
              <a:t> </a:t>
            </a:r>
            <a:r>
              <a:rPr lang="en-US" dirty="0" err="1"/>
              <a:t>IdTabloAdi</a:t>
            </a:r>
            <a:r>
              <a:rPr lang="en-US" dirty="0"/>
              <a:t>  </a:t>
            </a:r>
            <a:r>
              <a:rPr lang="en-US" dirty="0" err="1"/>
              <a:t>kolonu</a:t>
            </a:r>
            <a:r>
              <a:rPr lang="en-US" dirty="0"/>
              <a:t> </a:t>
            </a:r>
            <a:r>
              <a:rPr lang="en-US" dirty="0" err="1"/>
              <a:t>bizim</a:t>
            </a:r>
            <a:r>
              <a:rPr lang="en-US" dirty="0"/>
              <a:t> </a:t>
            </a:r>
            <a:r>
              <a:rPr lang="en-US" dirty="0" err="1"/>
              <a:t>id’mizin</a:t>
            </a:r>
            <a:r>
              <a:rPr lang="en-US" dirty="0"/>
              <a:t> </a:t>
            </a:r>
            <a:r>
              <a:rPr lang="en-US" dirty="0" err="1"/>
              <a:t>adını</a:t>
            </a:r>
            <a:r>
              <a:rPr lang="en-US" dirty="0"/>
              <a:t> </a:t>
            </a:r>
            <a:r>
              <a:rPr lang="en-US" dirty="0" err="1"/>
              <a:t>tutacak</a:t>
            </a:r>
            <a:r>
              <a:rPr lang="en-US" dirty="0"/>
              <a:t> </a:t>
            </a:r>
            <a:r>
              <a:rPr lang="en-US" dirty="0" err="1"/>
              <a:t>kolon</a:t>
            </a:r>
            <a:r>
              <a:rPr lang="en-US" dirty="0"/>
              <a:t>. Bu </a:t>
            </a:r>
            <a:r>
              <a:rPr lang="en-US" dirty="0" err="1"/>
              <a:t>kolon</a:t>
            </a:r>
            <a:r>
              <a:rPr lang="en-US" dirty="0"/>
              <a:t> her </a:t>
            </a:r>
            <a:r>
              <a:rPr lang="en-US" dirty="0" err="1"/>
              <a:t>bir</a:t>
            </a:r>
            <a:r>
              <a:rPr lang="en-US" dirty="0"/>
              <a:t> </a:t>
            </a:r>
            <a:r>
              <a:rPr lang="en-US" dirty="0" err="1"/>
              <a:t>tablo</a:t>
            </a:r>
            <a:r>
              <a:rPr lang="en-US" dirty="0"/>
              <a:t> </a:t>
            </a:r>
            <a:r>
              <a:rPr lang="en-US" dirty="0" err="1"/>
              <a:t>için</a:t>
            </a:r>
            <a:r>
              <a:rPr lang="en-US" dirty="0"/>
              <a:t> id </a:t>
            </a:r>
            <a:r>
              <a:rPr lang="en-US" dirty="0" err="1"/>
              <a:t>isimleri</a:t>
            </a:r>
            <a:r>
              <a:rPr lang="en-US" dirty="0"/>
              <a:t> </a:t>
            </a:r>
            <a:r>
              <a:rPr lang="en-US" dirty="0" err="1"/>
              <a:t>tutacak</a:t>
            </a:r>
            <a:r>
              <a:rPr lang="en-US" dirty="0"/>
              <a:t>.</a:t>
            </a:r>
          </a:p>
          <a:p>
            <a:pPr marL="0" indent="0">
              <a:buNone/>
            </a:pPr>
            <a:endParaRPr lang="en-US" dirty="0"/>
          </a:p>
        </p:txBody>
      </p:sp>
    </p:spTree>
    <p:extLst>
      <p:ext uri="{BB962C8B-B14F-4D97-AF65-F5344CB8AC3E}">
        <p14:creationId xmlns:p14="http://schemas.microsoft.com/office/powerpoint/2010/main" val="1774525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279400"/>
            <a:ext cx="11557000" cy="6210300"/>
          </a:xfrm>
        </p:spPr>
        <p:txBody>
          <a:bodyPr>
            <a:normAutofit fontScale="92500" lnSpcReduction="10000"/>
          </a:bodyPr>
          <a:lstStyle/>
          <a:p>
            <a:pPr fontAlgn="base"/>
            <a:r>
              <a:rPr lang="en-US" b="1" i="1" dirty="0" err="1"/>
              <a:t>pkColumnValue</a:t>
            </a:r>
            <a:r>
              <a:rPr lang="en-US" dirty="0"/>
              <a:t> </a:t>
            </a:r>
            <a:r>
              <a:rPr lang="en-US" dirty="0" err="1"/>
              <a:t>özelliğine</a:t>
            </a:r>
            <a:r>
              <a:rPr lang="en-US" dirty="0"/>
              <a:t> </a:t>
            </a:r>
            <a:r>
              <a:rPr lang="en-US" dirty="0" smtClean="0"/>
              <a:t>id </a:t>
            </a:r>
            <a:r>
              <a:rPr lang="en-US" dirty="0" err="1"/>
              <a:t>ismini</a:t>
            </a:r>
            <a:r>
              <a:rPr lang="en-US" dirty="0"/>
              <a:t> </a:t>
            </a:r>
            <a:r>
              <a:rPr lang="en-US" dirty="0" err="1" smtClean="0"/>
              <a:t>atıyoruz</a:t>
            </a:r>
            <a:r>
              <a:rPr lang="en-US" dirty="0" smtClean="0"/>
              <a:t>.</a:t>
            </a:r>
            <a:endParaRPr lang="en-US" dirty="0"/>
          </a:p>
          <a:p>
            <a:pPr fontAlgn="base"/>
            <a:r>
              <a:rPr lang="en-US" b="1" i="1" dirty="0" err="1"/>
              <a:t>valueColumnName</a:t>
            </a:r>
            <a:r>
              <a:rPr lang="en-US" dirty="0"/>
              <a:t> </a:t>
            </a:r>
            <a:r>
              <a:rPr lang="en-US" dirty="0" err="1"/>
              <a:t>özelliğine</a:t>
            </a:r>
            <a:r>
              <a:rPr lang="en-US" dirty="0"/>
              <a:t> de </a:t>
            </a:r>
            <a:r>
              <a:rPr lang="en-US" dirty="0" err="1"/>
              <a:t>id’nin</a:t>
            </a:r>
            <a:r>
              <a:rPr lang="en-US" dirty="0"/>
              <a:t> </a:t>
            </a:r>
            <a:r>
              <a:rPr lang="en-US" dirty="0" err="1"/>
              <a:t>kendisini</a:t>
            </a:r>
            <a:r>
              <a:rPr lang="en-US" dirty="0"/>
              <a:t> </a:t>
            </a:r>
            <a:r>
              <a:rPr lang="en-US" dirty="0" err="1"/>
              <a:t>tutan</a:t>
            </a:r>
            <a:r>
              <a:rPr lang="en-US" dirty="0"/>
              <a:t> </a:t>
            </a:r>
            <a:r>
              <a:rPr lang="en-US" dirty="0" err="1"/>
              <a:t>kolonu</a:t>
            </a:r>
            <a:r>
              <a:rPr lang="en-US" dirty="0"/>
              <a:t> </a:t>
            </a:r>
            <a:r>
              <a:rPr lang="en-US" dirty="0" err="1" smtClean="0"/>
              <a:t>atıyoruz</a:t>
            </a:r>
            <a:r>
              <a:rPr lang="tr-TR" dirty="0" smtClean="0"/>
              <a:t>. </a:t>
            </a:r>
            <a:r>
              <a:rPr lang="en-US" dirty="0" err="1" smtClean="0"/>
              <a:t>IdTablosu</a:t>
            </a:r>
            <a:r>
              <a:rPr lang="en-US" dirty="0" smtClean="0"/>
              <a:t> </a:t>
            </a:r>
            <a:r>
              <a:rPr lang="en-US" dirty="0" err="1"/>
              <a:t>içinde</a:t>
            </a:r>
            <a:r>
              <a:rPr lang="en-US" dirty="0"/>
              <a:t> </a:t>
            </a:r>
            <a:r>
              <a:rPr lang="en-US" dirty="0" err="1"/>
              <a:t>IdDegeri</a:t>
            </a:r>
            <a:r>
              <a:rPr lang="en-US" dirty="0"/>
              <a:t> </a:t>
            </a:r>
            <a:r>
              <a:rPr lang="en-US" dirty="0" err="1"/>
              <a:t>kolonu</a:t>
            </a:r>
            <a:r>
              <a:rPr lang="en-US" dirty="0"/>
              <a:t> </a:t>
            </a:r>
            <a:r>
              <a:rPr lang="en-US" dirty="0" err="1"/>
              <a:t>bizim</a:t>
            </a:r>
            <a:r>
              <a:rPr lang="en-US" dirty="0"/>
              <a:t> </a:t>
            </a:r>
            <a:r>
              <a:rPr lang="en-US" dirty="0" err="1" smtClean="0"/>
              <a:t>id’ler</a:t>
            </a:r>
            <a:r>
              <a:rPr lang="tr-TR" dirty="0" smtClean="0"/>
              <a:t>imizi</a:t>
            </a:r>
            <a:r>
              <a:rPr lang="en-US" dirty="0" smtClean="0"/>
              <a:t> </a:t>
            </a:r>
            <a:r>
              <a:rPr lang="en-US" dirty="0" err="1"/>
              <a:t>tutacak</a:t>
            </a:r>
            <a:r>
              <a:rPr lang="en-US" dirty="0"/>
              <a:t>.</a:t>
            </a:r>
          </a:p>
          <a:p>
            <a:pPr fontAlgn="base"/>
            <a:r>
              <a:rPr lang="en-US" b="1" i="1" dirty="0" err="1"/>
              <a:t>allocationSize</a:t>
            </a:r>
            <a:r>
              <a:rPr lang="en-US" dirty="0"/>
              <a:t> </a:t>
            </a:r>
            <a:r>
              <a:rPr lang="en-US" dirty="0" err="1"/>
              <a:t>ile</a:t>
            </a:r>
            <a:r>
              <a:rPr lang="en-US" dirty="0"/>
              <a:t> her </a:t>
            </a:r>
            <a:r>
              <a:rPr lang="en-US" dirty="0" err="1"/>
              <a:t>gelen</a:t>
            </a:r>
            <a:r>
              <a:rPr lang="en-US" dirty="0"/>
              <a:t> </a:t>
            </a:r>
            <a:r>
              <a:rPr lang="en-US" dirty="0" err="1"/>
              <a:t>kayıtta</a:t>
            </a:r>
            <a:r>
              <a:rPr lang="en-US" dirty="0"/>
              <a:t> id </a:t>
            </a:r>
            <a:r>
              <a:rPr lang="en-US" dirty="0" err="1"/>
              <a:t>kaç</a:t>
            </a:r>
            <a:r>
              <a:rPr lang="en-US" dirty="0"/>
              <a:t> </a:t>
            </a:r>
            <a:r>
              <a:rPr lang="en-US" dirty="0" err="1"/>
              <a:t>kaç</a:t>
            </a:r>
            <a:r>
              <a:rPr lang="en-US" dirty="0"/>
              <a:t> </a:t>
            </a:r>
            <a:r>
              <a:rPr lang="en-US" dirty="0" err="1"/>
              <a:t>artsın</a:t>
            </a:r>
            <a:r>
              <a:rPr lang="en-US" dirty="0"/>
              <a:t> </a:t>
            </a:r>
            <a:r>
              <a:rPr lang="en-US" dirty="0" err="1"/>
              <a:t>diye</a:t>
            </a:r>
            <a:r>
              <a:rPr lang="en-US" dirty="0"/>
              <a:t> </a:t>
            </a:r>
            <a:r>
              <a:rPr lang="en-US" dirty="0" err="1"/>
              <a:t>belirtiyoruz</a:t>
            </a:r>
            <a:r>
              <a:rPr lang="en-US" dirty="0"/>
              <a:t>. Bu </a:t>
            </a:r>
            <a:r>
              <a:rPr lang="en-US" dirty="0" err="1"/>
              <a:t>örnekte</a:t>
            </a:r>
            <a:r>
              <a:rPr lang="en-US" dirty="0"/>
              <a:t> </a:t>
            </a:r>
            <a:r>
              <a:rPr lang="en-US" dirty="0" err="1"/>
              <a:t>bir</a:t>
            </a:r>
            <a:r>
              <a:rPr lang="en-US" dirty="0"/>
              <a:t> </a:t>
            </a:r>
            <a:r>
              <a:rPr lang="en-US" dirty="0" err="1"/>
              <a:t>bir</a:t>
            </a:r>
            <a:r>
              <a:rPr lang="en-US" dirty="0"/>
              <a:t> </a:t>
            </a:r>
            <a:r>
              <a:rPr lang="en-US" dirty="0" err="1"/>
              <a:t>artacağını</a:t>
            </a:r>
            <a:r>
              <a:rPr lang="en-US" dirty="0"/>
              <a:t> </a:t>
            </a:r>
            <a:r>
              <a:rPr lang="en-US" dirty="0" err="1"/>
              <a:t>belirtiyoruz</a:t>
            </a:r>
            <a:r>
              <a:rPr lang="en-US" dirty="0"/>
              <a:t>. </a:t>
            </a:r>
            <a:r>
              <a:rPr lang="en-US" dirty="0" err="1"/>
              <a:t>Eğer</a:t>
            </a:r>
            <a:r>
              <a:rPr lang="en-US" dirty="0"/>
              <a:t> </a:t>
            </a:r>
            <a:r>
              <a:rPr lang="en-US" dirty="0" err="1"/>
              <a:t>atama</a:t>
            </a:r>
            <a:r>
              <a:rPr lang="en-US" dirty="0"/>
              <a:t> </a:t>
            </a:r>
            <a:r>
              <a:rPr lang="en-US" dirty="0" err="1"/>
              <a:t>yapılmazsa</a:t>
            </a:r>
            <a:r>
              <a:rPr lang="en-US" dirty="0"/>
              <a:t> JPA 50 </a:t>
            </a:r>
            <a:r>
              <a:rPr lang="en-US" dirty="0" err="1"/>
              <a:t>arttırıyor</a:t>
            </a:r>
            <a:r>
              <a:rPr lang="en-US" dirty="0" smtClean="0"/>
              <a:t>.</a:t>
            </a:r>
            <a:endParaRPr lang="tr-TR" dirty="0" smtClean="0"/>
          </a:p>
          <a:p>
            <a:pPr marL="0" indent="0" fontAlgn="base">
              <a:buNone/>
            </a:pPr>
            <a:r>
              <a:rPr lang="tr-TR" b="1" dirty="0" smtClean="0"/>
              <a:t>Örnek:</a:t>
            </a:r>
          </a:p>
          <a:p>
            <a:pPr marL="0" indent="0" fontAlgn="base">
              <a:buNone/>
            </a:pPr>
            <a:r>
              <a:rPr lang="en-US" b="1" dirty="0"/>
              <a:t>@Id</a:t>
            </a:r>
          </a:p>
          <a:p>
            <a:pPr marL="0" indent="0" fontAlgn="base">
              <a:buNone/>
            </a:pPr>
            <a:r>
              <a:rPr lang="en-US" b="1" dirty="0" smtClean="0"/>
              <a:t>@</a:t>
            </a:r>
            <a:r>
              <a:rPr lang="en-US" b="1" dirty="0" err="1"/>
              <a:t>TableGenerator</a:t>
            </a:r>
            <a:r>
              <a:rPr lang="en-US" b="1" dirty="0"/>
              <a:t>(name </a:t>
            </a:r>
            <a:r>
              <a:rPr lang="en-US" dirty="0"/>
              <a:t>= "TABLE </a:t>
            </a:r>
            <a:r>
              <a:rPr lang="en-US" dirty="0" err="1"/>
              <a:t>GENERATOR",table</a:t>
            </a:r>
            <a:r>
              <a:rPr lang="en-US" dirty="0"/>
              <a:t> = "</a:t>
            </a:r>
            <a:r>
              <a:rPr lang="en-US" dirty="0" err="1"/>
              <a:t>IdTablosu</a:t>
            </a:r>
            <a:r>
              <a:rPr lang="en-US" dirty="0"/>
              <a:t>",</a:t>
            </a:r>
            <a:r>
              <a:rPr lang="en-US" dirty="0" err="1"/>
              <a:t>pkColumnName</a:t>
            </a:r>
            <a:r>
              <a:rPr lang="en-US" dirty="0"/>
              <a:t> = "</a:t>
            </a:r>
            <a:r>
              <a:rPr lang="en-US" dirty="0" err="1"/>
              <a:t>IdTabloAdi</a:t>
            </a:r>
            <a:r>
              <a:rPr lang="en-US" dirty="0"/>
              <a:t>",</a:t>
            </a:r>
          </a:p>
          <a:p>
            <a:pPr marL="0" indent="0" fontAlgn="base">
              <a:buNone/>
            </a:pPr>
            <a:r>
              <a:rPr lang="en-US" dirty="0"/>
              <a:t> </a:t>
            </a:r>
            <a:r>
              <a:rPr lang="en-US" dirty="0" err="1"/>
              <a:t>pkColumnValue</a:t>
            </a:r>
            <a:r>
              <a:rPr lang="en-US" dirty="0"/>
              <a:t> = "</a:t>
            </a:r>
            <a:r>
              <a:rPr lang="en-US" dirty="0" err="1"/>
              <a:t>kisiId</a:t>
            </a:r>
            <a:r>
              <a:rPr lang="en-US" dirty="0"/>
              <a:t>",</a:t>
            </a:r>
            <a:r>
              <a:rPr lang="en-US" dirty="0" err="1"/>
              <a:t>valueColumnName</a:t>
            </a:r>
            <a:r>
              <a:rPr lang="en-US" dirty="0"/>
              <a:t> = "</a:t>
            </a:r>
            <a:r>
              <a:rPr lang="en-US" dirty="0" err="1"/>
              <a:t>IdDegeri</a:t>
            </a:r>
            <a:r>
              <a:rPr lang="en-US" dirty="0"/>
              <a:t>",</a:t>
            </a:r>
            <a:r>
              <a:rPr lang="en-US" dirty="0" err="1"/>
              <a:t>allocationSize</a:t>
            </a:r>
            <a:r>
              <a:rPr lang="en-US" dirty="0"/>
              <a:t> = 1)</a:t>
            </a:r>
          </a:p>
          <a:p>
            <a:pPr marL="0" indent="0" fontAlgn="base">
              <a:buNone/>
            </a:pPr>
            <a:r>
              <a:rPr lang="en-US" b="1" dirty="0" smtClean="0"/>
              <a:t>@</a:t>
            </a:r>
            <a:r>
              <a:rPr lang="en-US" b="1" dirty="0" err="1"/>
              <a:t>GeneratedValue</a:t>
            </a:r>
            <a:r>
              <a:rPr lang="en-US" b="1" dirty="0"/>
              <a:t>(strategy </a:t>
            </a:r>
            <a:r>
              <a:rPr lang="en-US" dirty="0"/>
              <a:t>= </a:t>
            </a:r>
            <a:r>
              <a:rPr lang="en-US" dirty="0" err="1"/>
              <a:t>GenerationType.TABLE,generator</a:t>
            </a:r>
            <a:r>
              <a:rPr lang="en-US" dirty="0"/>
              <a:t> = "TABLE GENERATOR")</a:t>
            </a:r>
          </a:p>
          <a:p>
            <a:pPr marL="0" indent="0" fontAlgn="base">
              <a:buNone/>
            </a:pPr>
            <a:r>
              <a:rPr lang="en-US" dirty="0"/>
              <a:t> private Integer id</a:t>
            </a:r>
            <a:r>
              <a:rPr lang="en-US" dirty="0" smtClean="0"/>
              <a:t>;</a:t>
            </a:r>
            <a:endParaRPr lang="tr-TR" dirty="0" smtClean="0"/>
          </a:p>
          <a:p>
            <a:pPr marL="0" indent="0" fontAlgn="base">
              <a:buNone/>
            </a:pPr>
            <a:r>
              <a:rPr lang="en-US" dirty="0"/>
              <a:t> </a:t>
            </a:r>
            <a:r>
              <a:rPr lang="en-US" b="1" dirty="0"/>
              <a:t>@</a:t>
            </a:r>
            <a:r>
              <a:rPr lang="en-US" b="1" dirty="0" err="1"/>
              <a:t>TableGenerator</a:t>
            </a:r>
            <a:r>
              <a:rPr lang="en-US" b="1" dirty="0"/>
              <a:t> </a:t>
            </a:r>
            <a:r>
              <a:rPr lang="tr-TR" dirty="0" smtClean="0"/>
              <a:t>annotation da </a:t>
            </a:r>
            <a:r>
              <a:rPr lang="en-US" dirty="0" err="1" smtClean="0"/>
              <a:t>verdiğimiz</a:t>
            </a:r>
            <a:r>
              <a:rPr lang="en-US" dirty="0" smtClean="0"/>
              <a:t> </a:t>
            </a:r>
            <a:r>
              <a:rPr lang="en-US" dirty="0"/>
              <a:t>name </a:t>
            </a:r>
            <a:r>
              <a:rPr lang="en-US" dirty="0" err="1"/>
              <a:t>özelliğini</a:t>
            </a:r>
            <a:r>
              <a:rPr lang="en-US" dirty="0"/>
              <a:t> </a:t>
            </a:r>
            <a:r>
              <a:rPr lang="en-US" b="1" dirty="0"/>
              <a:t>@</a:t>
            </a:r>
            <a:r>
              <a:rPr lang="en-US" b="1" dirty="0" err="1"/>
              <a:t>GeneratedValue</a:t>
            </a:r>
            <a:r>
              <a:rPr lang="en-US" b="1" dirty="0"/>
              <a:t> </a:t>
            </a:r>
            <a:r>
              <a:rPr lang="tr-TR" dirty="0" smtClean="0"/>
              <a:t>annotation ın </a:t>
            </a:r>
            <a:r>
              <a:rPr lang="en-US" b="1" dirty="0" smtClean="0"/>
              <a:t>generator</a:t>
            </a:r>
            <a:r>
              <a:rPr lang="en-US" dirty="0" smtClean="0"/>
              <a:t> </a:t>
            </a:r>
            <a:r>
              <a:rPr lang="en-US" dirty="0" err="1"/>
              <a:t>özelliğine</a:t>
            </a:r>
            <a:r>
              <a:rPr lang="en-US" dirty="0"/>
              <a:t> </a:t>
            </a:r>
            <a:r>
              <a:rPr lang="en-US" dirty="0" err="1"/>
              <a:t>atamamız</a:t>
            </a:r>
            <a:r>
              <a:rPr lang="en-US" dirty="0"/>
              <a:t> </a:t>
            </a:r>
            <a:r>
              <a:rPr lang="en-US" dirty="0" err="1" smtClean="0"/>
              <a:t>gerek</a:t>
            </a:r>
            <a:r>
              <a:rPr lang="tr-TR" dirty="0" smtClean="0"/>
              <a:t>lidir.</a:t>
            </a:r>
            <a:endParaRPr lang="en-US" dirty="0"/>
          </a:p>
          <a:p>
            <a:pPr fontAlgn="base"/>
            <a:endParaRPr lang="en-US" dirty="0"/>
          </a:p>
          <a:p>
            <a:endParaRPr lang="en-US" dirty="0"/>
          </a:p>
        </p:txBody>
      </p:sp>
    </p:spTree>
    <p:extLst>
      <p:ext uri="{BB962C8B-B14F-4D97-AF65-F5344CB8AC3E}">
        <p14:creationId xmlns:p14="http://schemas.microsoft.com/office/powerpoint/2010/main" val="2637565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41300"/>
            <a:ext cx="11277600" cy="6248400"/>
          </a:xfrm>
        </p:spPr>
        <p:txBody>
          <a:bodyPr>
            <a:normAutofit fontScale="92500"/>
          </a:bodyPr>
          <a:lstStyle/>
          <a:p>
            <a:pPr marL="0" indent="0" fontAlgn="base">
              <a:buNone/>
            </a:pPr>
            <a:r>
              <a:rPr lang="en-US" b="1" dirty="0"/>
              <a:t>Auto</a:t>
            </a:r>
            <a:endParaRPr lang="en-US" dirty="0"/>
          </a:p>
          <a:p>
            <a:pPr marL="0" indent="0" fontAlgn="base">
              <a:buNone/>
            </a:pPr>
            <a:r>
              <a:rPr lang="en-US" b="1" dirty="0"/>
              <a:t>Auto</a:t>
            </a:r>
            <a:r>
              <a:rPr lang="en-US" dirty="0"/>
              <a:t> </a:t>
            </a:r>
            <a:r>
              <a:rPr lang="en-US" dirty="0" err="1"/>
              <a:t>ile</a:t>
            </a:r>
            <a:r>
              <a:rPr lang="en-US" dirty="0"/>
              <a:t> Id </a:t>
            </a:r>
            <a:r>
              <a:rPr lang="en-US" dirty="0" err="1"/>
              <a:t>genelleştime</a:t>
            </a:r>
            <a:r>
              <a:rPr lang="en-US" dirty="0"/>
              <a:t> </a:t>
            </a:r>
            <a:r>
              <a:rPr lang="en-US" dirty="0" err="1"/>
              <a:t>işlemini</a:t>
            </a:r>
            <a:r>
              <a:rPr lang="en-US" dirty="0"/>
              <a:t> </a:t>
            </a:r>
            <a:r>
              <a:rPr lang="en-US" b="1" dirty="0" err="1"/>
              <a:t>JPA’ya</a:t>
            </a:r>
            <a:r>
              <a:rPr lang="en-US" dirty="0"/>
              <a:t> </a:t>
            </a:r>
            <a:r>
              <a:rPr lang="en-US" dirty="0" err="1"/>
              <a:t>bırakıyoruz</a:t>
            </a:r>
            <a:r>
              <a:rPr lang="en-US" dirty="0"/>
              <a:t> </a:t>
            </a:r>
            <a:r>
              <a:rPr lang="en-US" dirty="0" err="1"/>
              <a:t>ve</a:t>
            </a:r>
            <a:r>
              <a:rPr lang="en-US" dirty="0"/>
              <a:t> </a:t>
            </a:r>
            <a:r>
              <a:rPr lang="en-US" dirty="0" smtClean="0"/>
              <a:t>3 </a:t>
            </a:r>
            <a:r>
              <a:rPr lang="en-US" dirty="0" err="1"/>
              <a:t>notasyondan</a:t>
            </a:r>
            <a:r>
              <a:rPr lang="en-US" dirty="0"/>
              <a:t> </a:t>
            </a:r>
            <a:r>
              <a:rPr lang="en-US" dirty="0" err="1"/>
              <a:t>birini</a:t>
            </a:r>
            <a:r>
              <a:rPr lang="en-US" dirty="0"/>
              <a:t> </a:t>
            </a:r>
            <a:r>
              <a:rPr lang="en-US" b="1" dirty="0"/>
              <a:t>JPA</a:t>
            </a:r>
            <a:r>
              <a:rPr lang="en-US" dirty="0"/>
              <a:t> </a:t>
            </a:r>
            <a:r>
              <a:rPr lang="en-US" dirty="0" err="1"/>
              <a:t>otomatik</a:t>
            </a:r>
            <a:r>
              <a:rPr lang="en-US" dirty="0"/>
              <a:t> </a:t>
            </a:r>
            <a:r>
              <a:rPr lang="en-US" dirty="0" err="1"/>
              <a:t>olarak</a:t>
            </a:r>
            <a:r>
              <a:rPr lang="en-US" dirty="0"/>
              <a:t> </a:t>
            </a:r>
            <a:r>
              <a:rPr lang="en-US" dirty="0" err="1"/>
              <a:t>seçiyor</a:t>
            </a:r>
            <a:r>
              <a:rPr lang="en-US" dirty="0"/>
              <a:t> </a:t>
            </a:r>
            <a:r>
              <a:rPr lang="en-US" dirty="0" err="1"/>
              <a:t>arkadaşlar</a:t>
            </a:r>
            <a:r>
              <a:rPr lang="en-US" dirty="0"/>
              <a:t>. </a:t>
            </a:r>
            <a:r>
              <a:rPr lang="en-US" dirty="0" err="1"/>
              <a:t>Hiçbir</a:t>
            </a:r>
            <a:r>
              <a:rPr lang="en-US" dirty="0"/>
              <a:t> </a:t>
            </a:r>
            <a:r>
              <a:rPr lang="en-US" b="1" dirty="0"/>
              <a:t>Id</a:t>
            </a:r>
            <a:r>
              <a:rPr lang="en-US" dirty="0"/>
              <a:t> </a:t>
            </a:r>
            <a:r>
              <a:rPr lang="en-US" dirty="0" err="1"/>
              <a:t>genelleştirme</a:t>
            </a:r>
            <a:r>
              <a:rPr lang="en-US" dirty="0"/>
              <a:t> </a:t>
            </a:r>
            <a:r>
              <a:rPr lang="en-US" dirty="0" err="1"/>
              <a:t>yöntemi</a:t>
            </a:r>
            <a:r>
              <a:rPr lang="en-US" dirty="0"/>
              <a:t> </a:t>
            </a:r>
            <a:r>
              <a:rPr lang="en-US" dirty="0" err="1"/>
              <a:t>tanımlamasak</a:t>
            </a:r>
            <a:r>
              <a:rPr lang="en-US" dirty="0"/>
              <a:t> </a:t>
            </a:r>
            <a:r>
              <a:rPr lang="en-US" b="1" dirty="0"/>
              <a:t>AUTO</a:t>
            </a:r>
            <a:r>
              <a:rPr lang="en-US" dirty="0"/>
              <a:t> </a:t>
            </a:r>
            <a:r>
              <a:rPr lang="en-US" dirty="0" err="1"/>
              <a:t>modu</a:t>
            </a:r>
            <a:r>
              <a:rPr lang="en-US" dirty="0"/>
              <a:t> </a:t>
            </a:r>
            <a:r>
              <a:rPr lang="en-US" dirty="0" err="1"/>
              <a:t>atanıyor</a:t>
            </a:r>
            <a:r>
              <a:rPr lang="en-US" dirty="0"/>
              <a:t> Id </a:t>
            </a:r>
            <a:r>
              <a:rPr lang="tr-TR" dirty="0" smtClean="0"/>
              <a:t>genelleştirmek için</a:t>
            </a:r>
            <a:r>
              <a:rPr lang="en-US" dirty="0" smtClean="0"/>
              <a:t>. </a:t>
            </a:r>
            <a:r>
              <a:rPr lang="en-US" dirty="0"/>
              <a:t> </a:t>
            </a:r>
            <a:r>
              <a:rPr lang="tr-TR" dirty="0" err="1"/>
              <a:t>B</a:t>
            </a:r>
            <a:r>
              <a:rPr lang="en-US" dirty="0" smtClean="0"/>
              <a:t>u </a:t>
            </a:r>
            <a:r>
              <a:rPr lang="en-US" dirty="0" err="1"/>
              <a:t>atama</a:t>
            </a:r>
            <a:r>
              <a:rPr lang="en-US" dirty="0"/>
              <a:t> </a:t>
            </a:r>
            <a:r>
              <a:rPr lang="en-US" dirty="0" err="1"/>
              <a:t>işlemi</a:t>
            </a:r>
            <a:r>
              <a:rPr lang="en-US" dirty="0"/>
              <a:t> </a:t>
            </a:r>
            <a:r>
              <a:rPr lang="en-US" dirty="0" err="1"/>
              <a:t>yapılırken</a:t>
            </a:r>
            <a:r>
              <a:rPr lang="en-US" dirty="0"/>
              <a:t> </a:t>
            </a:r>
            <a:r>
              <a:rPr lang="en-US" dirty="0" err="1"/>
              <a:t>veritabanınızın</a:t>
            </a:r>
            <a:r>
              <a:rPr lang="en-US" dirty="0"/>
              <a:t> ne </a:t>
            </a:r>
            <a:r>
              <a:rPr lang="en-US" dirty="0" err="1"/>
              <a:t>olduğu</a:t>
            </a:r>
            <a:r>
              <a:rPr lang="en-US" dirty="0"/>
              <a:t> </a:t>
            </a:r>
            <a:r>
              <a:rPr lang="en-US" dirty="0" err="1"/>
              <a:t>incelenip</a:t>
            </a:r>
            <a:r>
              <a:rPr lang="en-US" dirty="0"/>
              <a:t> </a:t>
            </a:r>
            <a:r>
              <a:rPr lang="en-US" dirty="0" err="1"/>
              <a:t>ona</a:t>
            </a:r>
            <a:r>
              <a:rPr lang="en-US" dirty="0"/>
              <a:t> en </a:t>
            </a:r>
            <a:r>
              <a:rPr lang="en-US" dirty="0" err="1"/>
              <a:t>uygun</a:t>
            </a:r>
            <a:r>
              <a:rPr lang="en-US" dirty="0"/>
              <a:t> </a:t>
            </a:r>
            <a:r>
              <a:rPr lang="en-US" dirty="0" err="1"/>
              <a:t>atama</a:t>
            </a:r>
            <a:r>
              <a:rPr lang="en-US" dirty="0"/>
              <a:t> </a:t>
            </a:r>
            <a:r>
              <a:rPr lang="en-US" dirty="0" err="1"/>
              <a:t>yapılıyor</a:t>
            </a:r>
            <a:r>
              <a:rPr lang="en-US" dirty="0"/>
              <a:t>. </a:t>
            </a:r>
            <a:r>
              <a:rPr lang="en-US" dirty="0" err="1"/>
              <a:t>Tek</a:t>
            </a:r>
            <a:r>
              <a:rPr lang="en-US" dirty="0"/>
              <a:t> </a:t>
            </a:r>
            <a:r>
              <a:rPr lang="en-US" dirty="0" err="1"/>
              <a:t>yapmamız</a:t>
            </a:r>
            <a:r>
              <a:rPr lang="en-US" dirty="0"/>
              <a:t> </a:t>
            </a:r>
            <a:r>
              <a:rPr lang="en-US" dirty="0" err="1"/>
              <a:t>gereken</a:t>
            </a:r>
            <a:r>
              <a:rPr lang="en-US" dirty="0"/>
              <a:t> </a:t>
            </a:r>
            <a:r>
              <a:rPr lang="en-US" dirty="0" err="1"/>
              <a:t>şu</a:t>
            </a:r>
            <a:r>
              <a:rPr lang="en-US" dirty="0" smtClean="0"/>
              <a:t>:</a:t>
            </a:r>
            <a:r>
              <a:rPr lang="tr-TR" dirty="0" smtClean="0"/>
              <a:t> </a:t>
            </a:r>
            <a:r>
              <a:rPr lang="en-US" b="1" dirty="0"/>
              <a:t>@</a:t>
            </a:r>
            <a:r>
              <a:rPr lang="en-US" b="1" dirty="0" err="1"/>
              <a:t>GeneratedValue</a:t>
            </a:r>
            <a:r>
              <a:rPr lang="en-US" b="1" dirty="0"/>
              <a:t>(strategy = </a:t>
            </a:r>
            <a:r>
              <a:rPr lang="en-US" b="1" dirty="0" err="1"/>
              <a:t>GenerationType.AUTO</a:t>
            </a:r>
            <a:r>
              <a:rPr lang="en-US" b="1" dirty="0" smtClean="0"/>
              <a:t>)</a:t>
            </a:r>
            <a:endParaRPr lang="tr-TR" b="1" dirty="0" smtClean="0"/>
          </a:p>
          <a:p>
            <a:pPr marL="0" indent="0" fontAlgn="base">
              <a:buNone/>
            </a:pPr>
            <a:endParaRPr lang="tr-TR" b="1" dirty="0"/>
          </a:p>
          <a:p>
            <a:pPr marL="0" indent="0" fontAlgn="base">
              <a:buNone/>
            </a:pPr>
            <a:r>
              <a:rPr lang="tr-TR" b="1" dirty="0" smtClean="0"/>
              <a:t>İlişkisel veritabanlarında tablolar arası ilişkiler 2 şekilde tasarlanır. </a:t>
            </a:r>
          </a:p>
          <a:p>
            <a:pPr marL="0" indent="0" fontAlgn="base">
              <a:buNone/>
            </a:pPr>
            <a:r>
              <a:rPr lang="tr-TR" b="1" dirty="0" smtClean="0"/>
              <a:t>Katılım Sütunu</a:t>
            </a:r>
          </a:p>
          <a:p>
            <a:pPr marL="0" indent="0" fontAlgn="base">
              <a:buNone/>
            </a:pPr>
            <a:r>
              <a:rPr lang="tr-TR" b="1" dirty="0" smtClean="0"/>
              <a:t>Katılım Tablosu</a:t>
            </a:r>
          </a:p>
          <a:p>
            <a:pPr marL="0" indent="0" fontAlgn="base">
              <a:buNone/>
            </a:pPr>
            <a:r>
              <a:rPr lang="tr-TR" b="1" dirty="0" smtClean="0"/>
              <a:t>Katılım Sütunu : Katılım Sütunu (join column ) </a:t>
            </a:r>
            <a:r>
              <a:rPr lang="tr-TR" dirty="0" smtClean="0"/>
              <a:t>ile tablolar arası ilişki oluşturmada hakim tablonun birincil anahtarı, hakim tablo ile ilişki oluşturacak diğer ilişkili yan tablonun yabancı anahtar sütununda tanımlanması ile oluşturulmaktadır. Doktorlar tablosunda bransID ile branslar tablosundaki Id kolonundaki ilişki örnek olarak gösterilebilir. </a:t>
            </a:r>
            <a:endParaRPr lang="en-US" dirty="0"/>
          </a:p>
          <a:p>
            <a:endParaRPr lang="en-US" dirty="0"/>
          </a:p>
        </p:txBody>
      </p:sp>
    </p:spTree>
    <p:extLst>
      <p:ext uri="{BB962C8B-B14F-4D97-AF65-F5344CB8AC3E}">
        <p14:creationId xmlns:p14="http://schemas.microsoft.com/office/powerpoint/2010/main" val="397881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500" y="355600"/>
            <a:ext cx="11303000" cy="6083300"/>
          </a:xfrm>
        </p:spPr>
        <p:txBody>
          <a:bodyPr>
            <a:normAutofit fontScale="92500" lnSpcReduction="10000"/>
          </a:bodyPr>
          <a:lstStyle/>
          <a:p>
            <a:pPr marL="0" indent="0">
              <a:buNone/>
            </a:pPr>
            <a:r>
              <a:rPr lang="tr-TR" b="1" dirty="0" smtClean="0"/>
              <a:t>Kalıtım Tablosu :</a:t>
            </a:r>
            <a:r>
              <a:rPr lang="tr-TR" dirty="0" smtClean="0"/>
              <a:t/>
            </a:r>
            <a:br>
              <a:rPr lang="tr-TR" dirty="0" smtClean="0"/>
            </a:br>
            <a:r>
              <a:rPr lang="tr-TR" dirty="0" smtClean="0"/>
              <a:t>Aday iki tablonun birincil anahtarlarının bir katılım tablosunda eşleştirilmeleri ile ilgili ilişki sağlamaktır. Ara tablo da denilmektedir. </a:t>
            </a:r>
          </a:p>
          <a:p>
            <a:pPr marL="0" indent="0">
              <a:buNone/>
            </a:pPr>
            <a:r>
              <a:rPr lang="tr-TR" b="1" dirty="0" smtClean="0"/>
              <a:t>Entity-ler arası İlişkiler:</a:t>
            </a:r>
            <a:r>
              <a:rPr lang="tr-TR" dirty="0" smtClean="0"/>
              <a:t/>
            </a:r>
            <a:br>
              <a:rPr lang="tr-TR" dirty="0" smtClean="0"/>
            </a:br>
            <a:r>
              <a:rPr lang="tr-TR" b="1" dirty="0" smtClean="0"/>
              <a:t>JPA</a:t>
            </a:r>
            <a:r>
              <a:rPr lang="tr-TR" dirty="0" smtClean="0"/>
              <a:t> ilişkisel veritabanı yapısındakine benzer bir şekilde </a:t>
            </a:r>
            <a:r>
              <a:rPr lang="tr-TR" b="1" dirty="0" smtClean="0"/>
              <a:t>Entity</a:t>
            </a:r>
            <a:r>
              <a:rPr lang="tr-TR" dirty="0" smtClean="0"/>
              <a:t> sınıflarını haritalamak üzere çeşitli yapılandırıcılar sağlamaktadır. </a:t>
            </a:r>
            <a:r>
              <a:rPr lang="tr-TR" b="1" dirty="0" smtClean="0"/>
              <a:t>Entiy</a:t>
            </a:r>
            <a:r>
              <a:rPr lang="tr-TR" dirty="0" smtClean="0"/>
              <a:t> sınıfları arasındaki ilişkinin yönü veritabanı </a:t>
            </a:r>
            <a:r>
              <a:rPr lang="tr-TR" b="1" dirty="0" smtClean="0"/>
              <a:t>Tek yönlü Sahiplik:</a:t>
            </a:r>
            <a:r>
              <a:rPr lang="tr-TR" dirty="0"/>
              <a:t>tablo yapısında bir değişikliğe sebebiyet vermez. Sadece Entity sınıfları arasıdaki erişimin yönünü belirler. </a:t>
            </a:r>
          </a:p>
          <a:p>
            <a:pPr marL="0" indent="0">
              <a:buNone/>
            </a:pPr>
            <a:r>
              <a:rPr lang="tr-TR" dirty="0" smtClean="0"/>
              <a:t/>
            </a:r>
            <a:br>
              <a:rPr lang="tr-TR" dirty="0" smtClean="0"/>
            </a:br>
            <a:r>
              <a:rPr lang="tr-TR" dirty="0" smtClean="0"/>
              <a:t>İki </a:t>
            </a:r>
            <a:r>
              <a:rPr lang="tr-TR" b="1" dirty="0" smtClean="0"/>
              <a:t>Entity</a:t>
            </a:r>
            <a:r>
              <a:rPr lang="tr-TR" dirty="0" smtClean="0"/>
              <a:t> sınıfı içinde sadece bir tanesi diğer Entity sınıfının referansını içermektedir. Diğer sınıfının referansını içeren </a:t>
            </a:r>
            <a:r>
              <a:rPr lang="tr-TR" b="1" dirty="0" smtClean="0"/>
              <a:t>Entity</a:t>
            </a:r>
            <a:r>
              <a:rPr lang="tr-TR" dirty="0" smtClean="0"/>
              <a:t> sınıfına hakim taraf denilir. </a:t>
            </a:r>
          </a:p>
          <a:p>
            <a:pPr marL="0" indent="0">
              <a:buNone/>
            </a:pPr>
            <a:r>
              <a:rPr lang="tr-TR" b="1" dirty="0" smtClean="0"/>
              <a:t>Çift Yönlü Sahiplik :</a:t>
            </a:r>
            <a:r>
              <a:rPr lang="tr-TR" dirty="0" smtClean="0"/>
              <a:t/>
            </a:r>
            <a:br>
              <a:rPr lang="tr-TR" dirty="0" smtClean="0"/>
            </a:br>
            <a:r>
              <a:rPr lang="tr-TR" dirty="0" smtClean="0"/>
              <a:t>İki </a:t>
            </a:r>
            <a:r>
              <a:rPr lang="tr-TR" b="1" dirty="0" smtClean="0"/>
              <a:t>Entity</a:t>
            </a:r>
            <a:r>
              <a:rPr lang="tr-TR" dirty="0" smtClean="0"/>
              <a:t> sınıfı kendi global alanlarında karşılıklı olarak birbirlerinin referanslarını bulundururlar. Örneğin </a:t>
            </a:r>
            <a:r>
              <a:rPr lang="tr-TR" b="1" dirty="0" smtClean="0"/>
              <a:t>Musteri</a:t>
            </a:r>
            <a:r>
              <a:rPr lang="tr-TR" dirty="0" smtClean="0"/>
              <a:t> ve </a:t>
            </a:r>
            <a:r>
              <a:rPr lang="tr-TR" b="1" dirty="0" smtClean="0"/>
              <a:t>Adres</a:t>
            </a:r>
            <a:r>
              <a:rPr lang="tr-TR" dirty="0" smtClean="0"/>
              <a:t> tablolarında herhangi bir müşterinin adresini tutabileceğimiz bir kolon belirleyebiliriz. Aynı şekilde adres tablosunda da musteri adında bir kolon oluşturup herhangi bir adresin hangi müşteriye ait olduğunu bulabiliriz. </a:t>
            </a:r>
          </a:p>
          <a:p>
            <a:endParaRPr lang="en-US" dirty="0"/>
          </a:p>
        </p:txBody>
      </p:sp>
    </p:spTree>
    <p:extLst>
      <p:ext uri="{BB962C8B-B14F-4D97-AF65-F5344CB8AC3E}">
        <p14:creationId xmlns:p14="http://schemas.microsoft.com/office/powerpoint/2010/main" val="3326368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254000"/>
            <a:ext cx="11569700" cy="6197600"/>
          </a:xfrm>
        </p:spPr>
        <p:txBody>
          <a:bodyPr/>
          <a:lstStyle/>
          <a:p>
            <a:pPr marL="0" indent="0">
              <a:buNone/>
            </a:pPr>
            <a:r>
              <a:rPr lang="tr-TR" b="1" dirty="0" smtClean="0"/>
              <a:t>Bire-bir İlişki ve Çift Yönlü Sahiplik:</a:t>
            </a:r>
            <a:r>
              <a:rPr lang="tr-TR" dirty="0" smtClean="0"/>
              <a:t/>
            </a:r>
            <a:br>
              <a:rPr lang="tr-TR" dirty="0" smtClean="0"/>
            </a:br>
            <a:r>
              <a:rPr lang="tr-TR" b="1" dirty="0" smtClean="0"/>
              <a:t>@OnetoOne </a:t>
            </a:r>
            <a:r>
              <a:rPr lang="tr-TR" dirty="0" smtClean="0"/>
              <a:t>annotation ı bire-bir ilişki kurmaktır. (Bir müşteri, tek bir adrese sahip olabilir ) Entity’ler arası çift yönlü ilişkide diğer hakim taraf belirlenirken</a:t>
            </a:r>
          </a:p>
          <a:p>
            <a:pPr marL="0" indent="0">
              <a:buNone/>
            </a:pPr>
            <a:r>
              <a:rPr lang="tr-TR" b="1" dirty="0" smtClean="0"/>
              <a:t>@OneToOne </a:t>
            </a:r>
            <a:r>
              <a:rPr lang="tr-TR" dirty="0" smtClean="0"/>
              <a:t>annotation ın </a:t>
            </a:r>
            <a:r>
              <a:rPr lang="tr-TR" b="1" dirty="0" smtClean="0"/>
              <a:t>mappedBy</a:t>
            </a:r>
            <a:r>
              <a:rPr lang="tr-TR" dirty="0" smtClean="0"/>
              <a:t> özelliğinden faydalanılır. </a:t>
            </a:r>
          </a:p>
          <a:p>
            <a:pPr marL="0" indent="0">
              <a:buNone/>
            </a:pPr>
            <a:r>
              <a:rPr lang="tr-TR" b="1" dirty="0" smtClean="0"/>
              <a:t>Bire-bir ilişki ve Tek-Yönlü Sahiplik</a:t>
            </a:r>
          </a:p>
          <a:p>
            <a:pPr marL="0" indent="0">
              <a:buNone/>
            </a:pPr>
            <a:r>
              <a:rPr lang="tr-TR" dirty="0" smtClean="0"/>
              <a:t>Çift yönlü ilişkide, iki </a:t>
            </a:r>
            <a:r>
              <a:rPr lang="tr-TR" b="1" dirty="0" smtClean="0"/>
              <a:t>entity’den</a:t>
            </a:r>
            <a:r>
              <a:rPr lang="tr-TR" dirty="0" smtClean="0"/>
              <a:t> karşılıklı olarak birbirlerine erişelebiliyorken, Tek yönlü ilişki türünde, yalnızca diğer </a:t>
            </a:r>
            <a:r>
              <a:rPr lang="tr-TR" b="1" dirty="0" smtClean="0"/>
              <a:t>Entity</a:t>
            </a:r>
            <a:r>
              <a:rPr lang="tr-TR" dirty="0" smtClean="0"/>
              <a:t> sınıfının referans bilgisini içeren sınıftan </a:t>
            </a:r>
            <a:r>
              <a:rPr lang="tr-TR" b="1" dirty="0" smtClean="0"/>
              <a:t>(hakim taraf) </a:t>
            </a:r>
            <a:r>
              <a:rPr lang="tr-TR" dirty="0" smtClean="0"/>
              <a:t>diğer </a:t>
            </a:r>
            <a:r>
              <a:rPr lang="tr-TR" b="1" dirty="0" smtClean="0"/>
              <a:t>Entity</a:t>
            </a:r>
            <a:r>
              <a:rPr lang="tr-TR" dirty="0" smtClean="0"/>
              <a:t> nesnesine erişim sağlayabilir. </a:t>
            </a:r>
            <a:r>
              <a:rPr lang="tr-TR" b="1" dirty="0" smtClean="0"/>
              <a:t>Bire-bir</a:t>
            </a:r>
            <a:r>
              <a:rPr lang="tr-TR" dirty="0" smtClean="0"/>
              <a:t> ilişki için @</a:t>
            </a:r>
            <a:r>
              <a:rPr lang="tr-TR" b="1" dirty="0" smtClean="0"/>
              <a:t>OneToOne</a:t>
            </a:r>
            <a:r>
              <a:rPr lang="tr-TR" dirty="0" smtClean="0"/>
              <a:t> Annotation ı kullanılır. </a:t>
            </a:r>
          </a:p>
          <a:p>
            <a:pPr marL="0" indent="0">
              <a:buNone/>
            </a:pPr>
            <a:r>
              <a:rPr lang="tr-TR" b="1" dirty="0" smtClean="0"/>
              <a:t>Birden-Çoğa ve Tek-Yönlü Sahiplik:</a:t>
            </a:r>
            <a:r>
              <a:rPr lang="tr-TR" dirty="0" smtClean="0"/>
              <a:t/>
            </a:r>
            <a:br>
              <a:rPr lang="tr-TR" dirty="0" smtClean="0"/>
            </a:br>
            <a:r>
              <a:rPr lang="tr-TR" dirty="0" smtClean="0"/>
              <a:t>Bir </a:t>
            </a:r>
            <a:r>
              <a:rPr lang="tr-TR" b="1" dirty="0" smtClean="0"/>
              <a:t>Entity</a:t>
            </a:r>
            <a:r>
              <a:rPr lang="tr-TR" dirty="0" smtClean="0"/>
              <a:t> diğer ilişkili </a:t>
            </a:r>
            <a:r>
              <a:rPr lang="tr-TR" b="1" dirty="0" smtClean="0"/>
              <a:t>Entity</a:t>
            </a:r>
            <a:r>
              <a:rPr lang="tr-TR" dirty="0" smtClean="0"/>
              <a:t> sınıfına birden çoğa ilişkili olduğu durumlarda kullanılır. Örneğin bir alışveriş sepeti içeresinde birden fazla ürün bulunabilir. </a:t>
            </a:r>
          </a:p>
          <a:p>
            <a:pPr marL="0" indent="0">
              <a:buNone/>
            </a:pPr>
            <a:r>
              <a:rPr lang="tr-TR" dirty="0" smtClean="0"/>
              <a:t>@</a:t>
            </a:r>
            <a:r>
              <a:rPr lang="tr-TR" b="1" dirty="0" smtClean="0"/>
              <a:t>OnetoMany</a:t>
            </a:r>
            <a:r>
              <a:rPr lang="tr-TR" dirty="0" smtClean="0"/>
              <a:t> annotation ı ile kullanılır. </a:t>
            </a:r>
          </a:p>
          <a:p>
            <a:endParaRPr lang="tr-TR" dirty="0" smtClean="0"/>
          </a:p>
        </p:txBody>
      </p:sp>
    </p:spTree>
    <p:extLst>
      <p:ext uri="{BB962C8B-B14F-4D97-AF65-F5344CB8AC3E}">
        <p14:creationId xmlns:p14="http://schemas.microsoft.com/office/powerpoint/2010/main" val="973729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54000"/>
            <a:ext cx="11671300" cy="6235700"/>
          </a:xfrm>
        </p:spPr>
        <p:txBody>
          <a:bodyPr/>
          <a:lstStyle/>
          <a:p>
            <a:pPr marL="0" indent="0">
              <a:buNone/>
            </a:pPr>
            <a:r>
              <a:rPr lang="tr-TR" b="1" dirty="0" smtClean="0"/>
              <a:t>Çoktan-Çoğa ve Çift Yönlü Sahiplik:</a:t>
            </a:r>
            <a:r>
              <a:rPr lang="tr-TR" dirty="0" smtClean="0"/>
              <a:t/>
            </a:r>
            <a:br>
              <a:rPr lang="tr-TR" dirty="0" smtClean="0"/>
            </a:br>
            <a:r>
              <a:rPr lang="tr-TR" dirty="0" smtClean="0"/>
              <a:t>Karşılıklı iki </a:t>
            </a:r>
            <a:r>
              <a:rPr lang="tr-TR" b="1" dirty="0" smtClean="0"/>
              <a:t>Entity</a:t>
            </a:r>
            <a:r>
              <a:rPr lang="tr-TR" dirty="0" smtClean="0"/>
              <a:t> sınıfının birbirlerine </a:t>
            </a:r>
            <a:r>
              <a:rPr lang="tr-TR" b="1" dirty="0" smtClean="0"/>
              <a:t>çoktan-çoğa</a:t>
            </a:r>
            <a:r>
              <a:rPr lang="tr-TR" dirty="0" smtClean="0"/>
              <a:t> ilişkilendirildikleri durumda kullanılır. </a:t>
            </a:r>
            <a:r>
              <a:rPr lang="tr-TR" b="1" dirty="0" smtClean="0"/>
              <a:t>Örneğin</a:t>
            </a:r>
            <a:r>
              <a:rPr lang="tr-TR" dirty="0" smtClean="0"/>
              <a:t> bir şarkı albümü içinde birden fazla sanatçı bulanabileceği gibi, bir sanatçı da birden fazla şarkı albümü içinde bulunabilir.  İki </a:t>
            </a:r>
            <a:r>
              <a:rPr lang="tr-TR" b="1" dirty="0" smtClean="0"/>
              <a:t>Entity</a:t>
            </a:r>
            <a:r>
              <a:rPr lang="tr-TR" dirty="0" smtClean="0"/>
              <a:t> sınıfı birlerini birden fazla içerebileceğinden, karşılıklı referans türleri </a:t>
            </a:r>
            <a:r>
              <a:rPr lang="tr-TR" b="1" dirty="0" smtClean="0"/>
              <a:t>Collection(set&lt;E&gt; ve List&lt;E&gt; gibi ) </a:t>
            </a:r>
            <a:r>
              <a:rPr lang="tr-TR" dirty="0" smtClean="0"/>
              <a:t>interface ine uyan türlerden olmalıdır. </a:t>
            </a:r>
            <a:r>
              <a:rPr lang="tr-TR" b="1" dirty="0" smtClean="0"/>
              <a:t>Çoktan-çoğa Entity </a:t>
            </a:r>
            <a:r>
              <a:rPr lang="tr-TR" dirty="0" smtClean="0"/>
              <a:t>ilişkisi @</a:t>
            </a:r>
            <a:r>
              <a:rPr lang="tr-TR" b="1" dirty="0" smtClean="0"/>
              <a:t>ManyToMany</a:t>
            </a:r>
            <a:r>
              <a:rPr lang="tr-TR" dirty="0" smtClean="0"/>
              <a:t> annotation ı ile kullanılabilir. </a:t>
            </a:r>
          </a:p>
          <a:p>
            <a:pPr marL="0" indent="0">
              <a:buNone/>
            </a:pPr>
            <a:r>
              <a:rPr lang="tr-TR" b="1" dirty="0" smtClean="0"/>
              <a:t>Entity İlişkilerinde Sıralama :</a:t>
            </a:r>
          </a:p>
          <a:p>
            <a:pPr marL="0" indent="0">
              <a:buNone/>
            </a:pPr>
            <a:r>
              <a:rPr lang="tr-TR" dirty="0" smtClean="0"/>
              <a:t>Liste arayüzü türündeki nesneler, varsayılan olarak sıralı halde bulunmadıklarından dolayı sıralamak için </a:t>
            </a:r>
            <a:r>
              <a:rPr lang="tr-TR" b="1" dirty="0" smtClean="0"/>
              <a:t>@OrderBy</a:t>
            </a:r>
            <a:r>
              <a:rPr lang="tr-TR" dirty="0" smtClean="0"/>
              <a:t> annotation ı kullanibiliriz.</a:t>
            </a:r>
          </a:p>
          <a:p>
            <a:pPr marL="0" indent="0">
              <a:buNone/>
            </a:pPr>
            <a:r>
              <a:rPr lang="tr-TR" b="1" dirty="0" smtClean="0"/>
              <a:t>@OrderColumn Annotaion:  JPA 2.0 </a:t>
            </a:r>
            <a:r>
              <a:rPr lang="tr-TR" dirty="0" smtClean="0"/>
              <a:t>ile getirilen yeni bir özelliktir. Bu annotation ile birlikte </a:t>
            </a:r>
            <a:r>
              <a:rPr lang="tr-TR" b="1" dirty="0" smtClean="0"/>
              <a:t>Collection</a:t>
            </a:r>
            <a:r>
              <a:rPr lang="tr-TR" dirty="0" smtClean="0"/>
              <a:t> türündeki nesneler üzerinde yapılan sıralama, sıra bilgisini tutan index sütunu ile birlikte veritabanı tarafına da yansıtılmaktadır. O yüzden performans etkilerine dikkat etmek gekekir. </a:t>
            </a:r>
          </a:p>
          <a:p>
            <a:pPr marL="0" indent="0">
              <a:buNone/>
            </a:pPr>
            <a:endParaRPr lang="en-US" dirty="0"/>
          </a:p>
        </p:txBody>
      </p:sp>
    </p:spTree>
    <p:extLst>
      <p:ext uri="{BB962C8B-B14F-4D97-AF65-F5344CB8AC3E}">
        <p14:creationId xmlns:p14="http://schemas.microsoft.com/office/powerpoint/2010/main" val="3713560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0" y="241300"/>
            <a:ext cx="11671300" cy="6273800"/>
          </a:xfrm>
        </p:spPr>
        <p:txBody>
          <a:bodyPr>
            <a:normAutofit fontScale="92500"/>
          </a:bodyPr>
          <a:lstStyle/>
          <a:p>
            <a:pPr marL="0" indent="0">
              <a:buNone/>
            </a:pPr>
            <a:r>
              <a:rPr lang="tr-TR" b="1" dirty="0" smtClean="0"/>
              <a:t>Entity Nesnelerinin Yaşam Süreci:</a:t>
            </a:r>
            <a:r>
              <a:rPr lang="tr-TR" dirty="0" smtClean="0"/>
              <a:t/>
            </a:r>
            <a:br>
              <a:rPr lang="tr-TR" dirty="0" smtClean="0"/>
            </a:br>
            <a:r>
              <a:rPr lang="tr-TR" dirty="0" smtClean="0"/>
              <a:t>Entity nesneleri oluşturulduktan sonra Entity Manager tarafından yönetilebilir bir hâl alır. </a:t>
            </a:r>
          </a:p>
          <a:p>
            <a:pPr marL="0" indent="0">
              <a:buNone/>
            </a:pPr>
            <a:r>
              <a:rPr lang="tr-TR" b="1" dirty="0" smtClean="0"/>
              <a:t>Entity Manager </a:t>
            </a:r>
            <a:r>
              <a:rPr lang="tr-TR" dirty="0" smtClean="0"/>
              <a:t>tarafından </a:t>
            </a:r>
            <a:r>
              <a:rPr lang="tr-TR" b="1" dirty="0" smtClean="0"/>
              <a:t>Entity</a:t>
            </a:r>
            <a:r>
              <a:rPr lang="tr-TR" dirty="0" smtClean="0"/>
              <a:t> nesneleri üzerinde işletilen komutlar ekl olarak bir Transaction mekanizmasına ihtiyaç duymaktadır. Veritabanına yazma işleminin gerektiği her anda bir </a:t>
            </a:r>
            <a:r>
              <a:rPr lang="tr-TR" b="1" dirty="0" smtClean="0"/>
              <a:t>Transaction</a:t>
            </a:r>
            <a:r>
              <a:rPr lang="tr-TR" dirty="0" smtClean="0"/>
              <a:t> yapısı da gereklidir. </a:t>
            </a:r>
          </a:p>
          <a:p>
            <a:pPr marL="0" indent="0">
              <a:buNone/>
            </a:pPr>
            <a:r>
              <a:rPr lang="tr-TR" b="1" dirty="0" smtClean="0"/>
              <a:t>Transaction: </a:t>
            </a:r>
            <a:r>
              <a:rPr lang="tr-TR" dirty="0" smtClean="0"/>
              <a:t>Yapılan işlemin başarılı olup olmadığı bilgisini veren ve bu bilgiyi garanti eden mekanizmadır. </a:t>
            </a:r>
          </a:p>
          <a:p>
            <a:pPr marL="0" indent="0">
              <a:buNone/>
            </a:pPr>
            <a:r>
              <a:rPr lang="tr-TR" b="1" dirty="0" smtClean="0"/>
              <a:t>Entity Manager </a:t>
            </a:r>
            <a:r>
              <a:rPr lang="tr-TR" dirty="0" smtClean="0"/>
              <a:t>tarafından yönetimli bir halde bulunun bir nesne üzerinde çalışma anında yapılacak herhangi bir değişiklik, ilgili </a:t>
            </a:r>
            <a:r>
              <a:rPr lang="tr-TR" b="1" dirty="0" smtClean="0"/>
              <a:t>Transaction</a:t>
            </a:r>
            <a:r>
              <a:rPr lang="tr-TR" dirty="0" smtClean="0"/>
              <a:t> onaylandığında, Entity nesnesine karşılık gelen veritabanı tablosuna yansıtılır. Eğer </a:t>
            </a:r>
            <a:r>
              <a:rPr lang="tr-TR" b="1" dirty="0" smtClean="0"/>
              <a:t>Transaction</a:t>
            </a:r>
            <a:r>
              <a:rPr lang="tr-TR" dirty="0" smtClean="0"/>
              <a:t> operasyonu başarısız olura, işlemler geri çekilir ve veritabanına yansıtılmaz. </a:t>
            </a:r>
            <a:r>
              <a:rPr lang="tr-TR" b="1" dirty="0" smtClean="0"/>
              <a:t>EntityManager</a:t>
            </a:r>
            <a:r>
              <a:rPr lang="tr-TR" dirty="0" smtClean="0"/>
              <a:t> dahilinde bulunan bazı yordamlar sayesinde  </a:t>
            </a:r>
            <a:r>
              <a:rPr lang="tr-TR" b="1" dirty="0" smtClean="0"/>
              <a:t>Entity</a:t>
            </a:r>
            <a:r>
              <a:rPr lang="tr-TR" dirty="0" smtClean="0"/>
              <a:t> nesnelerini yönetilebilir olmaktan çıkartılabilir. Yönetimden çıkaralan bir Entity artık hayatına normal bir Java nesnesi olarak bellekteki yaşamına devam eder. Yönetimden çıkartılan bir </a:t>
            </a:r>
            <a:r>
              <a:rPr lang="tr-TR" b="1" dirty="0" smtClean="0"/>
              <a:t>Entity</a:t>
            </a:r>
            <a:r>
              <a:rPr lang="tr-TR" dirty="0" smtClean="0"/>
              <a:t> nesnesi üzerinde yapılan değişikler veritabanına yansıtılmaz. </a:t>
            </a:r>
            <a:endParaRPr lang="en-US" dirty="0"/>
          </a:p>
        </p:txBody>
      </p:sp>
    </p:spTree>
    <p:extLst>
      <p:ext uri="{BB962C8B-B14F-4D97-AF65-F5344CB8AC3E}">
        <p14:creationId xmlns:p14="http://schemas.microsoft.com/office/powerpoint/2010/main" val="1537681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100" y="177800"/>
            <a:ext cx="11531600" cy="6350000"/>
          </a:xfrm>
        </p:spPr>
        <p:txBody>
          <a:bodyPr/>
          <a:lstStyle/>
          <a:p>
            <a:pPr marL="0" indent="0">
              <a:buNone/>
            </a:pPr>
            <a:r>
              <a:rPr lang="tr-TR" b="1" dirty="0" smtClean="0"/>
              <a:t>Sık Kullanılan Entity Manager Metotları :</a:t>
            </a:r>
          </a:p>
          <a:p>
            <a:pPr marL="0" indent="0">
              <a:buNone/>
            </a:pPr>
            <a:r>
              <a:rPr lang="tr-TR" dirty="0" smtClean="0"/>
              <a:t>Bu metotlar sayesinde </a:t>
            </a:r>
            <a:r>
              <a:rPr lang="tr-TR" b="1" dirty="0" smtClean="0"/>
              <a:t>Entity</a:t>
            </a:r>
            <a:r>
              <a:rPr lang="tr-TR" dirty="0" smtClean="0"/>
              <a:t> nesnelerine yönelik ihtiyaç duyulan operasyonlar zahmetsizce gerçekleştirilmektedir. </a:t>
            </a:r>
          </a:p>
          <a:p>
            <a:pPr marL="0" indent="0">
              <a:buNone/>
            </a:pPr>
            <a:endParaRPr lang="tr-TR"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587500"/>
            <a:ext cx="9144000" cy="5156200"/>
          </a:xfrm>
          <a:prstGeom prst="rect">
            <a:avLst/>
          </a:prstGeom>
        </p:spPr>
      </p:pic>
    </p:spTree>
    <p:extLst>
      <p:ext uri="{BB962C8B-B14F-4D97-AF65-F5344CB8AC3E}">
        <p14:creationId xmlns:p14="http://schemas.microsoft.com/office/powerpoint/2010/main" val="2476742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368300"/>
            <a:ext cx="11493500" cy="6045200"/>
          </a:xfrm>
        </p:spPr>
        <p:txBody>
          <a:bodyPr>
            <a:normAutofit lnSpcReduction="10000"/>
          </a:bodyPr>
          <a:lstStyle/>
          <a:p>
            <a:pPr marL="0" indent="0">
              <a:buNone/>
            </a:pPr>
            <a:r>
              <a:rPr lang="tr-TR" b="1" dirty="0" smtClean="0"/>
              <a:t>Persist : </a:t>
            </a:r>
            <a:r>
              <a:rPr lang="tr-TR" dirty="0" smtClean="0"/>
              <a:t>Parametre larak verilen </a:t>
            </a:r>
            <a:r>
              <a:rPr lang="tr-TR" b="1" dirty="0" smtClean="0"/>
              <a:t>Entity</a:t>
            </a:r>
            <a:r>
              <a:rPr lang="tr-TR" dirty="0" smtClean="0"/>
              <a:t> nesnesini veritabanına kayıt eder ve nesne yönetimli hal alır. Sonrasında yapılan değişiklik </a:t>
            </a:r>
            <a:r>
              <a:rPr lang="tr-TR" b="1" dirty="0" smtClean="0"/>
              <a:t>Transaction</a:t>
            </a:r>
            <a:r>
              <a:rPr lang="tr-TR" dirty="0" smtClean="0"/>
              <a:t> commit anında veritabanına yansıtılır. </a:t>
            </a:r>
          </a:p>
          <a:p>
            <a:pPr marL="0" indent="0">
              <a:buNone/>
            </a:pPr>
            <a:r>
              <a:rPr lang="tr-TR" b="1" dirty="0" smtClean="0"/>
              <a:t>Remove: </a:t>
            </a:r>
            <a:r>
              <a:rPr lang="tr-TR" dirty="0" smtClean="0"/>
              <a:t>Parametre olarak verilen </a:t>
            </a:r>
            <a:r>
              <a:rPr lang="tr-TR" b="1" dirty="0" smtClean="0"/>
              <a:t>Entity</a:t>
            </a:r>
            <a:r>
              <a:rPr lang="tr-TR" dirty="0" smtClean="0"/>
              <a:t> nesnesini hem yönetilebilir halden çıkarır hemde veritabanından temizler. Bu işlemden sonra </a:t>
            </a:r>
            <a:r>
              <a:rPr lang="tr-TR" b="1" dirty="0" smtClean="0"/>
              <a:t>Entity</a:t>
            </a:r>
            <a:r>
              <a:rPr lang="tr-TR" dirty="0" smtClean="0"/>
              <a:t> nesnesi normal bir Java nesnesi gibi davranış gösterir. </a:t>
            </a:r>
            <a:r>
              <a:rPr lang="tr-TR" b="1" dirty="0" smtClean="0"/>
              <a:t>Yönetimden çıkarılmış Entity </a:t>
            </a:r>
            <a:r>
              <a:rPr lang="tr-TR" dirty="0" smtClean="0"/>
              <a:t>üzerinde veri değişikliği yapılırsa, değişiklikler veritabanına yansıtılmaz. Ta ki </a:t>
            </a:r>
            <a:r>
              <a:rPr lang="tr-TR" b="1" dirty="0" smtClean="0"/>
              <a:t>persist</a:t>
            </a:r>
            <a:r>
              <a:rPr lang="tr-TR" dirty="0" smtClean="0"/>
              <a:t> veya </a:t>
            </a:r>
            <a:r>
              <a:rPr lang="tr-TR" b="1" dirty="0" smtClean="0"/>
              <a:t>merge</a:t>
            </a:r>
            <a:r>
              <a:rPr lang="tr-TR" dirty="0" smtClean="0"/>
              <a:t> metotlarıyla tekrar </a:t>
            </a:r>
            <a:r>
              <a:rPr lang="tr-TR" u="sng" dirty="0" smtClean="0"/>
              <a:t>yönetimli</a:t>
            </a:r>
            <a:r>
              <a:rPr lang="tr-TR" dirty="0" smtClean="0"/>
              <a:t> hale getirilene kadar. Eğer yönetimli halde olmayan bir </a:t>
            </a:r>
            <a:r>
              <a:rPr lang="tr-TR" b="1" dirty="0" smtClean="0"/>
              <a:t>Entity</a:t>
            </a:r>
            <a:r>
              <a:rPr lang="tr-TR" dirty="0" smtClean="0"/>
              <a:t> nesnesi üzerinde silme işlemi gerçekleştirilmeye çalışılırsa (</a:t>
            </a:r>
            <a:r>
              <a:rPr lang="tr-TR" b="1" dirty="0" smtClean="0"/>
              <a:t>Entity</a:t>
            </a:r>
            <a:r>
              <a:rPr lang="tr-TR" dirty="0" smtClean="0"/>
              <a:t> karşılığı veritabanında bulunsa bile) </a:t>
            </a:r>
            <a:r>
              <a:rPr lang="tr-TR" b="1" dirty="0" smtClean="0"/>
              <a:t>IllegalArgumentException</a:t>
            </a:r>
            <a:r>
              <a:rPr lang="tr-TR" dirty="0" smtClean="0"/>
              <a:t> hatası alınır. </a:t>
            </a:r>
          </a:p>
          <a:p>
            <a:pPr marL="0" indent="0">
              <a:buNone/>
            </a:pPr>
            <a:r>
              <a:rPr lang="tr-TR" b="1" dirty="0" smtClean="0"/>
              <a:t>Find: </a:t>
            </a:r>
            <a:r>
              <a:rPr lang="tr-TR" dirty="0" smtClean="0"/>
              <a:t>Bilirtilen birincil anahtara göre arama işlemi gerçekliştirilir. Aranılan nesne bulunamaz ise null değeri döndürülür. İlk parametre </a:t>
            </a:r>
            <a:r>
              <a:rPr lang="tr-TR" b="1" dirty="0" smtClean="0"/>
              <a:t>Entity</a:t>
            </a:r>
            <a:r>
              <a:rPr lang="tr-TR" dirty="0" smtClean="0"/>
              <a:t> nesnesinin sınıf tipini belirtmektedir. Arama işlemi parametre olarak verilmiş </a:t>
            </a:r>
            <a:r>
              <a:rPr lang="tr-TR" b="1" dirty="0" smtClean="0"/>
              <a:t>Entity</a:t>
            </a:r>
            <a:r>
              <a:rPr lang="tr-TR" dirty="0" smtClean="0"/>
              <a:t> nesnesinin </a:t>
            </a:r>
            <a:r>
              <a:rPr lang="tr-TR" b="1" dirty="0" smtClean="0"/>
              <a:t>@Id</a:t>
            </a:r>
            <a:r>
              <a:rPr lang="tr-TR" dirty="0" smtClean="0"/>
              <a:t> annotation ile belirtilmiş veri alanı üzerinden yapılır. </a:t>
            </a:r>
          </a:p>
          <a:p>
            <a:endParaRPr lang="tr-TR" dirty="0" smtClean="0"/>
          </a:p>
          <a:p>
            <a:endParaRPr lang="en-US" dirty="0"/>
          </a:p>
        </p:txBody>
      </p:sp>
    </p:spTree>
    <p:extLst>
      <p:ext uri="{BB962C8B-B14F-4D97-AF65-F5344CB8AC3E}">
        <p14:creationId xmlns:p14="http://schemas.microsoft.com/office/powerpoint/2010/main" val="3165344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266700"/>
            <a:ext cx="11518900" cy="6235700"/>
          </a:xfrm>
        </p:spPr>
        <p:txBody>
          <a:bodyPr>
            <a:normAutofit lnSpcReduction="10000"/>
          </a:bodyPr>
          <a:lstStyle/>
          <a:p>
            <a:pPr marL="0" indent="0">
              <a:buNone/>
            </a:pPr>
            <a:r>
              <a:rPr lang="tr-TR" b="1" dirty="0" smtClean="0"/>
              <a:t>Flush : </a:t>
            </a:r>
            <a:r>
              <a:rPr lang="tr-TR" dirty="0" smtClean="0"/>
              <a:t>Normal şartlarda </a:t>
            </a:r>
            <a:r>
              <a:rPr lang="tr-TR" b="1" dirty="0" smtClean="0"/>
              <a:t>Transaction</a:t>
            </a:r>
            <a:r>
              <a:rPr lang="tr-TR" dirty="0" smtClean="0"/>
              <a:t> onaylanana kadar, </a:t>
            </a:r>
            <a:r>
              <a:rPr lang="tr-TR" b="1" dirty="0" smtClean="0"/>
              <a:t>Entity</a:t>
            </a:r>
            <a:r>
              <a:rPr lang="tr-TR" dirty="0" smtClean="0"/>
              <a:t> nesneleri üzerinde yapılan değişiklikler veritabanına yansıtılmaz. </a:t>
            </a:r>
            <a:r>
              <a:rPr lang="tr-TR" b="1" dirty="0" smtClean="0"/>
              <a:t>Flush</a:t>
            </a:r>
            <a:r>
              <a:rPr lang="tr-TR" dirty="0" smtClean="0"/>
              <a:t>() metodu ile Transaction ara noktalarında yapılan değişiklikler veritabanına aktarılabilir. Kısacası; </a:t>
            </a:r>
            <a:r>
              <a:rPr lang="tr-TR" b="1" dirty="0" smtClean="0"/>
              <a:t>EntityManager</a:t>
            </a:r>
            <a:r>
              <a:rPr lang="tr-TR" dirty="0" smtClean="0"/>
              <a:t> tarafınadna yönetilebilir haldeki tüm </a:t>
            </a:r>
            <a:r>
              <a:rPr lang="tr-TR" b="1" dirty="0" smtClean="0"/>
              <a:t>Entity</a:t>
            </a:r>
            <a:r>
              <a:rPr lang="tr-TR" dirty="0" smtClean="0"/>
              <a:t> nesneleri en güncel halini veritabanına eşler. </a:t>
            </a:r>
          </a:p>
          <a:p>
            <a:pPr marL="0" indent="0">
              <a:buNone/>
            </a:pPr>
            <a:r>
              <a:rPr lang="tr-TR" b="1" dirty="0" smtClean="0"/>
              <a:t>Refresh: </a:t>
            </a:r>
            <a:r>
              <a:rPr lang="tr-TR" dirty="0" smtClean="0"/>
              <a:t>Veritabanında karşılık gelen tablo içeriği en güncel haliyle tazelenir.</a:t>
            </a:r>
          </a:p>
          <a:p>
            <a:pPr marL="0" indent="0">
              <a:buNone/>
            </a:pPr>
            <a:r>
              <a:rPr lang="tr-TR" b="1" dirty="0" smtClean="0"/>
              <a:t>Clear: Entity Manager </a:t>
            </a:r>
            <a:r>
              <a:rPr lang="tr-TR" dirty="0" smtClean="0"/>
              <a:t>tarafından yönetimli tüm nesneler yönetilebilir halden çıkartılır ve bu noktada mevcut </a:t>
            </a:r>
            <a:r>
              <a:rPr lang="tr-TR" b="1" dirty="0" smtClean="0"/>
              <a:t>Entity</a:t>
            </a:r>
            <a:r>
              <a:rPr lang="tr-TR" dirty="0" smtClean="0"/>
              <a:t> nesnelerinin temel bir Java nesnesinden farkı yoktur. </a:t>
            </a:r>
          </a:p>
          <a:p>
            <a:pPr marL="0" indent="0">
              <a:buNone/>
            </a:pPr>
            <a:r>
              <a:rPr lang="tr-TR" b="1" dirty="0" smtClean="0"/>
              <a:t>Detach: </a:t>
            </a:r>
            <a:r>
              <a:rPr lang="tr-TR" dirty="0" smtClean="0"/>
              <a:t>Parametre olarak verilen Entity nesnesi </a:t>
            </a:r>
            <a:r>
              <a:rPr lang="tr-TR" b="1" dirty="0" smtClean="0"/>
              <a:t>Entity Manager </a:t>
            </a:r>
            <a:r>
              <a:rPr lang="tr-TR" dirty="0" smtClean="0"/>
              <a:t>yönetiminden çıkartılır. </a:t>
            </a:r>
            <a:r>
              <a:rPr lang="tr-TR" b="1" dirty="0" smtClean="0"/>
              <a:t>Clear() </a:t>
            </a:r>
            <a:r>
              <a:rPr lang="tr-TR" dirty="0" smtClean="0"/>
              <a:t>metodundan farkı tek bir </a:t>
            </a:r>
            <a:r>
              <a:rPr lang="tr-TR" b="1" dirty="0" smtClean="0"/>
              <a:t>Entity</a:t>
            </a:r>
            <a:r>
              <a:rPr lang="tr-TR" dirty="0" smtClean="0"/>
              <a:t> için işlem yapmasıdır.  Yönetilebilir halden çıkarılan bir entity nesnesi </a:t>
            </a:r>
            <a:r>
              <a:rPr lang="tr-TR" b="1" dirty="0" smtClean="0"/>
              <a:t>merge() </a:t>
            </a:r>
            <a:r>
              <a:rPr lang="tr-TR" dirty="0" smtClean="0"/>
              <a:t>metodu tekrardan yönetilebilir hale getirilebilir. </a:t>
            </a:r>
            <a:r>
              <a:rPr lang="tr-TR" b="1" dirty="0" smtClean="0"/>
              <a:t>Persist() </a:t>
            </a:r>
            <a:r>
              <a:rPr lang="tr-TR" dirty="0" smtClean="0"/>
              <a:t>metodu ile veritabanına ilk kez haritalanan </a:t>
            </a:r>
            <a:r>
              <a:rPr lang="tr-TR" b="1" dirty="0" smtClean="0"/>
              <a:t>Entity</a:t>
            </a:r>
            <a:r>
              <a:rPr lang="tr-TR" dirty="0" smtClean="0"/>
              <a:t> nesneleri yönetimli hale getirilebilir. Yönetimli olmaktan çıkartılmış bir </a:t>
            </a:r>
            <a:r>
              <a:rPr lang="tr-TR" b="1" dirty="0" smtClean="0"/>
              <a:t>Entity</a:t>
            </a:r>
            <a:r>
              <a:rPr lang="tr-TR" dirty="0" smtClean="0"/>
              <a:t> nesnesi üzerinde </a:t>
            </a:r>
            <a:r>
              <a:rPr lang="tr-TR" b="1" dirty="0" smtClean="0"/>
              <a:t>persist() </a:t>
            </a:r>
            <a:r>
              <a:rPr lang="tr-TR" dirty="0" smtClean="0"/>
              <a:t>metodu ile işlem yapılırsa zaten veritabanında aynı ID’li kayıt bulunacağından </a:t>
            </a:r>
            <a:r>
              <a:rPr lang="tr-TR" b="1" dirty="0" smtClean="0"/>
              <a:t>Exception</a:t>
            </a:r>
            <a:r>
              <a:rPr lang="tr-TR" dirty="0" smtClean="0"/>
              <a:t> alınacaktır. </a:t>
            </a:r>
          </a:p>
          <a:p>
            <a:endParaRPr lang="en-US" dirty="0"/>
          </a:p>
        </p:txBody>
      </p:sp>
    </p:spTree>
    <p:extLst>
      <p:ext uri="{BB962C8B-B14F-4D97-AF65-F5344CB8AC3E}">
        <p14:creationId xmlns:p14="http://schemas.microsoft.com/office/powerpoint/2010/main" val="3972262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100" y="355600"/>
            <a:ext cx="11379200" cy="6159500"/>
          </a:xfrm>
        </p:spPr>
        <p:txBody>
          <a:bodyPr/>
          <a:lstStyle/>
          <a:p>
            <a:pPr marL="0" indent="0">
              <a:buNone/>
            </a:pPr>
            <a:r>
              <a:rPr lang="tr-TR" b="1" dirty="0" smtClean="0"/>
              <a:t>Contains: </a:t>
            </a:r>
            <a:r>
              <a:rPr lang="tr-TR" dirty="0" smtClean="0"/>
              <a:t>Parametre olarak </a:t>
            </a:r>
            <a:r>
              <a:rPr lang="tr-TR" b="1" dirty="0" smtClean="0"/>
              <a:t>Entity</a:t>
            </a:r>
            <a:r>
              <a:rPr lang="tr-TR" dirty="0" smtClean="0"/>
              <a:t> nesnesinin </a:t>
            </a:r>
            <a:r>
              <a:rPr lang="tr-TR" b="1" dirty="0" smtClean="0"/>
              <a:t>EntityManager</a:t>
            </a:r>
            <a:r>
              <a:rPr lang="tr-TR" dirty="0" smtClean="0"/>
              <a:t> tarafından yönetilebilir olup olmadığı sorgulanır. Entity nesnesi yönetilebilir ise true, değilse false değeri döndürülür. </a:t>
            </a:r>
          </a:p>
          <a:p>
            <a:pPr marL="0" indent="0">
              <a:buNone/>
            </a:pPr>
            <a:r>
              <a:rPr lang="tr-TR" b="1" dirty="0" smtClean="0"/>
              <a:t>Merge: clear(); </a:t>
            </a:r>
            <a:r>
              <a:rPr lang="tr-TR" dirty="0" smtClean="0"/>
              <a:t>yada </a:t>
            </a:r>
            <a:r>
              <a:rPr lang="tr-TR" b="1" dirty="0" smtClean="0"/>
              <a:t>detach() </a:t>
            </a:r>
            <a:r>
              <a:rPr lang="tr-TR" dirty="0" smtClean="0"/>
              <a:t>metotlarıyla EntityManager yönetiminden çıkartılan nesneler tekrardan </a:t>
            </a:r>
            <a:r>
              <a:rPr lang="tr-TR" b="1" dirty="0" smtClean="0"/>
              <a:t>EntityManager</a:t>
            </a:r>
            <a:r>
              <a:rPr lang="tr-TR" dirty="0" smtClean="0"/>
              <a:t> tarafından yönetilebilir hale getirilir. </a:t>
            </a:r>
            <a:r>
              <a:rPr lang="tr-TR" b="1" dirty="0" smtClean="0"/>
              <a:t>Entity</a:t>
            </a:r>
            <a:r>
              <a:rPr lang="tr-TR" dirty="0" smtClean="0"/>
              <a:t> nesnesi zaten yönetilebilir halde ise, </a:t>
            </a:r>
            <a:r>
              <a:rPr lang="tr-TR" b="1" dirty="0" smtClean="0"/>
              <a:t>Entity</a:t>
            </a:r>
            <a:r>
              <a:rPr lang="tr-TR" dirty="0" smtClean="0"/>
              <a:t> nesnesinin güncel içeriği veritabanına yansıtılır. </a:t>
            </a:r>
          </a:p>
          <a:p>
            <a:pPr marL="0" indent="0">
              <a:buNone/>
            </a:pPr>
            <a:r>
              <a:rPr lang="tr-TR" b="1" dirty="0" smtClean="0"/>
              <a:t>Zincirleme Entity Operasyonları : </a:t>
            </a:r>
          </a:p>
          <a:p>
            <a:pPr marL="0" indent="0">
              <a:buNone/>
            </a:pPr>
            <a:r>
              <a:rPr lang="tr-TR" b="1" dirty="0" smtClean="0"/>
              <a:t>Entity</a:t>
            </a:r>
            <a:r>
              <a:rPr lang="tr-TR" dirty="0" smtClean="0"/>
              <a:t> sınıfları, veritabanı tablo yapılarındakine benze şekilde birbirleriyle bağlantılı halde olabilirler. Zincirleme işlemler kısaca, bir </a:t>
            </a:r>
            <a:r>
              <a:rPr lang="tr-TR" b="1" dirty="0" smtClean="0"/>
              <a:t>Entity</a:t>
            </a:r>
            <a:r>
              <a:rPr lang="tr-TR" dirty="0" smtClean="0"/>
              <a:t> nesnesi üzeinde uygulanan işlemin, diğer bağlantılı </a:t>
            </a:r>
            <a:r>
              <a:rPr lang="tr-TR" b="1" dirty="0" smtClean="0"/>
              <a:t>Entity</a:t>
            </a:r>
            <a:r>
              <a:rPr lang="tr-TR" dirty="0" smtClean="0"/>
              <a:t> nesnelerine de uygulanabilmesini sağlayan bir mekanizmadır. </a:t>
            </a:r>
          </a:p>
          <a:p>
            <a:pPr marL="0" indent="0">
              <a:buNone/>
            </a:pPr>
            <a:r>
              <a:rPr lang="tr-TR" b="1" dirty="0" smtClean="0"/>
              <a:t>(</a:t>
            </a:r>
            <a:r>
              <a:rPr lang="en-US" b="1" dirty="0" smtClean="0"/>
              <a:t>cascade=</a:t>
            </a:r>
            <a:r>
              <a:rPr lang="en-US" b="1" dirty="0" err="1" smtClean="0"/>
              <a:t>CascadeType</a:t>
            </a:r>
            <a:r>
              <a:rPr lang="en-US" b="1" dirty="0" smtClean="0"/>
              <a:t>.</a:t>
            </a:r>
            <a:r>
              <a:rPr lang="tr-TR" b="1" i="1" dirty="0" smtClean="0"/>
              <a:t>PERSIST) : persist </a:t>
            </a:r>
            <a:r>
              <a:rPr lang="tr-TR" i="1" dirty="0" smtClean="0"/>
              <a:t>metoduyla yapılan işlem bağlantılı diğer Entity nesnesinde de uygulanır</a:t>
            </a:r>
            <a:r>
              <a:rPr lang="tr-TR" b="1" i="1" dirty="0" smtClean="0"/>
              <a:t>. </a:t>
            </a:r>
            <a:endParaRPr lang="tr-TR" b="1" dirty="0" smtClean="0"/>
          </a:p>
          <a:p>
            <a:endParaRPr lang="en-US" dirty="0"/>
          </a:p>
        </p:txBody>
      </p:sp>
    </p:spTree>
    <p:extLst>
      <p:ext uri="{BB962C8B-B14F-4D97-AF65-F5344CB8AC3E}">
        <p14:creationId xmlns:p14="http://schemas.microsoft.com/office/powerpoint/2010/main" val="4208148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241300"/>
            <a:ext cx="11531600" cy="6388100"/>
          </a:xfrm>
        </p:spPr>
        <p:txBody>
          <a:bodyPr/>
          <a:lstStyle/>
          <a:p>
            <a:pPr marL="0" indent="0">
              <a:buNone/>
            </a:pPr>
            <a:r>
              <a:rPr lang="tr-TR" b="1" dirty="0"/>
              <a:t>(</a:t>
            </a:r>
            <a:r>
              <a:rPr lang="en-US" b="1" dirty="0" smtClean="0"/>
              <a:t>cascade=</a:t>
            </a:r>
            <a:r>
              <a:rPr lang="en-US" b="1" dirty="0" err="1" smtClean="0"/>
              <a:t>CascadeType</a:t>
            </a:r>
            <a:r>
              <a:rPr lang="en-US" b="1" dirty="0" smtClean="0"/>
              <a:t>.</a:t>
            </a:r>
            <a:r>
              <a:rPr lang="tr-TR" b="1" i="1" dirty="0" smtClean="0"/>
              <a:t>MERGE) </a:t>
            </a:r>
            <a:r>
              <a:rPr lang="tr-TR" b="1" i="1" dirty="0"/>
              <a:t>: </a:t>
            </a:r>
            <a:r>
              <a:rPr lang="tr-TR" b="1" i="1" dirty="0" smtClean="0"/>
              <a:t>merge </a:t>
            </a:r>
            <a:r>
              <a:rPr lang="tr-TR" i="1" dirty="0"/>
              <a:t>metoduyla yapılan işlem bağlantılı diğer Entity nesnesinde de uygulanır</a:t>
            </a:r>
            <a:r>
              <a:rPr lang="tr-TR" b="1" i="1" dirty="0"/>
              <a:t>. </a:t>
            </a:r>
            <a:endParaRPr lang="tr-TR" b="1" i="1" dirty="0" smtClean="0"/>
          </a:p>
          <a:p>
            <a:pPr marL="0" indent="0">
              <a:buNone/>
            </a:pPr>
            <a:r>
              <a:rPr lang="tr-TR" b="1" dirty="0"/>
              <a:t>(</a:t>
            </a:r>
            <a:r>
              <a:rPr lang="en-US" b="1" dirty="0" smtClean="0"/>
              <a:t>cascade=</a:t>
            </a:r>
            <a:r>
              <a:rPr lang="en-US" b="1" dirty="0" err="1" smtClean="0"/>
              <a:t>CascadeType</a:t>
            </a:r>
            <a:r>
              <a:rPr lang="en-US" b="1" dirty="0" smtClean="0"/>
              <a:t>.</a:t>
            </a:r>
            <a:r>
              <a:rPr lang="tr-TR" b="1" i="1" dirty="0" smtClean="0"/>
              <a:t>REMOVE) </a:t>
            </a:r>
            <a:r>
              <a:rPr lang="tr-TR" b="1" i="1" dirty="0"/>
              <a:t>: </a:t>
            </a:r>
            <a:r>
              <a:rPr lang="tr-TR" b="1" i="1" dirty="0" smtClean="0"/>
              <a:t>remove </a:t>
            </a:r>
            <a:r>
              <a:rPr lang="tr-TR" i="1" dirty="0" smtClean="0"/>
              <a:t>metoduyla </a:t>
            </a:r>
            <a:r>
              <a:rPr lang="tr-TR" i="1" dirty="0"/>
              <a:t>yapılan işlem bağlantılı diğer Entity nesnesinde de uygulanır</a:t>
            </a:r>
            <a:r>
              <a:rPr lang="tr-TR" b="1" i="1" dirty="0"/>
              <a:t>. </a:t>
            </a:r>
          </a:p>
          <a:p>
            <a:pPr marL="0" indent="0">
              <a:buNone/>
            </a:pPr>
            <a:r>
              <a:rPr lang="tr-TR" b="1" dirty="0"/>
              <a:t>(</a:t>
            </a:r>
            <a:r>
              <a:rPr lang="en-US" b="1" dirty="0" smtClean="0"/>
              <a:t>cascade=</a:t>
            </a:r>
            <a:r>
              <a:rPr lang="en-US" b="1" dirty="0" err="1" smtClean="0"/>
              <a:t>CascadeType</a:t>
            </a:r>
            <a:r>
              <a:rPr lang="en-US" b="1" dirty="0" smtClean="0"/>
              <a:t>.</a:t>
            </a:r>
            <a:r>
              <a:rPr lang="tr-TR" b="1" i="1" dirty="0" smtClean="0"/>
              <a:t>DETACH) </a:t>
            </a:r>
            <a:r>
              <a:rPr lang="tr-TR" b="1" i="1" dirty="0"/>
              <a:t>: </a:t>
            </a:r>
            <a:r>
              <a:rPr lang="tr-TR" b="1" i="1" dirty="0" smtClean="0"/>
              <a:t>detach </a:t>
            </a:r>
            <a:r>
              <a:rPr lang="tr-TR" i="1" dirty="0" smtClean="0"/>
              <a:t>metoduyla </a:t>
            </a:r>
            <a:r>
              <a:rPr lang="tr-TR" i="1" dirty="0"/>
              <a:t>yapılan işlem bağlantılı diğer Entity nesnesinde de uygulanır</a:t>
            </a:r>
            <a:r>
              <a:rPr lang="tr-TR" b="1" i="1" dirty="0"/>
              <a:t>. </a:t>
            </a:r>
            <a:endParaRPr lang="tr-TR" b="1" i="1" dirty="0" smtClean="0"/>
          </a:p>
          <a:p>
            <a:pPr marL="0" indent="0">
              <a:buNone/>
            </a:pPr>
            <a:r>
              <a:rPr lang="tr-TR" b="1" dirty="0"/>
              <a:t>(</a:t>
            </a:r>
            <a:r>
              <a:rPr lang="en-US" b="1" dirty="0" smtClean="0"/>
              <a:t>cascade=</a:t>
            </a:r>
            <a:r>
              <a:rPr lang="en-US" b="1" dirty="0" err="1" smtClean="0"/>
              <a:t>CascadeType</a:t>
            </a:r>
            <a:r>
              <a:rPr lang="en-US" b="1" dirty="0" smtClean="0"/>
              <a:t>.</a:t>
            </a:r>
            <a:r>
              <a:rPr lang="tr-TR" b="1" i="1" dirty="0" smtClean="0"/>
              <a:t>REFRESH) </a:t>
            </a:r>
            <a:r>
              <a:rPr lang="tr-TR" b="1" i="1" dirty="0"/>
              <a:t>: </a:t>
            </a:r>
            <a:r>
              <a:rPr lang="tr-TR" b="1" i="1" dirty="0" smtClean="0"/>
              <a:t>refresh </a:t>
            </a:r>
            <a:r>
              <a:rPr lang="tr-TR" i="1" dirty="0" smtClean="0"/>
              <a:t>metoduyla </a:t>
            </a:r>
            <a:r>
              <a:rPr lang="tr-TR" i="1" dirty="0"/>
              <a:t>yapılan işlem bağlantılı diğer Entity nesnesinde de uygulanır</a:t>
            </a:r>
            <a:r>
              <a:rPr lang="tr-TR" b="1" i="1" dirty="0"/>
              <a:t>. </a:t>
            </a:r>
            <a:endParaRPr lang="tr-TR" b="1" i="1" dirty="0" smtClean="0"/>
          </a:p>
          <a:p>
            <a:pPr marL="0" indent="0">
              <a:buNone/>
            </a:pPr>
            <a:endParaRPr lang="tr-TR" b="1" i="1" dirty="0"/>
          </a:p>
          <a:p>
            <a:pPr marL="0" indent="0">
              <a:buNone/>
            </a:pPr>
            <a:r>
              <a:rPr lang="tr-TR" b="1" dirty="0"/>
              <a:t>(</a:t>
            </a:r>
            <a:r>
              <a:rPr lang="en-US" b="1" dirty="0" smtClean="0"/>
              <a:t>cascade=</a:t>
            </a:r>
            <a:r>
              <a:rPr lang="en-US" b="1" dirty="0" err="1" smtClean="0"/>
              <a:t>CascadeType</a:t>
            </a:r>
            <a:r>
              <a:rPr lang="en-US" b="1" dirty="0" smtClean="0"/>
              <a:t>.</a:t>
            </a:r>
            <a:r>
              <a:rPr lang="tr-TR" b="1" i="1" dirty="0" smtClean="0"/>
              <a:t>ALL) :yukarıda listelenen tüm metotlardan hangisi gerçekleşirse gerçekleşsin, ilişkili diğer Entity nesnesinde de uygulanır. </a:t>
            </a:r>
            <a:endParaRPr lang="tr-TR" b="1" dirty="0"/>
          </a:p>
          <a:p>
            <a:pPr marL="0" indent="0">
              <a:buNone/>
            </a:pPr>
            <a:endParaRPr lang="tr-TR" b="1" dirty="0"/>
          </a:p>
          <a:p>
            <a:pPr marL="0" indent="0">
              <a:buNone/>
            </a:pPr>
            <a:endParaRPr lang="tr-TR" b="1" dirty="0"/>
          </a:p>
          <a:p>
            <a:pPr marL="0" indent="0">
              <a:buNone/>
            </a:pPr>
            <a:endParaRPr lang="tr-TR" b="1" dirty="0"/>
          </a:p>
          <a:p>
            <a:endParaRPr lang="en-US" dirty="0"/>
          </a:p>
        </p:txBody>
      </p:sp>
    </p:spTree>
    <p:extLst>
      <p:ext uri="{BB962C8B-B14F-4D97-AF65-F5344CB8AC3E}">
        <p14:creationId xmlns:p14="http://schemas.microsoft.com/office/powerpoint/2010/main" val="4155931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9400" y="228600"/>
            <a:ext cx="11557000" cy="6057900"/>
          </a:xfrm>
        </p:spPr>
        <p:txBody>
          <a:bodyPr>
            <a:normAutofit lnSpcReduction="10000"/>
          </a:bodyPr>
          <a:lstStyle/>
          <a:p>
            <a:pPr marL="0" indent="0">
              <a:buNone/>
            </a:pPr>
            <a:r>
              <a:rPr lang="tr-TR" b="1" dirty="0" smtClean="0"/>
              <a:t>Entity Neslererinin Yaşam Sürecinin Takibi:</a:t>
            </a:r>
            <a:r>
              <a:rPr lang="tr-TR" dirty="0" smtClean="0"/>
              <a:t/>
            </a:r>
            <a:br>
              <a:rPr lang="tr-TR" dirty="0" smtClean="0"/>
            </a:br>
            <a:r>
              <a:rPr lang="tr-TR" dirty="0" smtClean="0"/>
              <a:t>Bir </a:t>
            </a:r>
            <a:r>
              <a:rPr lang="tr-TR" b="1" dirty="0" smtClean="0"/>
              <a:t>Entity</a:t>
            </a:r>
            <a:r>
              <a:rPr lang="tr-TR" dirty="0" smtClean="0"/>
              <a:t> nesnesinin yaşam döngüsünün takip edilmesi ihtiyacı her zaman olabilir. Özellikle </a:t>
            </a:r>
            <a:r>
              <a:rPr lang="tr-TR" b="1" dirty="0" smtClean="0"/>
              <a:t>Log</a:t>
            </a:r>
            <a:r>
              <a:rPr lang="tr-TR" dirty="0" smtClean="0"/>
              <a:t> kayıtlarının tutulmasında ve </a:t>
            </a:r>
            <a:r>
              <a:rPr lang="tr-TR" b="1" dirty="0" smtClean="0"/>
              <a:t>Entity</a:t>
            </a:r>
            <a:r>
              <a:rPr lang="tr-TR" dirty="0" smtClean="0"/>
              <a:t> nesneleri içerisine atanan veri alanlarının geçerliğinin kontrol edilmesinde ihtiyaç duyulabilir. </a:t>
            </a:r>
            <a:r>
              <a:rPr lang="tr-TR" b="1" dirty="0" smtClean="0"/>
              <a:t>JPA</a:t>
            </a:r>
            <a:r>
              <a:rPr lang="tr-TR" dirty="0" smtClean="0"/>
              <a:t> nesnesinin yaşam sürecinde geçirdiği evreleri kullanımı kolay bir şekilde takip edilmesine olanak sağlamaktadır. </a:t>
            </a:r>
          </a:p>
          <a:p>
            <a:pPr marL="0" indent="0">
              <a:buNone/>
            </a:pPr>
            <a:r>
              <a:rPr lang="tr-TR" b="1" dirty="0" smtClean="0"/>
              <a:t>Çağrılar (Callbacks) : Entity</a:t>
            </a:r>
            <a:r>
              <a:rPr lang="tr-TR" dirty="0" smtClean="0"/>
              <a:t> nesnelerinin içinde bulunduğu yükleme, kalıcı hale getirme, güncelleme, ve silme işlemlerinin öncesini ve sonrasını takip etmeyi / yakalamayı sağlayan mekanizmadır. </a:t>
            </a:r>
          </a:p>
          <a:p>
            <a:pPr marL="0" indent="0">
              <a:buNone/>
            </a:pPr>
            <a:r>
              <a:rPr lang="tr-TR" b="1" dirty="0" smtClean="0"/>
              <a:t>@PrePersist : </a:t>
            </a:r>
            <a:r>
              <a:rPr lang="tr-TR" dirty="0" smtClean="0"/>
              <a:t>Bir </a:t>
            </a:r>
            <a:r>
              <a:rPr lang="tr-TR" b="1" dirty="0" smtClean="0"/>
              <a:t>Entity</a:t>
            </a:r>
            <a:r>
              <a:rPr lang="tr-TR" dirty="0" smtClean="0"/>
              <a:t> nesnesi veritabanında kalıcı hale getirilmeden önce, bu annatotion ile sarmalanmış Entity metodu çağrılır. </a:t>
            </a:r>
          </a:p>
          <a:p>
            <a:pPr marL="0" indent="0">
              <a:buNone/>
            </a:pPr>
            <a:r>
              <a:rPr lang="tr-TR" b="1" dirty="0" smtClean="0"/>
              <a:t>@PostPersist : </a:t>
            </a:r>
            <a:r>
              <a:rPr lang="tr-TR" dirty="0" smtClean="0"/>
              <a:t>Bir </a:t>
            </a:r>
            <a:r>
              <a:rPr lang="tr-TR" b="1" dirty="0" smtClean="0"/>
              <a:t>Entity</a:t>
            </a:r>
            <a:r>
              <a:rPr lang="tr-TR" dirty="0" smtClean="0"/>
              <a:t> nesnesi veritabanında kalıcı hale getirildikten hemen sonra, bu annotation ile sarmalanmış </a:t>
            </a:r>
            <a:r>
              <a:rPr lang="tr-TR" b="1" dirty="0" smtClean="0"/>
              <a:t>Entity</a:t>
            </a:r>
            <a:r>
              <a:rPr lang="tr-TR" dirty="0" smtClean="0"/>
              <a:t> metodu çağrılır. </a:t>
            </a:r>
          </a:p>
          <a:p>
            <a:pPr marL="0" indent="0">
              <a:buNone/>
            </a:pPr>
            <a:r>
              <a:rPr lang="tr-TR" b="1" dirty="0" smtClean="0"/>
              <a:t>@PreUpdate : Entity</a:t>
            </a:r>
            <a:r>
              <a:rPr lang="tr-TR" dirty="0" smtClean="0"/>
              <a:t> nesnesi veritabanına güncellenmeden hemen önce, bu annotation ile sarmalanmış </a:t>
            </a:r>
            <a:r>
              <a:rPr lang="tr-TR" b="1" dirty="0" smtClean="0"/>
              <a:t>Entity</a:t>
            </a:r>
            <a:r>
              <a:rPr lang="tr-TR" dirty="0" smtClean="0"/>
              <a:t> metodu çağrılır. </a:t>
            </a:r>
          </a:p>
          <a:p>
            <a:endParaRPr lang="tr-TR" dirty="0" smtClean="0"/>
          </a:p>
        </p:txBody>
      </p:sp>
    </p:spTree>
    <p:extLst>
      <p:ext uri="{BB962C8B-B14F-4D97-AF65-F5344CB8AC3E}">
        <p14:creationId xmlns:p14="http://schemas.microsoft.com/office/powerpoint/2010/main" val="241552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266700"/>
            <a:ext cx="11595100" cy="6235700"/>
          </a:xfrm>
        </p:spPr>
        <p:txBody>
          <a:bodyPr/>
          <a:lstStyle/>
          <a:p>
            <a:pPr marL="0" indent="0">
              <a:buNone/>
            </a:pPr>
            <a:r>
              <a:rPr lang="tr-TR" b="1" dirty="0"/>
              <a:t>@</a:t>
            </a:r>
            <a:r>
              <a:rPr lang="tr-TR" b="1" dirty="0" smtClean="0"/>
              <a:t>PostUpdate </a:t>
            </a:r>
            <a:r>
              <a:rPr lang="tr-TR" b="1" dirty="0"/>
              <a:t>: Entity</a:t>
            </a:r>
            <a:r>
              <a:rPr lang="tr-TR" dirty="0"/>
              <a:t> nesnesi veritabanına güncellenmeden hemen </a:t>
            </a:r>
            <a:r>
              <a:rPr lang="tr-TR" dirty="0" smtClean="0"/>
              <a:t>sonra, </a:t>
            </a:r>
            <a:r>
              <a:rPr lang="tr-TR" dirty="0"/>
              <a:t>bu annotation ile sarmalanmış </a:t>
            </a:r>
            <a:r>
              <a:rPr lang="tr-TR" b="1" dirty="0"/>
              <a:t>Entity</a:t>
            </a:r>
            <a:r>
              <a:rPr lang="tr-TR" dirty="0"/>
              <a:t> metodu çağrılır. </a:t>
            </a:r>
            <a:endParaRPr lang="tr-TR" dirty="0" smtClean="0"/>
          </a:p>
          <a:p>
            <a:pPr marL="0" indent="0">
              <a:buNone/>
            </a:pPr>
            <a:r>
              <a:rPr lang="tr-TR" b="1" dirty="0"/>
              <a:t>@</a:t>
            </a:r>
            <a:r>
              <a:rPr lang="tr-TR" b="1" dirty="0" smtClean="0"/>
              <a:t>PostLoad </a:t>
            </a:r>
            <a:r>
              <a:rPr lang="tr-TR" b="1" dirty="0"/>
              <a:t>: Entity</a:t>
            </a:r>
            <a:r>
              <a:rPr lang="tr-TR" dirty="0"/>
              <a:t> nesnesi </a:t>
            </a:r>
            <a:r>
              <a:rPr lang="tr-TR" dirty="0" smtClean="0"/>
              <a:t>veritabanındaki en güncel bilgiyle tazelendikten hemen </a:t>
            </a:r>
            <a:r>
              <a:rPr lang="tr-TR" dirty="0"/>
              <a:t>sonra, bu annotation ile sarmalanmış </a:t>
            </a:r>
            <a:r>
              <a:rPr lang="tr-TR" b="1" dirty="0"/>
              <a:t>Entity</a:t>
            </a:r>
            <a:r>
              <a:rPr lang="tr-TR" dirty="0"/>
              <a:t> metodu çağrılır. </a:t>
            </a:r>
            <a:endParaRPr lang="tr-TR" dirty="0" smtClean="0"/>
          </a:p>
          <a:p>
            <a:pPr marL="0" indent="0">
              <a:buNone/>
            </a:pPr>
            <a:r>
              <a:rPr lang="tr-TR" b="1" dirty="0"/>
              <a:t>@</a:t>
            </a:r>
            <a:r>
              <a:rPr lang="tr-TR" b="1" dirty="0" smtClean="0"/>
              <a:t>PreRemove </a:t>
            </a:r>
            <a:r>
              <a:rPr lang="tr-TR" b="1" dirty="0"/>
              <a:t>: Entity</a:t>
            </a:r>
            <a:r>
              <a:rPr lang="tr-TR" dirty="0"/>
              <a:t> nesnesi </a:t>
            </a:r>
            <a:r>
              <a:rPr lang="tr-TR" dirty="0" smtClean="0"/>
              <a:t>veritabanındaki karşılığı silinmeden hemen </a:t>
            </a:r>
            <a:r>
              <a:rPr lang="tr-TR" dirty="0"/>
              <a:t>sonra, bu annotation ile sarmalanmış </a:t>
            </a:r>
            <a:r>
              <a:rPr lang="tr-TR" b="1" dirty="0"/>
              <a:t>Entity</a:t>
            </a:r>
            <a:r>
              <a:rPr lang="tr-TR" dirty="0"/>
              <a:t> metodu çağrılır. </a:t>
            </a:r>
            <a:endParaRPr lang="tr-TR" dirty="0" smtClean="0"/>
          </a:p>
          <a:p>
            <a:pPr marL="0" indent="0">
              <a:buNone/>
            </a:pPr>
            <a:r>
              <a:rPr lang="tr-TR" b="1" dirty="0"/>
              <a:t>@PostRemove : Entity</a:t>
            </a:r>
            <a:r>
              <a:rPr lang="tr-TR" dirty="0"/>
              <a:t> nesnesi veritabanındaki karşılığı </a:t>
            </a:r>
            <a:r>
              <a:rPr lang="tr-TR" dirty="0" smtClean="0"/>
              <a:t>silindikten hemen </a:t>
            </a:r>
            <a:r>
              <a:rPr lang="tr-TR" dirty="0"/>
              <a:t>sonra, bu annotation ile sarmalanmış </a:t>
            </a:r>
            <a:r>
              <a:rPr lang="tr-TR" b="1" dirty="0"/>
              <a:t>Entity</a:t>
            </a:r>
            <a:r>
              <a:rPr lang="tr-TR" dirty="0"/>
              <a:t> metodu çağrılır. </a:t>
            </a:r>
            <a:endParaRPr lang="tr-TR" dirty="0" smtClean="0"/>
          </a:p>
          <a:p>
            <a:pPr marL="0" indent="0">
              <a:buNone/>
            </a:pPr>
            <a:r>
              <a:rPr lang="tr-TR" b="1" dirty="0" smtClean="0"/>
              <a:t>Dinleyiciler : </a:t>
            </a:r>
          </a:p>
          <a:p>
            <a:pPr marL="0" indent="0">
              <a:buNone/>
            </a:pPr>
            <a:r>
              <a:rPr lang="tr-TR" b="1" dirty="0" smtClean="0"/>
              <a:t>Entity</a:t>
            </a:r>
            <a:r>
              <a:rPr lang="tr-TR" dirty="0" smtClean="0"/>
              <a:t> nesnelerine dönük yaşam süreci işlemlerinin öncesini ve sonrasını kontrol etmeye yarayan çağrılar, yalnızca ait bulunduğu </a:t>
            </a:r>
            <a:r>
              <a:rPr lang="tr-TR" b="1" dirty="0" smtClean="0"/>
              <a:t>Entity</a:t>
            </a:r>
            <a:r>
              <a:rPr lang="tr-TR" dirty="0" smtClean="0"/>
              <a:t> sınıfı üzeinde izleme sağlayabilir. Eğer bir entity sınıfı yerine birden fazla </a:t>
            </a:r>
            <a:r>
              <a:rPr lang="tr-TR" b="1" dirty="0" smtClean="0"/>
              <a:t>Entity</a:t>
            </a:r>
            <a:r>
              <a:rPr lang="tr-TR" dirty="0" smtClean="0"/>
              <a:t> sınıfı üzerinde kontrol sağlanmak isteniyorsa </a:t>
            </a:r>
            <a:r>
              <a:rPr lang="tr-TR" b="1" dirty="0" smtClean="0"/>
              <a:t>dinleyicilerden (Listener) </a:t>
            </a:r>
            <a:r>
              <a:rPr lang="tr-TR" dirty="0" smtClean="0"/>
              <a:t>faydalanılabilir. </a:t>
            </a:r>
            <a:endParaRPr lang="tr-TR" dirty="0"/>
          </a:p>
          <a:p>
            <a:pPr marL="0" indent="0">
              <a:buNone/>
            </a:pPr>
            <a:endParaRPr lang="tr-TR" dirty="0"/>
          </a:p>
          <a:p>
            <a:pPr marL="0" indent="0">
              <a:buNone/>
            </a:pPr>
            <a:endParaRPr lang="tr-TR" dirty="0"/>
          </a:p>
          <a:p>
            <a:pPr marL="0" indent="0">
              <a:buNone/>
            </a:pPr>
            <a:endParaRPr lang="tr-TR" dirty="0"/>
          </a:p>
          <a:p>
            <a:endParaRPr lang="en-US" dirty="0"/>
          </a:p>
        </p:txBody>
      </p:sp>
    </p:spTree>
    <p:extLst>
      <p:ext uri="{BB962C8B-B14F-4D97-AF65-F5344CB8AC3E}">
        <p14:creationId xmlns:p14="http://schemas.microsoft.com/office/powerpoint/2010/main" val="1703573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5603</TotalTime>
  <Words>1978</Words>
  <Application>Microsoft Office PowerPoint</Application>
  <PresentationFormat>Widescreen</PresentationFormat>
  <Paragraphs>170</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JPA (Java Persistence API)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NetworkLayer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JPA (Java Persistence API)</dc:title>
  <dc:creator>NetworkLayer</dc:creator>
  <cp:lastModifiedBy>Windows User</cp:lastModifiedBy>
  <cp:revision>80</cp:revision>
  <dcterms:created xsi:type="dcterms:W3CDTF">2019-12-23T21:43:41Z</dcterms:created>
  <dcterms:modified xsi:type="dcterms:W3CDTF">2026-04-30T18:40:36Z</dcterms:modified>
</cp:coreProperties>
</file>