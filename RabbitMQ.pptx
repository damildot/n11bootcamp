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B5EAD2-5F14-49F8-A61C-F78DDC86CC83}" v="401" dt="2022-10-17T05:45:57.618"/>
    <p1510:client id="{7DD04007-999D-4967-AC4F-5A3572CA74E5}" v="464" dt="2022-10-14T06:25:46.694"/>
    <p1510:client id="{B8FA2E70-ED95-4FF9-9D92-46BA51FD4F22}" v="26" dt="2022-10-17T10:19:47.2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5" autoAdjust="0"/>
    <p:restoredTop sz="94660"/>
  </p:normalViewPr>
  <p:slideViewPr>
    <p:cSldViewPr snapToGrid="0">
      <p:cViewPr varScale="1">
        <p:scale>
          <a:sx n="92" d="100"/>
          <a:sy n="92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24.04.2026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099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24.04.2026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431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24.04.2026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683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24.04.2026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2797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24.04.2026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674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24.04.2026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1482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24.04.2026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9817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24.04.2026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091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24.04.2026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18175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24.04.2026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7874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24.04.2026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4856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072480-10DA-4FB4-BEAE-2A1DEA90F248}" type="datetimeFigureOut">
              <a:rPr lang="tr-TR" smtClean="0"/>
              <a:t>24.04.2026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2468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127.0.0.1:15672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tr-TR" b="1" dirty="0" err="1"/>
              <a:t>RabbitMQ</a:t>
            </a:r>
            <a:endParaRPr lang="tr-TR" b="1" dirty="0" err="1">
              <a:cs typeface="Calibri Light"/>
            </a:endParaRPr>
          </a:p>
          <a:p>
            <a:endParaRPr lang="tr-TR" b="1" dirty="0"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="" xmlns:a16="http://schemas.microsoft.com/office/drawing/2014/main" id="{E2EC3C88-99B7-870D-78D1-F7C4B67A7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42" y="155949"/>
            <a:ext cx="11804275" cy="657010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tr-TR" b="1" dirty="0" err="1">
                <a:ea typeface="+mn-lt"/>
                <a:cs typeface="+mn-lt"/>
              </a:rPr>
              <a:t>RabbitMQ</a:t>
            </a:r>
            <a:r>
              <a:rPr lang="tr-TR" b="1" dirty="0">
                <a:ea typeface="+mn-lt"/>
                <a:cs typeface="+mn-lt"/>
              </a:rPr>
              <a:t> Nedir, Ne zaman Kullanılır?</a:t>
            </a:r>
            <a:endParaRPr lang="tr-TR" dirty="0"/>
          </a:p>
          <a:p>
            <a:pPr marL="0" indent="0">
              <a:buNone/>
            </a:pPr>
            <a:r>
              <a:rPr lang="tr-TR" b="1" dirty="0" err="1">
                <a:ea typeface="+mn-lt"/>
                <a:cs typeface="+mn-lt"/>
              </a:rPr>
              <a:t>RabbitMQ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erlang</a:t>
            </a:r>
            <a:r>
              <a:rPr lang="tr-TR" dirty="0">
                <a:ea typeface="+mn-lt"/>
                <a:cs typeface="+mn-lt"/>
              </a:rPr>
              <a:t> dili ile yazılmış en popüler (Kendileri öyle diyor) </a:t>
            </a:r>
            <a:r>
              <a:rPr lang="tr-TR" dirty="0" err="1">
                <a:ea typeface="+mn-lt"/>
                <a:cs typeface="+mn-lt"/>
              </a:rPr>
              <a:t>open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source</a:t>
            </a:r>
            <a:r>
              <a:rPr lang="tr-TR" dirty="0">
                <a:ea typeface="+mn-lt"/>
                <a:cs typeface="+mn-lt"/>
              </a:rPr>
              <a:t> bir </a:t>
            </a:r>
            <a:r>
              <a:rPr lang="tr-TR" dirty="0" err="1">
                <a:ea typeface="+mn-lt"/>
                <a:cs typeface="+mn-lt"/>
              </a:rPr>
              <a:t>message</a:t>
            </a:r>
            <a:r>
              <a:rPr lang="tr-TR" dirty="0">
                <a:ea typeface="+mn-lt"/>
                <a:cs typeface="+mn-lt"/>
              </a:rPr>
              <a:t> brokerdır. Basitçe anlatmak gerekir ise amacı bir yerden aldığı veriyi (Producer) kendine abonman olan başka bir yere (Consumer) teslim etmektedir. (</a:t>
            </a:r>
            <a:r>
              <a:rPr lang="tr-TR" dirty="0" err="1">
                <a:ea typeface="+mn-lt"/>
                <a:cs typeface="+mn-lt"/>
              </a:rPr>
              <a:t>Tabiki</a:t>
            </a:r>
            <a:r>
              <a:rPr lang="tr-TR" dirty="0">
                <a:ea typeface="+mn-lt"/>
                <a:cs typeface="+mn-lt"/>
              </a:rPr>
              <a:t> sırayla.) Alternatifleri </a:t>
            </a:r>
            <a:r>
              <a:rPr lang="tr-TR" b="1" dirty="0">
                <a:ea typeface="+mn-lt"/>
                <a:cs typeface="+mn-lt"/>
              </a:rPr>
              <a:t>(</a:t>
            </a:r>
            <a:r>
              <a:rPr lang="tr-TR" b="1" dirty="0" err="1">
                <a:ea typeface="+mn-lt"/>
                <a:cs typeface="+mn-lt"/>
              </a:rPr>
              <a:t>Microsof</a:t>
            </a:r>
            <a:r>
              <a:rPr lang="tr-TR" b="1" dirty="0">
                <a:ea typeface="+mn-lt"/>
                <a:cs typeface="+mn-lt"/>
              </a:rPr>
              <a:t> Azure Service </a:t>
            </a:r>
            <a:r>
              <a:rPr lang="tr-TR" b="1" dirty="0" err="1">
                <a:ea typeface="+mn-lt"/>
                <a:cs typeface="+mn-lt"/>
              </a:rPr>
              <a:t>Bus</a:t>
            </a:r>
            <a:r>
              <a:rPr lang="tr-TR" b="1" dirty="0">
                <a:ea typeface="+mn-lt"/>
                <a:cs typeface="+mn-lt"/>
              </a:rPr>
              <a:t>, Apache </a:t>
            </a:r>
            <a:r>
              <a:rPr lang="tr-TR" b="1" dirty="0" err="1">
                <a:ea typeface="+mn-lt"/>
                <a:cs typeface="+mn-lt"/>
              </a:rPr>
              <a:t>Kafka,Msmq</a:t>
            </a:r>
            <a:r>
              <a:rPr lang="tr-TR" b="1" dirty="0">
                <a:ea typeface="+mn-lt"/>
                <a:cs typeface="+mn-lt"/>
              </a:rPr>
              <a:t>)</a:t>
            </a:r>
            <a:r>
              <a:rPr lang="tr-TR" dirty="0">
                <a:ea typeface="+mn-lt"/>
                <a:cs typeface="+mn-lt"/>
              </a:rPr>
              <a:t>. </a:t>
            </a:r>
            <a:r>
              <a:rPr lang="tr-TR" dirty="0" err="1">
                <a:ea typeface="+mn-lt"/>
                <a:cs typeface="+mn-lt"/>
              </a:rPr>
              <a:t>Onpromise</a:t>
            </a:r>
            <a:r>
              <a:rPr lang="tr-TR" dirty="0">
                <a:ea typeface="+mn-lt"/>
                <a:cs typeface="+mn-lt"/>
              </a:rPr>
              <a:t> olarak kullanmak ile birlikte </a:t>
            </a:r>
            <a:r>
              <a:rPr lang="tr-TR" dirty="0" err="1">
                <a:ea typeface="+mn-lt"/>
                <a:cs typeface="+mn-lt"/>
              </a:rPr>
              <a:t>cloud</a:t>
            </a:r>
            <a:r>
              <a:rPr lang="tr-TR" dirty="0">
                <a:ea typeface="+mn-lt"/>
                <a:cs typeface="+mn-lt"/>
              </a:rPr>
              <a:t> üzerinde de </a:t>
            </a:r>
            <a:r>
              <a:rPr lang="tr-TR" dirty="0" err="1">
                <a:ea typeface="+mn-lt"/>
                <a:cs typeface="+mn-lt"/>
              </a:rPr>
              <a:t>deploy</a:t>
            </a:r>
            <a:r>
              <a:rPr lang="tr-TR" dirty="0">
                <a:ea typeface="+mn-lt"/>
                <a:cs typeface="+mn-lt"/>
              </a:rPr>
              <a:t> edebilirsiniz.</a:t>
            </a:r>
          </a:p>
          <a:p>
            <a:pPr marL="0" indent="0">
              <a:buNone/>
            </a:pPr>
            <a:r>
              <a:rPr lang="tr-TR" dirty="0">
                <a:ea typeface="+mn-lt"/>
                <a:cs typeface="+mn-lt"/>
              </a:rPr>
              <a:t>Yine aynı şekilde </a:t>
            </a:r>
            <a:r>
              <a:rPr lang="tr-TR" dirty="0" err="1">
                <a:ea typeface="+mn-lt"/>
                <a:cs typeface="+mn-lt"/>
              </a:rPr>
              <a:t>docker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image</a:t>
            </a:r>
            <a:r>
              <a:rPr lang="tr-TR" dirty="0">
                <a:ea typeface="+mn-lt"/>
                <a:cs typeface="+mn-lt"/>
              </a:rPr>
              <a:t> alıp </a:t>
            </a:r>
            <a:r>
              <a:rPr lang="tr-TR" dirty="0" err="1">
                <a:ea typeface="+mn-lt"/>
                <a:cs typeface="+mn-lt"/>
              </a:rPr>
              <a:t>container</a:t>
            </a:r>
            <a:r>
              <a:rPr lang="tr-TR" dirty="0">
                <a:ea typeface="+mn-lt"/>
                <a:cs typeface="+mn-lt"/>
              </a:rPr>
              <a:t> ayağa kaldırıp kullanabilirsiniz. </a:t>
            </a:r>
          </a:p>
          <a:p>
            <a:pPr>
              <a:buNone/>
            </a:pPr>
            <a:r>
              <a:rPr lang="tr-TR" b="1" dirty="0">
                <a:ea typeface="+mn-lt"/>
                <a:cs typeface="+mn-lt"/>
              </a:rPr>
              <a:t>Protokol Desteği</a:t>
            </a:r>
            <a:endParaRPr lang="tr-TR" dirty="0"/>
          </a:p>
          <a:p>
            <a:pPr>
              <a:buNone/>
            </a:pPr>
            <a:r>
              <a:rPr lang="tr-TR" dirty="0">
                <a:ea typeface="+mn-lt"/>
                <a:cs typeface="+mn-lt"/>
              </a:rPr>
              <a:t>Direk olarak </a:t>
            </a:r>
            <a:r>
              <a:rPr lang="tr-TR" b="1" dirty="0">
                <a:ea typeface="+mn-lt"/>
                <a:cs typeface="+mn-lt"/>
              </a:rPr>
              <a:t>AMQP (Advanced </a:t>
            </a:r>
            <a:r>
              <a:rPr lang="tr-TR" b="1" dirty="0" err="1">
                <a:ea typeface="+mn-lt"/>
                <a:cs typeface="+mn-lt"/>
              </a:rPr>
              <a:t>message</a:t>
            </a:r>
            <a:r>
              <a:rPr lang="tr-TR" b="1" dirty="0">
                <a:ea typeface="+mn-lt"/>
                <a:cs typeface="+mn-lt"/>
              </a:rPr>
              <a:t> Queue Protokol)</a:t>
            </a:r>
            <a:r>
              <a:rPr lang="tr-TR" dirty="0">
                <a:ea typeface="+mn-lt"/>
                <a:cs typeface="+mn-lt"/>
              </a:rPr>
              <a:t> desteklemek ile birlikte </a:t>
            </a:r>
            <a:r>
              <a:rPr lang="tr-TR" dirty="0" err="1">
                <a:ea typeface="+mn-lt"/>
                <a:cs typeface="+mn-lt"/>
              </a:rPr>
              <a:t>pluginler</a:t>
            </a:r>
            <a:r>
              <a:rPr lang="tr-TR" dirty="0">
                <a:ea typeface="+mn-lt"/>
                <a:cs typeface="+mn-lt"/>
              </a:rPr>
              <a:t> vasıtasıyla </a:t>
            </a:r>
            <a:r>
              <a:rPr lang="tr-TR" b="1" dirty="0">
                <a:ea typeface="+mn-lt"/>
                <a:cs typeface="+mn-lt"/>
              </a:rPr>
              <a:t>STOP (Simple </a:t>
            </a:r>
            <a:r>
              <a:rPr lang="tr-TR" b="1" dirty="0" err="1">
                <a:ea typeface="+mn-lt"/>
                <a:cs typeface="+mn-lt"/>
              </a:rPr>
              <a:t>or</a:t>
            </a:r>
            <a:r>
              <a:rPr lang="tr-TR" b="1" dirty="0">
                <a:ea typeface="+mn-lt"/>
                <a:cs typeface="+mn-lt"/>
              </a:rPr>
              <a:t> (</a:t>
            </a:r>
            <a:r>
              <a:rPr lang="tr-TR" b="1" dirty="0" err="1">
                <a:ea typeface="+mn-lt"/>
                <a:cs typeface="+mn-lt"/>
              </a:rPr>
              <a:t>Streaming</a:t>
            </a:r>
            <a:r>
              <a:rPr lang="tr-TR" b="1" dirty="0">
                <a:ea typeface="+mn-lt"/>
                <a:cs typeface="+mn-lt"/>
              </a:rPr>
              <a:t>) </a:t>
            </a:r>
            <a:r>
              <a:rPr lang="tr-TR" b="1" dirty="0" err="1">
                <a:ea typeface="+mn-lt"/>
                <a:cs typeface="+mn-lt"/>
              </a:rPr>
              <a:t>Text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b="1" dirty="0" err="1">
                <a:ea typeface="+mn-lt"/>
                <a:cs typeface="+mn-lt"/>
              </a:rPr>
              <a:t>Orientate</a:t>
            </a:r>
            <a:r>
              <a:rPr lang="tr-TR" dirty="0" err="1">
                <a:ea typeface="+mn-lt"/>
                <a:cs typeface="+mn-lt"/>
              </a:rPr>
              <a:t>d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b="1" dirty="0">
                <a:ea typeface="+mn-lt"/>
                <a:cs typeface="+mn-lt"/>
              </a:rPr>
              <a:t>Messaging Protokol)</a:t>
            </a:r>
            <a:r>
              <a:rPr lang="tr-TR" dirty="0">
                <a:ea typeface="+mn-lt"/>
                <a:cs typeface="+mn-lt"/>
              </a:rPr>
              <a:t> gibi bir çok </a:t>
            </a:r>
            <a:r>
              <a:rPr lang="tr-TR" b="1" dirty="0">
                <a:ea typeface="+mn-lt"/>
                <a:cs typeface="+mn-lt"/>
              </a:rPr>
              <a:t>Messaging </a:t>
            </a:r>
            <a:r>
              <a:rPr lang="tr-TR" b="1" dirty="0" err="1">
                <a:ea typeface="+mn-lt"/>
                <a:cs typeface="+mn-lt"/>
              </a:rPr>
              <a:t>protokolu</a:t>
            </a:r>
            <a:r>
              <a:rPr lang="tr-TR" dirty="0">
                <a:ea typeface="+mn-lt"/>
                <a:cs typeface="+mn-lt"/>
              </a:rPr>
              <a:t> desteklemektedir.</a:t>
            </a:r>
            <a:endParaRPr lang="tr-TR" dirty="0"/>
          </a:p>
          <a:p>
            <a:pPr marL="0" indent="0">
              <a:buNone/>
            </a:pPr>
            <a:r>
              <a:rPr lang="tr-TR" dirty="0">
                <a:ea typeface="+mn-lt"/>
                <a:cs typeface="+mn-lt"/>
              </a:rPr>
              <a:t> Anlık yapılmaya ihtiyaç olmayan işlemlerde kullanılması(Mail veya sms gönderimi, e-ticaret projelerinde sipariş sonrası fatura kesilmesi veya kargo entegrasyon işlemlerinin yapılması) ile ön planda olsa </a:t>
            </a:r>
            <a:r>
              <a:rPr lang="tr-TR" b="1" dirty="0" err="1">
                <a:ea typeface="+mn-lt"/>
                <a:cs typeface="+mn-lt"/>
              </a:rPr>
              <a:t>Scalable</a:t>
            </a:r>
            <a:r>
              <a:rPr lang="tr-TR" dirty="0">
                <a:ea typeface="+mn-lt"/>
                <a:cs typeface="+mn-lt"/>
              </a:rPr>
              <a:t>(ölçeklenebilir) uygulamaların olmazsa olmazıdır diyebilirim.(Genel olarak “Message </a:t>
            </a:r>
            <a:r>
              <a:rPr lang="tr-TR" dirty="0" err="1">
                <a:ea typeface="+mn-lt"/>
                <a:cs typeface="+mn-lt"/>
              </a:rPr>
              <a:t>broker”lar</a:t>
            </a:r>
            <a:r>
              <a:rPr lang="tr-TR" dirty="0">
                <a:ea typeface="+mn-lt"/>
                <a:cs typeface="+mn-lt"/>
              </a:rPr>
              <a:t>)</a:t>
            </a:r>
            <a:endParaRPr lang="tr-TR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0748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="" xmlns:a16="http://schemas.microsoft.com/office/drawing/2014/main" id="{E2EC3C88-99B7-870D-78D1-F7C4B67A7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42" y="155949"/>
            <a:ext cx="11804275" cy="657010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tr-TR" sz="2000" b="1" dirty="0">
                <a:ea typeface="+mn-lt"/>
                <a:cs typeface="+mn-lt"/>
              </a:rPr>
              <a:t>Çalışma Mantığı</a:t>
            </a:r>
            <a:endParaRPr lang="tr-TR" sz="2000" dirty="0">
              <a:cs typeface="Calibri"/>
            </a:endParaRPr>
          </a:p>
          <a:p>
            <a:pPr>
              <a:buNone/>
            </a:pPr>
            <a:r>
              <a:rPr lang="tr-TR" sz="2000" dirty="0">
                <a:ea typeface="+mn-lt"/>
                <a:cs typeface="+mn-lt"/>
              </a:rPr>
              <a:t>Burada önemli bir konuya değinecek olursak .Aşağıda da görüldüğü üzere </a:t>
            </a:r>
            <a:r>
              <a:rPr lang="tr-TR" sz="2000" b="1" dirty="0">
                <a:ea typeface="+mn-lt"/>
                <a:cs typeface="+mn-lt"/>
              </a:rPr>
              <a:t>Publisher </a:t>
            </a:r>
            <a:r>
              <a:rPr lang="tr-TR" sz="2000" dirty="0">
                <a:ea typeface="+mn-lt"/>
                <a:cs typeface="+mn-lt"/>
              </a:rPr>
              <a:t> veriyi direk olarak “</a:t>
            </a:r>
            <a:r>
              <a:rPr lang="tr-TR" sz="2000" b="1" dirty="0" err="1">
                <a:ea typeface="+mn-lt"/>
                <a:cs typeface="+mn-lt"/>
              </a:rPr>
              <a:t>queue</a:t>
            </a:r>
            <a:r>
              <a:rPr lang="tr-TR" sz="2000" dirty="0">
                <a:ea typeface="+mn-lt"/>
                <a:cs typeface="+mn-lt"/>
              </a:rPr>
              <a:t>” ya değil </a:t>
            </a:r>
            <a:r>
              <a:rPr lang="tr-TR" sz="2000" b="1" dirty="0" err="1">
                <a:ea typeface="+mn-lt"/>
                <a:cs typeface="+mn-lt"/>
              </a:rPr>
              <a:t>excehange</a:t>
            </a:r>
            <a:r>
              <a:rPr lang="tr-TR" sz="2000" b="1" dirty="0">
                <a:ea typeface="+mn-lt"/>
                <a:cs typeface="+mn-lt"/>
              </a:rPr>
              <a:t> </a:t>
            </a:r>
            <a:r>
              <a:rPr lang="tr-TR" sz="2000" dirty="0">
                <a:ea typeface="+mn-lt"/>
                <a:cs typeface="+mn-lt"/>
              </a:rPr>
              <a:t>üzerinden iletmektedir. Yani aslında </a:t>
            </a:r>
            <a:r>
              <a:rPr lang="tr-TR" sz="2000" b="1" dirty="0" err="1">
                <a:ea typeface="+mn-lt"/>
                <a:cs typeface="+mn-lt"/>
              </a:rPr>
              <a:t>publisher</a:t>
            </a:r>
            <a:r>
              <a:rPr lang="tr-TR" sz="2000" b="1" dirty="0">
                <a:ea typeface="+mn-lt"/>
                <a:cs typeface="+mn-lt"/>
              </a:rPr>
              <a:t> </a:t>
            </a:r>
            <a:r>
              <a:rPr lang="tr-TR" sz="2000" dirty="0">
                <a:ea typeface="+mn-lt"/>
                <a:cs typeface="+mn-lt"/>
              </a:rPr>
              <a:t>“</a:t>
            </a:r>
            <a:r>
              <a:rPr lang="tr-TR" sz="2000" b="1" dirty="0" err="1">
                <a:ea typeface="+mn-lt"/>
                <a:cs typeface="+mn-lt"/>
              </a:rPr>
              <a:t>queue</a:t>
            </a:r>
            <a:r>
              <a:rPr lang="tr-TR" sz="2000" dirty="0">
                <a:ea typeface="+mn-lt"/>
                <a:cs typeface="+mn-lt"/>
              </a:rPr>
              <a:t>” </a:t>
            </a:r>
            <a:r>
              <a:rPr lang="tr-TR" sz="2000" dirty="0" err="1">
                <a:ea typeface="+mn-lt"/>
                <a:cs typeface="+mn-lt"/>
              </a:rPr>
              <a:t>yi</a:t>
            </a:r>
            <a:r>
              <a:rPr lang="tr-TR" sz="2000" dirty="0">
                <a:ea typeface="+mn-lt"/>
                <a:cs typeface="+mn-lt"/>
              </a:rPr>
              <a:t> bilmemektedir. Mesaj </a:t>
            </a:r>
            <a:r>
              <a:rPr lang="tr-TR" sz="2000" b="1" dirty="0" err="1">
                <a:ea typeface="+mn-lt"/>
                <a:cs typeface="+mn-lt"/>
              </a:rPr>
              <a:t>exchange</a:t>
            </a:r>
            <a:r>
              <a:rPr lang="tr-TR" sz="2000" b="1" dirty="0">
                <a:ea typeface="+mn-lt"/>
                <a:cs typeface="+mn-lt"/>
              </a:rPr>
              <a:t> </a:t>
            </a:r>
            <a:r>
              <a:rPr lang="tr-TR" sz="2000" dirty="0">
                <a:ea typeface="+mn-lt"/>
                <a:cs typeface="+mn-lt"/>
              </a:rPr>
              <a:t>üzerinden </a:t>
            </a:r>
            <a:r>
              <a:rPr lang="tr-TR" sz="2000" b="1" dirty="0">
                <a:ea typeface="+mn-lt"/>
                <a:cs typeface="+mn-lt"/>
              </a:rPr>
              <a:t>routing </a:t>
            </a:r>
            <a:r>
              <a:rPr lang="tr-TR" sz="2000" b="1" dirty="0" err="1">
                <a:ea typeface="+mn-lt"/>
                <a:cs typeface="+mn-lt"/>
              </a:rPr>
              <a:t>key’e</a:t>
            </a:r>
            <a:r>
              <a:rPr lang="tr-TR" sz="2000" b="1" dirty="0">
                <a:ea typeface="+mn-lt"/>
                <a:cs typeface="+mn-lt"/>
              </a:rPr>
              <a:t> </a:t>
            </a:r>
            <a:r>
              <a:rPr lang="tr-TR" sz="2000" dirty="0">
                <a:ea typeface="+mn-lt"/>
                <a:cs typeface="+mn-lt"/>
              </a:rPr>
              <a:t>göre “</a:t>
            </a:r>
            <a:r>
              <a:rPr lang="tr-TR" sz="2000" b="1" dirty="0" err="1">
                <a:ea typeface="+mn-lt"/>
                <a:cs typeface="+mn-lt"/>
              </a:rPr>
              <a:t>queue</a:t>
            </a:r>
            <a:r>
              <a:rPr lang="tr-TR" sz="2000" dirty="0">
                <a:ea typeface="+mn-lt"/>
                <a:cs typeface="+mn-lt"/>
              </a:rPr>
              <a:t>” ya iletilmektedir.</a:t>
            </a:r>
            <a:endParaRPr lang="tr-TR" sz="2000" dirty="0">
              <a:cs typeface="Calibri"/>
            </a:endParaRPr>
          </a:p>
          <a:p>
            <a:pPr>
              <a:buNone/>
            </a:pPr>
            <a:r>
              <a:rPr lang="tr-TR" sz="2000" b="1" dirty="0" err="1">
                <a:ea typeface="+mn-lt"/>
                <a:cs typeface="+mn-lt"/>
              </a:rPr>
              <a:t>RabbitMQ</a:t>
            </a:r>
            <a:r>
              <a:rPr lang="tr-TR" sz="2000" b="1" dirty="0">
                <a:ea typeface="+mn-lt"/>
                <a:cs typeface="+mn-lt"/>
              </a:rPr>
              <a:t> </a:t>
            </a:r>
            <a:r>
              <a:rPr lang="tr-TR" sz="2000" dirty="0" err="1">
                <a:ea typeface="+mn-lt"/>
                <a:cs typeface="+mn-lt"/>
              </a:rPr>
              <a:t>kisacasi</a:t>
            </a:r>
            <a:r>
              <a:rPr lang="tr-TR" sz="2000" dirty="0">
                <a:ea typeface="+mn-lt"/>
                <a:cs typeface="+mn-lt"/>
              </a:rPr>
              <a:t> bir yerden </a:t>
            </a:r>
            <a:r>
              <a:rPr lang="tr-TR" sz="2000" dirty="0" err="1">
                <a:ea typeface="+mn-lt"/>
                <a:cs typeface="+mn-lt"/>
              </a:rPr>
              <a:t>ornegin</a:t>
            </a:r>
            <a:r>
              <a:rPr lang="tr-TR" sz="2000" dirty="0">
                <a:ea typeface="+mn-lt"/>
                <a:cs typeface="+mn-lt"/>
              </a:rPr>
              <a:t> </a:t>
            </a:r>
            <a:r>
              <a:rPr lang="tr-TR" sz="2000" dirty="0" err="1">
                <a:ea typeface="+mn-lt"/>
                <a:cs typeface="+mn-lt"/>
              </a:rPr>
              <a:t>kullanici</a:t>
            </a:r>
            <a:r>
              <a:rPr lang="tr-TR" sz="2000" dirty="0">
                <a:ea typeface="+mn-lt"/>
                <a:cs typeface="+mn-lt"/>
              </a:rPr>
              <a:t> </a:t>
            </a:r>
            <a:r>
              <a:rPr lang="tr-TR" sz="2000" dirty="0" err="1">
                <a:ea typeface="+mn-lt"/>
                <a:cs typeface="+mn-lt"/>
              </a:rPr>
              <a:t>kayit</a:t>
            </a:r>
            <a:r>
              <a:rPr lang="tr-TR" sz="2000" dirty="0">
                <a:ea typeface="+mn-lt"/>
                <a:cs typeface="+mn-lt"/>
              </a:rPr>
              <a:t> formundan gelecek bir veriyi kendisinden veri bekleyen bir </a:t>
            </a:r>
            <a:r>
              <a:rPr lang="tr-TR" sz="2000" b="1" dirty="0" err="1">
                <a:ea typeface="+mn-lt"/>
                <a:cs typeface="+mn-lt"/>
              </a:rPr>
              <a:t>consumer'a</a:t>
            </a:r>
            <a:r>
              <a:rPr lang="tr-TR" sz="2000" b="1" dirty="0">
                <a:ea typeface="+mn-lt"/>
                <a:cs typeface="+mn-lt"/>
              </a:rPr>
              <a:t> </a:t>
            </a:r>
            <a:r>
              <a:rPr lang="tr-TR" sz="2000" dirty="0">
                <a:ea typeface="+mn-lt"/>
                <a:cs typeface="+mn-lt"/>
              </a:rPr>
              <a:t>teslim eder. Bu </a:t>
            </a:r>
            <a:r>
              <a:rPr lang="tr-TR" sz="2000" dirty="0" err="1">
                <a:ea typeface="+mn-lt"/>
                <a:cs typeface="+mn-lt"/>
              </a:rPr>
              <a:t>islemler</a:t>
            </a:r>
            <a:r>
              <a:rPr lang="tr-TR" sz="2000" dirty="0">
                <a:ea typeface="+mn-lt"/>
                <a:cs typeface="+mn-lt"/>
              </a:rPr>
              <a:t> bir </a:t>
            </a:r>
            <a:r>
              <a:rPr lang="tr-TR" sz="2000" b="1" dirty="0" err="1">
                <a:ea typeface="+mn-lt"/>
                <a:cs typeface="+mn-lt"/>
              </a:rPr>
              <a:t>publisher</a:t>
            </a:r>
            <a:r>
              <a:rPr lang="tr-TR" sz="2000" b="1" dirty="0">
                <a:ea typeface="+mn-lt"/>
                <a:cs typeface="+mn-lt"/>
              </a:rPr>
              <a:t>/</a:t>
            </a:r>
            <a:r>
              <a:rPr lang="tr-TR" sz="2000" b="1" dirty="0" err="1">
                <a:ea typeface="+mn-lt"/>
                <a:cs typeface="+mn-lt"/>
              </a:rPr>
              <a:t>producer</a:t>
            </a:r>
            <a:r>
              <a:rPr lang="tr-TR" sz="2000" b="1" dirty="0">
                <a:ea typeface="+mn-lt"/>
                <a:cs typeface="+mn-lt"/>
              </a:rPr>
              <a:t> ~ </a:t>
            </a:r>
            <a:r>
              <a:rPr lang="tr-TR" sz="2000" b="1" dirty="0" err="1">
                <a:ea typeface="+mn-lt"/>
                <a:cs typeface="+mn-lt"/>
              </a:rPr>
              <a:t>consumer</a:t>
            </a:r>
            <a:r>
              <a:rPr lang="tr-TR" sz="2000" dirty="0">
                <a:ea typeface="+mn-lt"/>
                <a:cs typeface="+mn-lt"/>
              </a:rPr>
              <a:t> </a:t>
            </a:r>
            <a:r>
              <a:rPr lang="tr-TR" sz="2000" dirty="0" err="1">
                <a:ea typeface="+mn-lt"/>
                <a:cs typeface="+mn-lt"/>
              </a:rPr>
              <a:t>iliskisi</a:t>
            </a:r>
            <a:r>
              <a:rPr lang="tr-TR" sz="2000" dirty="0">
                <a:ea typeface="+mn-lt"/>
                <a:cs typeface="+mn-lt"/>
              </a:rPr>
              <a:t> sonucu </a:t>
            </a:r>
            <a:r>
              <a:rPr lang="tr-TR" sz="2000" dirty="0" err="1">
                <a:ea typeface="+mn-lt"/>
                <a:cs typeface="+mn-lt"/>
              </a:rPr>
              <a:t>tamamlanir</a:t>
            </a:r>
            <a:r>
              <a:rPr lang="tr-TR" sz="2000" dirty="0">
                <a:ea typeface="+mn-lt"/>
                <a:cs typeface="+mn-lt"/>
              </a:rPr>
              <a:t>.</a:t>
            </a:r>
            <a:endParaRPr lang="tr-TR" sz="2000" dirty="0">
              <a:cs typeface="Calibri"/>
            </a:endParaRPr>
          </a:p>
          <a:p>
            <a:pPr>
              <a:buNone/>
            </a:pPr>
            <a:endParaRPr lang="tr-TR" sz="2000" dirty="0">
              <a:cs typeface="Calibri"/>
            </a:endParaRPr>
          </a:p>
          <a:p>
            <a:pPr>
              <a:buNone/>
            </a:pPr>
            <a:endParaRPr lang="tr-TR" sz="2000" dirty="0">
              <a:cs typeface="Calibri"/>
            </a:endParaRPr>
          </a:p>
          <a:p>
            <a:pPr>
              <a:buNone/>
            </a:pPr>
            <a:endParaRPr lang="tr-TR" sz="2000" dirty="0">
              <a:cs typeface="Calibri"/>
            </a:endParaRPr>
          </a:p>
          <a:p>
            <a:pPr>
              <a:buNone/>
            </a:pPr>
            <a:endParaRPr lang="tr-TR" sz="2000" dirty="0">
              <a:cs typeface="Calibri"/>
            </a:endParaRPr>
          </a:p>
          <a:p>
            <a:pPr>
              <a:buNone/>
            </a:pPr>
            <a:endParaRPr lang="tr-TR" sz="2000" dirty="0">
              <a:cs typeface="Calibri"/>
            </a:endParaRPr>
          </a:p>
          <a:p>
            <a:pPr>
              <a:buNone/>
            </a:pPr>
            <a:endParaRPr lang="tr-TR" sz="2000" dirty="0">
              <a:ea typeface="+mn-lt"/>
              <a:cs typeface="+mn-lt"/>
            </a:endParaRPr>
          </a:p>
          <a:p>
            <a:pPr>
              <a:buNone/>
            </a:pPr>
            <a:endParaRPr lang="tr-TR" sz="2000" dirty="0">
              <a:ea typeface="+mn-lt"/>
              <a:cs typeface="+mn-lt"/>
            </a:endParaRPr>
          </a:p>
          <a:p>
            <a:pPr>
              <a:buNone/>
            </a:pPr>
            <a:endParaRPr lang="tr-TR" sz="2000" dirty="0">
              <a:ea typeface="+mn-lt"/>
              <a:cs typeface="+mn-lt"/>
            </a:endParaRPr>
          </a:p>
          <a:p>
            <a:pPr>
              <a:buNone/>
            </a:pPr>
            <a:endParaRPr lang="tr-TR" sz="2000" dirty="0">
              <a:ea typeface="+mn-lt"/>
              <a:cs typeface="+mn-lt"/>
            </a:endParaRPr>
          </a:p>
          <a:p>
            <a:pPr>
              <a:buNone/>
            </a:pPr>
            <a:r>
              <a:rPr lang="tr-TR" sz="2000" dirty="0" err="1">
                <a:ea typeface="+mn-lt"/>
                <a:cs typeface="+mn-lt"/>
              </a:rPr>
              <a:t>Yukaridaki</a:t>
            </a:r>
            <a:r>
              <a:rPr lang="tr-TR" sz="2000" dirty="0">
                <a:ea typeface="+mn-lt"/>
                <a:cs typeface="+mn-lt"/>
              </a:rPr>
              <a:t> </a:t>
            </a:r>
            <a:r>
              <a:rPr lang="tr-TR" sz="2000" dirty="0" err="1">
                <a:ea typeface="+mn-lt"/>
                <a:cs typeface="+mn-lt"/>
              </a:rPr>
              <a:t>diagrama</a:t>
            </a:r>
            <a:r>
              <a:rPr lang="tr-TR" sz="2000" dirty="0">
                <a:ea typeface="+mn-lt"/>
                <a:cs typeface="+mn-lt"/>
              </a:rPr>
              <a:t> </a:t>
            </a:r>
            <a:r>
              <a:rPr lang="tr-TR" sz="2000" dirty="0" err="1">
                <a:ea typeface="+mn-lt"/>
                <a:cs typeface="+mn-lt"/>
              </a:rPr>
              <a:t>gore</a:t>
            </a:r>
            <a:r>
              <a:rPr lang="tr-TR" sz="2000" dirty="0">
                <a:ea typeface="+mn-lt"/>
                <a:cs typeface="+mn-lt"/>
              </a:rPr>
              <a:t> </a:t>
            </a:r>
            <a:r>
              <a:rPr lang="tr-TR" sz="2000" b="1" dirty="0" err="1">
                <a:ea typeface="+mn-lt"/>
                <a:cs typeface="+mn-lt"/>
              </a:rPr>
              <a:t>publisher</a:t>
            </a:r>
            <a:r>
              <a:rPr lang="tr-TR" sz="2000" b="1" dirty="0">
                <a:ea typeface="+mn-lt"/>
                <a:cs typeface="+mn-lt"/>
              </a:rPr>
              <a:t> </a:t>
            </a:r>
            <a:r>
              <a:rPr lang="tr-TR" sz="2000" dirty="0">
                <a:ea typeface="+mn-lt"/>
                <a:cs typeface="+mn-lt"/>
              </a:rPr>
              <a:t>ya da </a:t>
            </a:r>
            <a:r>
              <a:rPr lang="tr-TR" sz="2000" b="1" dirty="0" err="1">
                <a:ea typeface="+mn-lt"/>
                <a:cs typeface="+mn-lt"/>
              </a:rPr>
              <a:t>producer</a:t>
            </a:r>
            <a:r>
              <a:rPr lang="tr-TR" sz="2000" dirty="0">
                <a:ea typeface="+mn-lt"/>
                <a:cs typeface="+mn-lt"/>
              </a:rPr>
              <a:t>, bir </a:t>
            </a:r>
            <a:r>
              <a:rPr lang="tr-TR" sz="2000" dirty="0" err="1">
                <a:ea typeface="+mn-lt"/>
                <a:cs typeface="+mn-lt"/>
              </a:rPr>
              <a:t>mesaji</a:t>
            </a:r>
            <a:r>
              <a:rPr lang="tr-TR" sz="2000" dirty="0">
                <a:ea typeface="+mn-lt"/>
                <a:cs typeface="+mn-lt"/>
              </a:rPr>
              <a:t> direkt olarak </a:t>
            </a:r>
            <a:r>
              <a:rPr lang="tr-TR" sz="2000" b="1" dirty="0" err="1">
                <a:ea typeface="+mn-lt"/>
                <a:cs typeface="+mn-lt"/>
              </a:rPr>
              <a:t>consumer'a</a:t>
            </a:r>
            <a:r>
              <a:rPr lang="tr-TR" sz="2000" b="1" dirty="0">
                <a:ea typeface="+mn-lt"/>
                <a:cs typeface="+mn-lt"/>
              </a:rPr>
              <a:t> </a:t>
            </a:r>
            <a:r>
              <a:rPr lang="tr-TR" sz="2000" dirty="0">
                <a:ea typeface="+mn-lt"/>
                <a:cs typeface="+mn-lt"/>
              </a:rPr>
              <a:t>teslim etmez. Bunu da </a:t>
            </a:r>
            <a:r>
              <a:rPr lang="tr-TR" sz="2000" dirty="0" err="1">
                <a:ea typeface="+mn-lt"/>
                <a:cs typeface="+mn-lt"/>
              </a:rPr>
              <a:t>route'lar</a:t>
            </a:r>
            <a:r>
              <a:rPr lang="tr-TR" sz="2000" dirty="0">
                <a:ea typeface="+mn-lt"/>
                <a:cs typeface="+mn-lt"/>
              </a:rPr>
              <a:t> yani </a:t>
            </a:r>
            <a:r>
              <a:rPr lang="tr-TR" sz="2000" dirty="0" err="1">
                <a:ea typeface="+mn-lt"/>
                <a:cs typeface="+mn-lt"/>
              </a:rPr>
              <a:t>route</a:t>
            </a:r>
            <a:r>
              <a:rPr lang="tr-TR" sz="2000" dirty="0">
                <a:ea typeface="+mn-lt"/>
                <a:cs typeface="+mn-lt"/>
              </a:rPr>
              <a:t> </a:t>
            </a:r>
            <a:r>
              <a:rPr lang="tr-TR" sz="2000" dirty="0" err="1">
                <a:ea typeface="+mn-lt"/>
                <a:cs typeface="+mn-lt"/>
              </a:rPr>
              <a:t>key'ler</a:t>
            </a:r>
            <a:r>
              <a:rPr lang="tr-TR" sz="2000" dirty="0">
                <a:ea typeface="+mn-lt"/>
                <a:cs typeface="+mn-lt"/>
              </a:rPr>
              <a:t> </a:t>
            </a:r>
            <a:r>
              <a:rPr lang="tr-TR" sz="2000" dirty="0" err="1">
                <a:ea typeface="+mn-lt"/>
                <a:cs typeface="+mn-lt"/>
              </a:rPr>
              <a:t>uzerinden</a:t>
            </a:r>
            <a:r>
              <a:rPr lang="tr-TR" sz="2000" dirty="0">
                <a:ea typeface="+mn-lt"/>
                <a:cs typeface="+mn-lt"/>
              </a:rPr>
              <a:t> </a:t>
            </a:r>
            <a:r>
              <a:rPr lang="tr-TR" sz="2000" dirty="0" err="1">
                <a:ea typeface="+mn-lt"/>
                <a:cs typeface="+mn-lt"/>
              </a:rPr>
              <a:t>gerceklestirir</a:t>
            </a:r>
            <a:r>
              <a:rPr lang="tr-TR" sz="2000" dirty="0">
                <a:ea typeface="+mn-lt"/>
                <a:cs typeface="+mn-lt"/>
              </a:rPr>
              <a:t>. Burada bilmemiz gereken </a:t>
            </a:r>
            <a:r>
              <a:rPr lang="tr-TR" sz="2000" dirty="0" err="1">
                <a:ea typeface="+mn-lt"/>
                <a:cs typeface="+mn-lt"/>
              </a:rPr>
              <a:t>sey</a:t>
            </a:r>
            <a:r>
              <a:rPr lang="tr-TR" sz="2000" dirty="0">
                <a:ea typeface="+mn-lt"/>
                <a:cs typeface="+mn-lt"/>
              </a:rPr>
              <a:t>, </a:t>
            </a:r>
            <a:r>
              <a:rPr lang="tr-TR" sz="2000" dirty="0" err="1">
                <a:ea typeface="+mn-lt"/>
                <a:cs typeface="+mn-lt"/>
              </a:rPr>
              <a:t>publisher</a:t>
            </a:r>
            <a:r>
              <a:rPr lang="tr-TR" sz="2000" dirty="0">
                <a:ea typeface="+mn-lt"/>
                <a:cs typeface="+mn-lt"/>
              </a:rPr>
              <a:t> </a:t>
            </a:r>
            <a:r>
              <a:rPr lang="tr-TR" sz="2000" b="1" dirty="0" err="1">
                <a:ea typeface="+mn-lt"/>
                <a:cs typeface="+mn-lt"/>
              </a:rPr>
              <a:t>queue'da</a:t>
            </a:r>
            <a:r>
              <a:rPr lang="tr-TR" sz="2000" b="1" dirty="0">
                <a:ea typeface="+mn-lt"/>
                <a:cs typeface="+mn-lt"/>
              </a:rPr>
              <a:t> </a:t>
            </a:r>
            <a:r>
              <a:rPr lang="tr-TR" sz="2000" dirty="0">
                <a:ea typeface="+mn-lt"/>
                <a:cs typeface="+mn-lt"/>
              </a:rPr>
              <a:t>ne var gibi bir bilgiye sahip </a:t>
            </a:r>
            <a:r>
              <a:rPr lang="tr-TR" sz="2000" dirty="0" err="1">
                <a:ea typeface="+mn-lt"/>
                <a:cs typeface="+mn-lt"/>
              </a:rPr>
              <a:t>degil</a:t>
            </a:r>
            <a:r>
              <a:rPr lang="tr-TR" sz="2000" dirty="0">
                <a:ea typeface="+mn-lt"/>
                <a:cs typeface="+mn-lt"/>
              </a:rPr>
              <a:t>.</a:t>
            </a:r>
            <a:endParaRPr lang="tr-TR" sz="2000">
              <a:cs typeface="Calibri"/>
            </a:endParaRPr>
          </a:p>
          <a:p>
            <a:pPr marL="0" indent="0">
              <a:buNone/>
            </a:pPr>
            <a:endParaRPr lang="tr-TR" dirty="0">
              <a:cs typeface="Calibri"/>
            </a:endParaRPr>
          </a:p>
        </p:txBody>
      </p:sp>
      <p:pic>
        <p:nvPicPr>
          <p:cNvPr id="2" name="Resim 3">
            <a:extLst>
              <a:ext uri="{FF2B5EF4-FFF2-40B4-BE49-F238E27FC236}">
                <a16:creationId xmlns="" xmlns:a16="http://schemas.microsoft.com/office/drawing/2014/main" id="{C310593E-A20C-AF37-2861-7DFDFAC2D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81" y="2282404"/>
            <a:ext cx="9195618" cy="338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769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="" xmlns:a16="http://schemas.microsoft.com/office/drawing/2014/main" id="{E2EC3C88-99B7-870D-78D1-F7C4B67A7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42" y="155949"/>
            <a:ext cx="11804275" cy="657010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tr-TR" b="1" dirty="0">
                <a:ea typeface="+mn-lt"/>
                <a:cs typeface="+mn-lt"/>
              </a:rPr>
              <a:t>Publisher (Producer)</a:t>
            </a:r>
            <a:r>
              <a:rPr lang="tr-TR" dirty="0">
                <a:ea typeface="+mn-lt"/>
                <a:cs typeface="+mn-lt"/>
              </a:rPr>
              <a:t> </a:t>
            </a:r>
            <a:r>
              <a:rPr lang="tr-TR" b="1" dirty="0">
                <a:ea typeface="+mn-lt"/>
                <a:cs typeface="+mn-lt"/>
              </a:rPr>
              <a:t> </a:t>
            </a:r>
            <a:r>
              <a:rPr lang="tr-TR" dirty="0">
                <a:ea typeface="+mn-lt"/>
                <a:cs typeface="+mn-lt"/>
              </a:rPr>
              <a:t>Mesajı oluşturan, gönderen veya sağlayan taraftır.</a:t>
            </a:r>
            <a:endParaRPr lang="tr-TR" dirty="0"/>
          </a:p>
          <a:p>
            <a:pPr>
              <a:buNone/>
            </a:pPr>
            <a:r>
              <a:rPr lang="tr-TR" b="1" dirty="0">
                <a:ea typeface="+mn-lt"/>
                <a:cs typeface="+mn-lt"/>
              </a:rPr>
              <a:t>Consumer</a:t>
            </a:r>
            <a:r>
              <a:rPr lang="tr-TR" dirty="0">
                <a:ea typeface="+mn-lt"/>
                <a:cs typeface="+mn-lt"/>
              </a:rPr>
              <a:t> </a:t>
            </a:r>
            <a:r>
              <a:rPr lang="tr-TR" dirty="0" err="1">
                <a:ea typeface="+mn-lt"/>
                <a:cs typeface="+mn-lt"/>
              </a:rPr>
              <a:t>Aslinda</a:t>
            </a:r>
            <a:r>
              <a:rPr lang="tr-TR" dirty="0">
                <a:ea typeface="+mn-lt"/>
                <a:cs typeface="+mn-lt"/>
              </a:rPr>
              <a:t> buna </a:t>
            </a:r>
            <a:r>
              <a:rPr lang="tr-TR" dirty="0" err="1">
                <a:ea typeface="+mn-lt"/>
                <a:cs typeface="+mn-lt"/>
              </a:rPr>
              <a:t>tuketici</a:t>
            </a:r>
            <a:r>
              <a:rPr lang="tr-TR" dirty="0">
                <a:ea typeface="+mn-lt"/>
                <a:cs typeface="+mn-lt"/>
              </a:rPr>
              <a:t> diyebiliriz. </a:t>
            </a:r>
            <a:r>
              <a:rPr lang="tr-TR" dirty="0" err="1">
                <a:ea typeface="+mn-lt"/>
                <a:cs typeface="+mn-lt"/>
              </a:rPr>
              <a:t>Yaptigi</a:t>
            </a:r>
            <a:r>
              <a:rPr lang="tr-TR" dirty="0">
                <a:ea typeface="+mn-lt"/>
                <a:cs typeface="+mn-lt"/>
              </a:rPr>
              <a:t> is </a:t>
            </a:r>
            <a:r>
              <a:rPr lang="tr-TR" dirty="0" err="1">
                <a:ea typeface="+mn-lt"/>
                <a:cs typeface="+mn-lt"/>
              </a:rPr>
              <a:t>dinledigi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queue'dan</a:t>
            </a:r>
            <a:r>
              <a:rPr lang="tr-TR" dirty="0">
                <a:ea typeface="+mn-lt"/>
                <a:cs typeface="+mn-lt"/>
              </a:rPr>
              <a:t> veriyi </a:t>
            </a:r>
            <a:r>
              <a:rPr lang="tr-TR" dirty="0" err="1">
                <a:ea typeface="+mn-lt"/>
                <a:cs typeface="+mn-lt"/>
              </a:rPr>
              <a:t>alir</a:t>
            </a:r>
            <a:r>
              <a:rPr lang="tr-TR" dirty="0">
                <a:ea typeface="+mn-lt"/>
                <a:cs typeface="+mn-lt"/>
              </a:rPr>
              <a:t> ve bu veri ile ilgili </a:t>
            </a:r>
            <a:r>
              <a:rPr lang="tr-TR" dirty="0" err="1">
                <a:ea typeface="+mn-lt"/>
                <a:cs typeface="+mn-lt"/>
              </a:rPr>
              <a:t>islemleri</a:t>
            </a:r>
            <a:r>
              <a:rPr lang="tr-TR" dirty="0">
                <a:ea typeface="+mn-lt"/>
                <a:cs typeface="+mn-lt"/>
              </a:rPr>
              <a:t> tamamlar. Abone olduğu “</a:t>
            </a:r>
            <a:r>
              <a:rPr lang="tr-TR" b="1" dirty="0" err="1">
                <a:ea typeface="+mn-lt"/>
                <a:cs typeface="+mn-lt"/>
              </a:rPr>
              <a:t>queue</a:t>
            </a:r>
            <a:r>
              <a:rPr lang="tr-TR" dirty="0">
                <a:ea typeface="+mn-lt"/>
                <a:cs typeface="+mn-lt"/>
              </a:rPr>
              <a:t>” dan veriyi alıp işleyen tüketen taraftır.</a:t>
            </a:r>
            <a:endParaRPr lang="tr-TR" dirty="0"/>
          </a:p>
          <a:p>
            <a:pPr>
              <a:buNone/>
            </a:pPr>
            <a:r>
              <a:rPr lang="tr-TR" b="1" dirty="0">
                <a:ea typeface="+mn-lt"/>
                <a:cs typeface="+mn-lt"/>
              </a:rPr>
              <a:t>Queue</a:t>
            </a:r>
            <a:r>
              <a:rPr lang="tr-TR" dirty="0">
                <a:ea typeface="+mn-lt"/>
                <a:cs typeface="+mn-lt"/>
              </a:rPr>
              <a:t> ise </a:t>
            </a:r>
            <a:r>
              <a:rPr lang="tr-TR" dirty="0" err="1">
                <a:ea typeface="+mn-lt"/>
                <a:cs typeface="+mn-lt"/>
              </a:rPr>
              <a:t>consumer'in</a:t>
            </a:r>
            <a:r>
              <a:rPr lang="tr-TR" dirty="0">
                <a:ea typeface="+mn-lt"/>
                <a:cs typeface="+mn-lt"/>
              </a:rPr>
              <a:t> abone </a:t>
            </a:r>
            <a:r>
              <a:rPr lang="tr-TR" dirty="0" err="1">
                <a:ea typeface="+mn-lt"/>
                <a:cs typeface="+mn-lt"/>
              </a:rPr>
              <a:t>oldugu</a:t>
            </a:r>
            <a:r>
              <a:rPr lang="tr-TR" dirty="0">
                <a:ea typeface="+mn-lt"/>
                <a:cs typeface="+mn-lt"/>
              </a:rPr>
              <a:t>, </a:t>
            </a:r>
            <a:r>
              <a:rPr lang="tr-TR" dirty="0" err="1">
                <a:ea typeface="+mn-lt"/>
                <a:cs typeface="+mn-lt"/>
              </a:rPr>
              <a:t>publisher'in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mesaji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ekledigi</a:t>
            </a:r>
            <a:r>
              <a:rPr lang="tr-TR" dirty="0">
                <a:ea typeface="+mn-lt"/>
                <a:cs typeface="+mn-lt"/>
              </a:rPr>
              <a:t> kuyruk </a:t>
            </a:r>
            <a:r>
              <a:rPr lang="tr-TR" dirty="0" err="1">
                <a:ea typeface="+mn-lt"/>
                <a:cs typeface="+mn-lt"/>
              </a:rPr>
              <a:t>yapisidir</a:t>
            </a:r>
            <a:r>
              <a:rPr lang="tr-TR" dirty="0">
                <a:ea typeface="+mn-lt"/>
                <a:cs typeface="+mn-lt"/>
              </a:rPr>
              <a:t>. </a:t>
            </a:r>
            <a:r>
              <a:rPr lang="tr-TR" dirty="0" err="1">
                <a:ea typeface="+mn-lt"/>
                <a:cs typeface="+mn-lt"/>
              </a:rPr>
              <a:t>Mesjın</a:t>
            </a:r>
            <a:r>
              <a:rPr lang="tr-TR" dirty="0">
                <a:ea typeface="+mn-lt"/>
                <a:cs typeface="+mn-lt"/>
              </a:rPr>
              <a:t> eklendiği ve Consumer tarafından abone olan kuyruktur.</a:t>
            </a:r>
          </a:p>
          <a:p>
            <a:pPr>
              <a:buNone/>
            </a:pPr>
            <a:r>
              <a:rPr lang="tr-TR" b="1" dirty="0">
                <a:ea typeface="+mn-lt"/>
                <a:cs typeface="+mn-lt"/>
              </a:rPr>
              <a:t>Exchange: </a:t>
            </a:r>
            <a:r>
              <a:rPr lang="tr-TR" dirty="0">
                <a:ea typeface="+mn-lt"/>
                <a:cs typeface="+mn-lt"/>
              </a:rPr>
              <a:t>Mesajı yönlendirme için aracı olarak kullanılır. Producer tarafından “</a:t>
            </a:r>
            <a:r>
              <a:rPr lang="tr-TR" dirty="0" err="1">
                <a:ea typeface="+mn-lt"/>
                <a:cs typeface="+mn-lt"/>
              </a:rPr>
              <a:t>exchance</a:t>
            </a:r>
            <a:r>
              <a:rPr lang="tr-TR" dirty="0">
                <a:ea typeface="+mn-lt"/>
                <a:cs typeface="+mn-lt"/>
              </a:rPr>
              <a:t>” e iletilen mesaj, Exchange </a:t>
            </a:r>
            <a:r>
              <a:rPr lang="tr-TR" dirty="0" err="1">
                <a:ea typeface="+mn-lt"/>
                <a:cs typeface="+mn-lt"/>
              </a:rPr>
              <a:t>type</a:t>
            </a:r>
            <a:r>
              <a:rPr lang="tr-TR" dirty="0">
                <a:ea typeface="+mn-lt"/>
                <a:cs typeface="+mn-lt"/>
              </a:rPr>
              <a:t>(</a:t>
            </a:r>
            <a:r>
              <a:rPr lang="tr-TR" dirty="0" err="1">
                <a:ea typeface="+mn-lt"/>
                <a:cs typeface="+mn-lt"/>
              </a:rPr>
              <a:t>Header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attribute</a:t>
            </a:r>
            <a:r>
              <a:rPr lang="tr-TR" dirty="0">
                <a:ea typeface="+mn-lt"/>
                <a:cs typeface="+mn-lt"/>
              </a:rPr>
              <a:t>), </a:t>
            </a:r>
            <a:r>
              <a:rPr lang="tr-TR" dirty="0" err="1">
                <a:ea typeface="+mn-lt"/>
                <a:cs typeface="+mn-lt"/>
              </a:rPr>
              <a:t>binding</a:t>
            </a:r>
            <a:r>
              <a:rPr lang="tr-TR" dirty="0">
                <a:ea typeface="+mn-lt"/>
                <a:cs typeface="+mn-lt"/>
              </a:rPr>
              <a:t> ve routing </a:t>
            </a:r>
            <a:r>
              <a:rPr lang="tr-TR" dirty="0" err="1">
                <a:ea typeface="+mn-lt"/>
                <a:cs typeface="+mn-lt"/>
              </a:rPr>
              <a:t>key</a:t>
            </a:r>
            <a:r>
              <a:rPr lang="tr-TR" dirty="0">
                <a:ea typeface="+mn-lt"/>
                <a:cs typeface="+mn-lt"/>
              </a:rPr>
              <a:t> yardımı ile </a:t>
            </a:r>
            <a:r>
              <a:rPr lang="tr-TR" dirty="0" err="1">
                <a:ea typeface="+mn-lt"/>
                <a:cs typeface="+mn-lt"/>
              </a:rPr>
              <a:t>queue</a:t>
            </a:r>
            <a:r>
              <a:rPr lang="tr-TR" dirty="0">
                <a:ea typeface="+mn-lt"/>
                <a:cs typeface="+mn-lt"/>
              </a:rPr>
              <a:t> iletmektedir.</a:t>
            </a:r>
            <a:endParaRPr lang="tr-TR" dirty="0"/>
          </a:p>
          <a:p>
            <a:pPr>
              <a:buNone/>
            </a:pPr>
            <a:r>
              <a:rPr lang="tr-TR" b="1" dirty="0" err="1">
                <a:ea typeface="+mn-lt"/>
                <a:cs typeface="+mn-lt"/>
              </a:rPr>
              <a:t>Exchance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b="1" dirty="0" err="1">
                <a:ea typeface="+mn-lt"/>
                <a:cs typeface="+mn-lt"/>
              </a:rPr>
              <a:t>Type</a:t>
            </a:r>
            <a:r>
              <a:rPr lang="tr-TR" b="1" dirty="0">
                <a:ea typeface="+mn-lt"/>
                <a:cs typeface="+mn-lt"/>
              </a:rPr>
              <a:t>: </a:t>
            </a:r>
            <a:r>
              <a:rPr lang="tr-TR" dirty="0">
                <a:ea typeface="+mn-lt"/>
                <a:cs typeface="+mn-lt"/>
              </a:rPr>
              <a:t>Mesajın hangi “</a:t>
            </a:r>
            <a:r>
              <a:rPr lang="tr-TR" dirty="0" err="1">
                <a:ea typeface="+mn-lt"/>
                <a:cs typeface="+mn-lt"/>
              </a:rPr>
              <a:t>queue”ya</a:t>
            </a:r>
            <a:r>
              <a:rPr lang="tr-TR" dirty="0">
                <a:ea typeface="+mn-lt"/>
                <a:cs typeface="+mn-lt"/>
              </a:rPr>
              <a:t> ne şekilde iletileceğini belirtir.</a:t>
            </a:r>
            <a:endParaRPr lang="tr-TR" dirty="0"/>
          </a:p>
          <a:p>
            <a:pPr>
              <a:buNone/>
            </a:pPr>
            <a:r>
              <a:rPr lang="tr-TR" b="1" dirty="0" err="1">
                <a:ea typeface="+mn-lt"/>
                <a:cs typeface="+mn-lt"/>
              </a:rPr>
              <a:t>Binding</a:t>
            </a:r>
            <a:r>
              <a:rPr lang="tr-TR" b="1" dirty="0">
                <a:ea typeface="+mn-lt"/>
                <a:cs typeface="+mn-lt"/>
              </a:rPr>
              <a:t>: </a:t>
            </a:r>
            <a:r>
              <a:rPr lang="tr-TR" dirty="0" err="1">
                <a:ea typeface="+mn-lt"/>
                <a:cs typeface="+mn-lt"/>
              </a:rPr>
              <a:t>Exchance</a:t>
            </a:r>
            <a:r>
              <a:rPr lang="tr-TR" dirty="0">
                <a:ea typeface="+mn-lt"/>
                <a:cs typeface="+mn-lt"/>
              </a:rPr>
              <a:t> ve </a:t>
            </a:r>
            <a:r>
              <a:rPr lang="tr-TR" dirty="0" err="1">
                <a:ea typeface="+mn-lt"/>
                <a:cs typeface="+mn-lt"/>
              </a:rPr>
              <a:t>queue</a:t>
            </a:r>
            <a:r>
              <a:rPr lang="tr-TR" dirty="0">
                <a:ea typeface="+mn-lt"/>
                <a:cs typeface="+mn-lt"/>
              </a:rPr>
              <a:t> arasındaki bağlantıdır.</a:t>
            </a:r>
            <a:endParaRPr lang="tr-TR">
              <a:cs typeface="Calibri" panose="020F0502020204030204"/>
            </a:endParaRPr>
          </a:p>
          <a:p>
            <a:pPr>
              <a:buNone/>
            </a:pPr>
            <a:r>
              <a:rPr lang="tr-TR" b="1" dirty="0" err="1"/>
              <a:t>RabbitMQ</a:t>
            </a:r>
            <a:r>
              <a:rPr lang="tr-TR" b="1" dirty="0"/>
              <a:t> </a:t>
            </a:r>
            <a:r>
              <a:rPr lang="tr-TR" b="1" dirty="0" err="1"/>
              <a:t>Kullanim</a:t>
            </a:r>
            <a:r>
              <a:rPr lang="tr-TR" b="1" dirty="0"/>
              <a:t> </a:t>
            </a:r>
            <a:r>
              <a:rPr lang="tr-TR" b="1" dirty="0" err="1"/>
              <a:t>Alanlari</a:t>
            </a:r>
            <a:endParaRPr lang="tr-TR" b="1" dirty="0" err="1">
              <a:cs typeface="Calibri"/>
            </a:endParaRPr>
          </a:p>
          <a:p>
            <a:pPr>
              <a:buNone/>
            </a:pPr>
            <a:r>
              <a:rPr lang="tr-TR" dirty="0">
                <a:ea typeface="+mn-lt"/>
                <a:cs typeface="+mn-lt"/>
              </a:rPr>
              <a:t>Tabii ki farklı </a:t>
            </a:r>
            <a:r>
              <a:rPr lang="tr-TR" dirty="0" err="1">
                <a:ea typeface="+mn-lt"/>
                <a:cs typeface="+mn-lt"/>
              </a:rPr>
              <a:t>alanlari</a:t>
            </a:r>
            <a:r>
              <a:rPr lang="tr-TR" dirty="0">
                <a:ea typeface="+mn-lt"/>
                <a:cs typeface="+mn-lt"/>
              </a:rPr>
              <a:t> da var ancak mail </a:t>
            </a:r>
            <a:r>
              <a:rPr lang="tr-TR" dirty="0" err="1">
                <a:ea typeface="+mn-lt"/>
                <a:cs typeface="+mn-lt"/>
              </a:rPr>
              <a:t>gonderim</a:t>
            </a:r>
            <a:r>
              <a:rPr lang="tr-TR" dirty="0">
                <a:ea typeface="+mn-lt"/>
                <a:cs typeface="+mn-lt"/>
              </a:rPr>
              <a:t>, pdf </a:t>
            </a:r>
            <a:r>
              <a:rPr lang="tr-TR" dirty="0" err="1">
                <a:ea typeface="+mn-lt"/>
                <a:cs typeface="+mn-lt"/>
              </a:rPr>
              <a:t>olusturma</a:t>
            </a:r>
            <a:r>
              <a:rPr lang="tr-TR" dirty="0">
                <a:ea typeface="+mn-lt"/>
                <a:cs typeface="+mn-lt"/>
              </a:rPr>
              <a:t> ve bu pdf'i mail atma gibi normalde uzun </a:t>
            </a:r>
            <a:r>
              <a:rPr lang="tr-TR" dirty="0" err="1">
                <a:ea typeface="+mn-lt"/>
                <a:cs typeface="+mn-lt"/>
              </a:rPr>
              <a:t>surebilme</a:t>
            </a:r>
            <a:r>
              <a:rPr lang="tr-TR" dirty="0">
                <a:ea typeface="+mn-lt"/>
                <a:cs typeface="+mn-lt"/>
              </a:rPr>
              <a:t> ihtimali olan ve </a:t>
            </a:r>
            <a:r>
              <a:rPr lang="tr-TR" dirty="0" err="1">
                <a:ea typeface="+mn-lt"/>
                <a:cs typeface="+mn-lt"/>
              </a:rPr>
              <a:t>isleyisi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yavaslatacak</a:t>
            </a:r>
            <a:r>
              <a:rPr lang="tr-TR" dirty="0">
                <a:ea typeface="+mn-lt"/>
                <a:cs typeface="+mn-lt"/>
              </a:rPr>
              <a:t> olan </a:t>
            </a:r>
            <a:r>
              <a:rPr lang="tr-TR" dirty="0" err="1">
                <a:ea typeface="+mn-lt"/>
                <a:cs typeface="+mn-lt"/>
              </a:rPr>
              <a:t>islemlerin</a:t>
            </a:r>
            <a:r>
              <a:rPr lang="tr-TR" dirty="0">
                <a:ea typeface="+mn-lt"/>
                <a:cs typeface="+mn-lt"/>
              </a:rPr>
              <a:t> ana sistemden </a:t>
            </a:r>
            <a:r>
              <a:rPr lang="tr-TR" dirty="0" err="1">
                <a:ea typeface="+mn-lt"/>
                <a:cs typeface="+mn-lt"/>
              </a:rPr>
              <a:t>ayri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yapilmasi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durumlarinda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kullanilabilir</a:t>
            </a:r>
            <a:r>
              <a:rPr lang="tr-TR" dirty="0">
                <a:ea typeface="+mn-lt"/>
                <a:cs typeface="+mn-lt"/>
              </a:rPr>
              <a:t>.</a:t>
            </a:r>
          </a:p>
          <a:p>
            <a:pPr>
              <a:buNone/>
            </a:pPr>
            <a:endParaRPr lang="tr-TR" dirty="0">
              <a:cs typeface="Calibri"/>
            </a:endParaRPr>
          </a:p>
          <a:p>
            <a:pPr>
              <a:buNone/>
            </a:pPr>
            <a:endParaRPr lang="tr-TR" dirty="0">
              <a:cs typeface="Calibri"/>
            </a:endParaRPr>
          </a:p>
          <a:p>
            <a:pPr marL="0" indent="0">
              <a:buNone/>
            </a:pPr>
            <a:endParaRPr lang="tr-TR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43785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="" xmlns:a16="http://schemas.microsoft.com/office/drawing/2014/main" id="{E2EC3C88-99B7-870D-78D1-F7C4B67A7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42" y="155949"/>
            <a:ext cx="11804275" cy="657010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tr-TR" b="1" dirty="0" err="1">
                <a:ea typeface="+mn-lt"/>
                <a:cs typeface="+mn-lt"/>
              </a:rPr>
              <a:t>RabbitMQ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dirty="0">
                <a:ea typeface="+mn-lt"/>
                <a:cs typeface="+mn-lt"/>
              </a:rPr>
              <a:t>kurulum aşaması yerine Uygulamada hızlıca kullanmak adına </a:t>
            </a:r>
            <a:r>
              <a:rPr lang="tr-TR" b="1" dirty="0" err="1">
                <a:ea typeface="+mn-lt"/>
                <a:cs typeface="+mn-lt"/>
              </a:rPr>
              <a:t>RabbitMQ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docker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image</a:t>
            </a:r>
            <a:r>
              <a:rPr lang="tr-TR" dirty="0">
                <a:ea typeface="+mn-lt"/>
                <a:cs typeface="+mn-lt"/>
              </a:rPr>
              <a:t> alarak devam edelim.</a:t>
            </a:r>
            <a:endParaRPr lang="tr-TR" dirty="0"/>
          </a:p>
          <a:p>
            <a:pPr>
              <a:buNone/>
            </a:pPr>
            <a:r>
              <a:rPr lang="tr-TR" dirty="0">
                <a:ea typeface="+mn-lt"/>
                <a:cs typeface="+mn-lt"/>
              </a:rPr>
              <a:t>Aşağıdaki kodu çalıştırdığınızda sizin için </a:t>
            </a:r>
            <a:r>
              <a:rPr lang="tr-TR" b="1" dirty="0" err="1">
                <a:ea typeface="+mn-lt"/>
                <a:cs typeface="+mn-lt"/>
              </a:rPr>
              <a:t>RabbitMQ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image</a:t>
            </a:r>
            <a:r>
              <a:rPr lang="tr-TR" dirty="0">
                <a:ea typeface="+mn-lt"/>
                <a:cs typeface="+mn-lt"/>
              </a:rPr>
              <a:t> almak ile birlikte </a:t>
            </a:r>
            <a:r>
              <a:rPr lang="tr-TR" dirty="0" err="1">
                <a:ea typeface="+mn-lt"/>
                <a:cs typeface="+mn-lt"/>
              </a:rPr>
              <a:t>container</a:t>
            </a:r>
            <a:r>
              <a:rPr lang="tr-TR" dirty="0">
                <a:ea typeface="+mn-lt"/>
                <a:cs typeface="+mn-lt"/>
              </a:rPr>
              <a:t> ayağa kalkacaktır.</a:t>
            </a:r>
            <a:endParaRPr lang="tr-TR" dirty="0"/>
          </a:p>
          <a:p>
            <a:pPr>
              <a:buNone/>
            </a:pPr>
            <a:r>
              <a:rPr lang="tr-TR" b="1" dirty="0">
                <a:ea typeface="+mn-lt"/>
                <a:cs typeface="+mn-lt"/>
              </a:rPr>
              <a:t>docker run -d --hostname rabbit --name rabbit rabbitmq:3-management</a:t>
            </a:r>
            <a:endParaRPr lang="tr-TR" b="1" dirty="0">
              <a:cs typeface="Calibri" panose="020F0502020204030204"/>
            </a:endParaRPr>
          </a:p>
          <a:p>
            <a:pPr>
              <a:buNone/>
            </a:pPr>
            <a:r>
              <a:rPr lang="tr-TR" dirty="0">
                <a:ea typeface="+mn-lt"/>
                <a:cs typeface="+mn-lt"/>
              </a:rPr>
              <a:t>Hemen ardından </a:t>
            </a:r>
            <a:r>
              <a:rPr lang="tr-TR" dirty="0" err="1">
                <a:ea typeface="+mn-lt"/>
                <a:cs typeface="+mn-lt"/>
              </a:rPr>
              <a:t>docker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ps</a:t>
            </a:r>
            <a:r>
              <a:rPr lang="tr-TR" dirty="0">
                <a:ea typeface="+mn-lt"/>
                <a:cs typeface="+mn-lt"/>
              </a:rPr>
              <a:t> komutu çalıştırdığınızda aşağıda detayları bulunan </a:t>
            </a:r>
            <a:r>
              <a:rPr lang="tr-TR" b="1" dirty="0" err="1">
                <a:ea typeface="+mn-lt"/>
                <a:cs typeface="+mn-lt"/>
              </a:rPr>
              <a:t>rabbitMQ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container</a:t>
            </a:r>
            <a:r>
              <a:rPr lang="tr-TR" dirty="0">
                <a:ea typeface="+mn-lt"/>
                <a:cs typeface="+mn-lt"/>
              </a:rPr>
              <a:t> ayağa kalkacaktır.</a:t>
            </a:r>
          </a:p>
          <a:p>
            <a:pPr>
              <a:buNone/>
            </a:pPr>
            <a:endParaRPr lang="tr-TR" dirty="0">
              <a:ea typeface="+mn-lt"/>
              <a:cs typeface="+mn-lt"/>
            </a:endParaRPr>
          </a:p>
          <a:p>
            <a:pPr>
              <a:buNone/>
            </a:pPr>
            <a:endParaRPr lang="tr-TR" dirty="0">
              <a:ea typeface="+mn-lt"/>
              <a:cs typeface="+mn-lt"/>
            </a:endParaRPr>
          </a:p>
          <a:p>
            <a:pPr>
              <a:buNone/>
            </a:pPr>
            <a:r>
              <a:rPr lang="tr-TR" dirty="0">
                <a:ea typeface="+mn-lt"/>
                <a:cs typeface="+mn-lt"/>
              </a:rPr>
              <a:t>Şimdi </a:t>
            </a:r>
            <a:r>
              <a:rPr lang="tr-TR" b="1" dirty="0" err="1">
                <a:ea typeface="+mn-lt"/>
                <a:cs typeface="+mn-lt"/>
              </a:rPr>
              <a:t>RabbitMQ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managament</a:t>
            </a:r>
            <a:r>
              <a:rPr lang="tr-TR" dirty="0">
                <a:ea typeface="+mn-lt"/>
                <a:cs typeface="+mn-lt"/>
              </a:rPr>
              <a:t> ekranı açalım. Eğer </a:t>
            </a:r>
            <a:r>
              <a:rPr lang="tr-TR" dirty="0" err="1">
                <a:ea typeface="+mn-lt"/>
                <a:cs typeface="+mn-lt"/>
              </a:rPr>
              <a:t>sizinde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pcnizde</a:t>
            </a:r>
            <a:r>
              <a:rPr lang="tr-TR" dirty="0">
                <a:ea typeface="+mn-lt"/>
                <a:cs typeface="+mn-lt"/>
              </a:rPr>
              <a:t> ayağa kalkan ilk </a:t>
            </a:r>
            <a:r>
              <a:rPr lang="tr-TR" dirty="0" err="1">
                <a:ea typeface="+mn-lt"/>
                <a:cs typeface="+mn-lt"/>
              </a:rPr>
              <a:t>container</a:t>
            </a:r>
            <a:r>
              <a:rPr lang="tr-TR" dirty="0">
                <a:ea typeface="+mn-lt"/>
                <a:cs typeface="+mn-lt"/>
              </a:rPr>
              <a:t> ise </a:t>
            </a:r>
            <a:r>
              <a:rPr lang="tr-TR" b="1" dirty="0" err="1">
                <a:ea typeface="+mn-lt"/>
                <a:cs typeface="+mn-lt"/>
              </a:rPr>
              <a:t>rabbitMQ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dirty="0">
                <a:ea typeface="+mn-lt"/>
                <a:cs typeface="+mn-lt"/>
              </a:rPr>
              <a:t>hostu ip olarak 127.17.0.2 alacaktır. Ya da hangi ip set ettiğini görmek isterseniz</a:t>
            </a:r>
            <a:endParaRPr lang="tr-TR" dirty="0">
              <a:cs typeface="Calibri"/>
            </a:endParaRPr>
          </a:p>
          <a:p>
            <a:pPr>
              <a:buNone/>
            </a:pPr>
            <a:r>
              <a:rPr lang="tr-TR" dirty="0" err="1">
                <a:ea typeface="+mn-lt"/>
                <a:cs typeface="+mn-lt"/>
              </a:rPr>
              <a:t>docker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inspect</a:t>
            </a:r>
            <a:r>
              <a:rPr lang="tr-TR" dirty="0">
                <a:ea typeface="+mn-lt"/>
                <a:cs typeface="+mn-lt"/>
              </a:rPr>
              <a:t> 20ef9a609e3c (</a:t>
            </a:r>
            <a:r>
              <a:rPr lang="tr-TR" dirty="0" err="1">
                <a:ea typeface="+mn-lt"/>
                <a:cs typeface="+mn-lt"/>
              </a:rPr>
              <a:t>container</a:t>
            </a:r>
            <a:r>
              <a:rPr lang="tr-TR" dirty="0">
                <a:ea typeface="+mn-lt"/>
                <a:cs typeface="+mn-lt"/>
              </a:rPr>
              <a:t> ID) çalıştırıp </a:t>
            </a:r>
            <a:r>
              <a:rPr lang="tr-TR" dirty="0" err="1">
                <a:ea typeface="+mn-lt"/>
                <a:cs typeface="+mn-lt"/>
              </a:rPr>
              <a:t>container</a:t>
            </a:r>
            <a:r>
              <a:rPr lang="tr-TR" dirty="0">
                <a:ea typeface="+mn-lt"/>
                <a:cs typeface="+mn-lt"/>
              </a:rPr>
              <a:t> detaylarına göz atabilirsiniz.</a:t>
            </a:r>
            <a:endParaRPr lang="tr-TR" dirty="0"/>
          </a:p>
          <a:p>
            <a:pPr>
              <a:buNone/>
            </a:pPr>
            <a:endParaRPr lang="tr-TR" dirty="0">
              <a:cs typeface="Calibri"/>
            </a:endParaRPr>
          </a:p>
          <a:p>
            <a:pPr>
              <a:buNone/>
            </a:pPr>
            <a:endParaRPr lang="tr-TR" dirty="0">
              <a:cs typeface="Calibri"/>
            </a:endParaRPr>
          </a:p>
          <a:p>
            <a:pPr>
              <a:buNone/>
            </a:pPr>
            <a:endParaRPr lang="tr-TR" dirty="0">
              <a:cs typeface="Calibri"/>
            </a:endParaRPr>
          </a:p>
          <a:p>
            <a:pPr marL="0" indent="0">
              <a:buNone/>
            </a:pPr>
            <a:endParaRPr lang="tr-TR" dirty="0">
              <a:cs typeface="Calibri"/>
            </a:endParaRPr>
          </a:p>
        </p:txBody>
      </p:sp>
      <p:pic>
        <p:nvPicPr>
          <p:cNvPr id="2" name="Resim 3">
            <a:extLst>
              <a:ext uri="{FF2B5EF4-FFF2-40B4-BE49-F238E27FC236}">
                <a16:creationId xmlns="" xmlns:a16="http://schemas.microsoft.com/office/drawing/2014/main" id="{CD64A06E-8567-384F-3138-EFC402EF8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84" y="3611081"/>
            <a:ext cx="11002296" cy="47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554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="" xmlns:a16="http://schemas.microsoft.com/office/drawing/2014/main" id="{E2EC3C88-99B7-870D-78D1-F7C4B67A7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42" y="155949"/>
            <a:ext cx="11804275" cy="65701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sz="2400" dirty="0">
                <a:ea typeface="+mn-lt"/>
                <a:cs typeface="+mn-lt"/>
              </a:rPr>
              <a:t>Bizim için önemli olan kısmın görüntüsünü şu şekilde olmalı.</a:t>
            </a:r>
          </a:p>
          <a:p>
            <a:pPr marL="0" indent="0">
              <a:buNone/>
            </a:pPr>
            <a:endParaRPr lang="tr-TR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tr-TR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tr-TR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tr-TR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tr-TR" sz="24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tr-TR" sz="2400" dirty="0">
                <a:ea typeface="+mn-lt"/>
                <a:cs typeface="+mn-lt"/>
              </a:rPr>
              <a:t>Browser dan </a:t>
            </a:r>
            <a:r>
              <a:rPr lang="tr-TR" sz="2400" u="sng" dirty="0">
                <a:ea typeface="+mn-lt"/>
                <a:cs typeface="+mn-lt"/>
                <a:hlinkClick r:id="rId2"/>
              </a:rPr>
              <a:t>http://</a:t>
            </a:r>
            <a:r>
              <a:rPr lang="tr-TR" sz="2400" dirty="0" err="1">
                <a:ea typeface="+mn-lt"/>
                <a:cs typeface="+mn-lt"/>
              </a:rPr>
              <a:t>container</a:t>
            </a:r>
            <a:r>
              <a:rPr lang="tr-TR" sz="2400" dirty="0">
                <a:ea typeface="+mn-lt"/>
                <a:cs typeface="+mn-lt"/>
              </a:rPr>
              <a:t>-ip (örneğimiz için 172.17.0.2):15672</a:t>
            </a:r>
            <a:r>
              <a:rPr lang="tr-TR" sz="2400" u="sng" dirty="0">
                <a:ea typeface="+mn-lt"/>
                <a:cs typeface="+mn-lt"/>
                <a:hlinkClick r:id="rId2"/>
              </a:rPr>
              <a:t>/</a:t>
            </a:r>
            <a:r>
              <a:rPr lang="tr-TR" sz="2400" dirty="0">
                <a:ea typeface="+mn-lt"/>
                <a:cs typeface="+mn-lt"/>
              </a:rPr>
              <a:t> linkini çalıştırdığımızda aşağıdaki gibi bir giriş ekranı ile karşılaşacaksınız.</a:t>
            </a:r>
            <a:endParaRPr lang="tr-TR" sz="2400" dirty="0">
              <a:cs typeface="Calibri"/>
            </a:endParaRPr>
          </a:p>
          <a:p>
            <a:pPr marL="0" indent="0">
              <a:buNone/>
            </a:pPr>
            <a:endParaRPr lang="tr-TR" dirty="0">
              <a:cs typeface="Calibri"/>
            </a:endParaRPr>
          </a:p>
          <a:p>
            <a:pPr marL="0" indent="0">
              <a:buNone/>
            </a:pPr>
            <a:endParaRPr lang="tr-TR" dirty="0">
              <a:cs typeface="Calibri"/>
            </a:endParaRPr>
          </a:p>
          <a:p>
            <a:pPr marL="0" indent="0">
              <a:buNone/>
            </a:pPr>
            <a:endParaRPr lang="tr-TR" dirty="0">
              <a:cs typeface="Calibri"/>
            </a:endParaRPr>
          </a:p>
        </p:txBody>
      </p:sp>
      <p:pic>
        <p:nvPicPr>
          <p:cNvPr id="2" name="Resim 3" descr="metin içeren bir resim&#10;&#10;Açıklama otomatik olarak oluşturuldu">
            <a:extLst>
              <a:ext uri="{FF2B5EF4-FFF2-40B4-BE49-F238E27FC236}">
                <a16:creationId xmlns="" xmlns:a16="http://schemas.microsoft.com/office/drawing/2014/main" id="{27FE0598-BEC8-92C5-A76C-872654779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632119"/>
            <a:ext cx="6159908" cy="2238503"/>
          </a:xfrm>
          <a:prstGeom prst="rect">
            <a:avLst/>
          </a:prstGeom>
        </p:spPr>
      </p:pic>
      <p:pic>
        <p:nvPicPr>
          <p:cNvPr id="4" name="Resim 4">
            <a:extLst>
              <a:ext uri="{FF2B5EF4-FFF2-40B4-BE49-F238E27FC236}">
                <a16:creationId xmlns="" xmlns:a16="http://schemas.microsoft.com/office/drawing/2014/main" id="{FAFD5AC9-6E69-27A0-2120-2B505A74E2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432" y="3716225"/>
            <a:ext cx="10486100" cy="298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228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="" xmlns:a16="http://schemas.microsoft.com/office/drawing/2014/main" id="{E2EC3C88-99B7-870D-78D1-F7C4B67A7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42" y="155949"/>
            <a:ext cx="11804275" cy="65701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sz="2400" b="1" dirty="0" err="1">
                <a:ea typeface="+mn-lt"/>
                <a:cs typeface="+mn-lt"/>
              </a:rPr>
              <a:t>RabbitMQSample</a:t>
            </a:r>
            <a:r>
              <a:rPr lang="tr-TR" sz="2400" dirty="0" err="1">
                <a:ea typeface="+mn-lt"/>
                <a:cs typeface="+mn-lt"/>
              </a:rPr>
              <a:t>.Producer</a:t>
            </a:r>
            <a:r>
              <a:rPr lang="tr-TR" sz="2400" dirty="0">
                <a:ea typeface="+mn-lt"/>
                <a:cs typeface="+mn-lt"/>
              </a:rPr>
              <a:t> ile bir .net </a:t>
            </a:r>
            <a:r>
              <a:rPr lang="tr-TR" sz="2400" dirty="0" err="1">
                <a:ea typeface="+mn-lt"/>
                <a:cs typeface="+mn-lt"/>
              </a:rPr>
              <a:t>core</a:t>
            </a:r>
            <a:r>
              <a:rPr lang="tr-TR" sz="2400" dirty="0">
                <a:ea typeface="+mn-lt"/>
                <a:cs typeface="+mn-lt"/>
              </a:rPr>
              <a:t> </a:t>
            </a:r>
            <a:r>
              <a:rPr lang="tr-TR" sz="2400" dirty="0" err="1">
                <a:ea typeface="+mn-lt"/>
                <a:cs typeface="+mn-lt"/>
              </a:rPr>
              <a:t>mvc</a:t>
            </a:r>
            <a:r>
              <a:rPr lang="tr-TR" sz="2400" dirty="0">
                <a:ea typeface="+mn-lt"/>
                <a:cs typeface="+mn-lt"/>
              </a:rPr>
              <a:t> projesi oluşturuyoruz.</a:t>
            </a:r>
          </a:p>
          <a:p>
            <a:pPr marL="0" indent="0">
              <a:buNone/>
            </a:pPr>
            <a:r>
              <a:rPr lang="tr-TR" sz="2400" dirty="0">
                <a:ea typeface="+mn-lt"/>
                <a:cs typeface="+mn-lt"/>
              </a:rPr>
              <a:t>Şimdi sıra geldi projemize </a:t>
            </a:r>
            <a:r>
              <a:rPr lang="tr-TR" sz="2400" b="1" dirty="0" err="1">
                <a:ea typeface="+mn-lt"/>
                <a:cs typeface="+mn-lt"/>
              </a:rPr>
              <a:t>RabbitMQ</a:t>
            </a:r>
            <a:r>
              <a:rPr lang="tr-TR" sz="2400" b="1" dirty="0">
                <a:ea typeface="+mn-lt"/>
                <a:cs typeface="+mn-lt"/>
              </a:rPr>
              <a:t> </a:t>
            </a:r>
            <a:r>
              <a:rPr lang="tr-TR" sz="2400" dirty="0">
                <a:ea typeface="+mn-lt"/>
                <a:cs typeface="+mn-lt"/>
              </a:rPr>
              <a:t>C# kütüphaneleri proje dahil etmeye. </a:t>
            </a:r>
            <a:r>
              <a:rPr lang="tr-TR" sz="2400" dirty="0" err="1">
                <a:ea typeface="+mn-lt"/>
                <a:cs typeface="+mn-lt"/>
              </a:rPr>
              <a:t>RabbitMQ</a:t>
            </a:r>
            <a:r>
              <a:rPr lang="tr-TR" sz="2400" dirty="0">
                <a:ea typeface="+mn-lt"/>
                <a:cs typeface="+mn-lt"/>
              </a:rPr>
              <a:t> </a:t>
            </a:r>
            <a:r>
              <a:rPr lang="tr-TR" sz="2400" dirty="0" err="1">
                <a:ea typeface="+mn-lt"/>
                <a:cs typeface="+mn-lt"/>
              </a:rPr>
              <a:t>client</a:t>
            </a:r>
            <a:r>
              <a:rPr lang="tr-TR" sz="2400" dirty="0">
                <a:ea typeface="+mn-lt"/>
                <a:cs typeface="+mn-lt"/>
              </a:rPr>
              <a:t> kütüphanelerini yüklemek için </a:t>
            </a:r>
            <a:r>
              <a:rPr lang="tr-TR" sz="2400" dirty="0" err="1">
                <a:ea typeface="+mn-lt"/>
                <a:cs typeface="+mn-lt"/>
              </a:rPr>
              <a:t>dotnet</a:t>
            </a:r>
            <a:r>
              <a:rPr lang="tr-TR" sz="2400" dirty="0">
                <a:ea typeface="+mn-lt"/>
                <a:cs typeface="+mn-lt"/>
              </a:rPr>
              <a:t> </a:t>
            </a:r>
            <a:r>
              <a:rPr lang="tr-TR" sz="2400" dirty="0" err="1">
                <a:ea typeface="+mn-lt"/>
                <a:cs typeface="+mn-lt"/>
              </a:rPr>
              <a:t>add</a:t>
            </a:r>
            <a:r>
              <a:rPr lang="tr-TR" sz="2400" dirty="0">
                <a:ea typeface="+mn-lt"/>
                <a:cs typeface="+mn-lt"/>
              </a:rPr>
              <a:t> </a:t>
            </a:r>
            <a:r>
              <a:rPr lang="tr-TR" sz="2400" dirty="0" err="1">
                <a:ea typeface="+mn-lt"/>
                <a:cs typeface="+mn-lt"/>
              </a:rPr>
              <a:t>package</a:t>
            </a:r>
            <a:r>
              <a:rPr lang="tr-TR" sz="2400" dirty="0">
                <a:ea typeface="+mn-lt"/>
                <a:cs typeface="+mn-lt"/>
              </a:rPr>
              <a:t> </a:t>
            </a:r>
            <a:r>
              <a:rPr lang="tr-TR" sz="2400" b="1" dirty="0" err="1">
                <a:ea typeface="+mn-lt"/>
                <a:cs typeface="+mn-lt"/>
              </a:rPr>
              <a:t>RabbitMQ.Client</a:t>
            </a:r>
            <a:r>
              <a:rPr lang="tr-TR" sz="2400" dirty="0">
                <a:ea typeface="+mn-lt"/>
                <a:cs typeface="+mn-lt"/>
              </a:rPr>
              <a:t> komutunu çalıştırmanız yeterli, yada </a:t>
            </a:r>
            <a:r>
              <a:rPr lang="tr-TR" sz="2400" dirty="0" err="1">
                <a:ea typeface="+mn-lt"/>
                <a:cs typeface="+mn-lt"/>
              </a:rPr>
              <a:t>nuget</a:t>
            </a:r>
            <a:r>
              <a:rPr lang="tr-TR" sz="2400" dirty="0">
                <a:ea typeface="+mn-lt"/>
                <a:cs typeface="+mn-lt"/>
              </a:rPr>
              <a:t> ile yükleyebiliriz.</a:t>
            </a:r>
          </a:p>
          <a:p>
            <a:pPr marL="0" indent="0">
              <a:buNone/>
            </a:pPr>
            <a:r>
              <a:rPr lang="tr-TR" sz="2400" dirty="0">
                <a:ea typeface="+mn-lt"/>
                <a:cs typeface="+mn-lt"/>
              </a:rPr>
              <a:t>Konudan uzaklaşmamak adına herhangi bir ekran düzenlemesi yapmadan direk </a:t>
            </a:r>
            <a:r>
              <a:rPr lang="tr-TR" sz="2400" b="1" dirty="0" err="1">
                <a:ea typeface="+mn-lt"/>
                <a:cs typeface="+mn-lt"/>
              </a:rPr>
              <a:t>HomeController</a:t>
            </a:r>
            <a:r>
              <a:rPr lang="tr-TR" sz="2400" b="1" dirty="0">
                <a:ea typeface="+mn-lt"/>
                <a:cs typeface="+mn-lt"/>
              </a:rPr>
              <a:t> </a:t>
            </a:r>
            <a:r>
              <a:rPr lang="tr-TR" sz="2400" dirty="0">
                <a:ea typeface="+mn-lt"/>
                <a:cs typeface="+mn-lt"/>
              </a:rPr>
              <a:t>Index </a:t>
            </a:r>
            <a:r>
              <a:rPr lang="tr-TR" sz="2400" dirty="0" err="1">
                <a:ea typeface="+mn-lt"/>
                <a:cs typeface="+mn-lt"/>
              </a:rPr>
              <a:t>methodunda</a:t>
            </a:r>
            <a:r>
              <a:rPr lang="tr-TR" sz="2400" dirty="0">
                <a:ea typeface="+mn-lt"/>
                <a:cs typeface="+mn-lt"/>
              </a:rPr>
              <a:t> kuyruğa veriyi gönderelim.</a:t>
            </a:r>
          </a:p>
          <a:p>
            <a:pPr marL="0" indent="0">
              <a:buNone/>
            </a:pPr>
            <a:endParaRPr lang="tr-TR" dirty="0">
              <a:cs typeface="Calibri"/>
            </a:endParaRPr>
          </a:p>
        </p:txBody>
      </p:sp>
      <p:pic>
        <p:nvPicPr>
          <p:cNvPr id="2" name="Resim 3" descr="metin içeren bir resim&#10;&#10;Açıklama otomatik olarak oluşturuldu">
            <a:extLst>
              <a:ext uri="{FF2B5EF4-FFF2-40B4-BE49-F238E27FC236}">
                <a16:creationId xmlns="" xmlns:a16="http://schemas.microsoft.com/office/drawing/2014/main" id="{04F44E48-F9CF-5E12-B456-B8CB91F86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33" y="2558846"/>
            <a:ext cx="9797842" cy="414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145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="" xmlns:a16="http://schemas.microsoft.com/office/drawing/2014/main" id="{E2EC3C88-99B7-870D-78D1-F7C4B67A7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42" y="155949"/>
            <a:ext cx="11804275" cy="657010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tr-TR" dirty="0">
                <a:ea typeface="+mn-lt"/>
                <a:cs typeface="+mn-lt"/>
              </a:rPr>
              <a:t>Yazdığımız kodda  öncelikle </a:t>
            </a:r>
            <a:r>
              <a:rPr lang="tr-TR" b="1" dirty="0" err="1">
                <a:ea typeface="+mn-lt"/>
                <a:cs typeface="+mn-lt"/>
              </a:rPr>
              <a:t>ConnectionFactory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dirty="0">
                <a:ea typeface="+mn-lt"/>
                <a:cs typeface="+mn-lt"/>
              </a:rPr>
              <a:t>ile </a:t>
            </a:r>
            <a:r>
              <a:rPr lang="tr-TR" dirty="0" err="1">
                <a:ea typeface="+mn-lt"/>
                <a:cs typeface="+mn-lt"/>
              </a:rPr>
              <a:t>connection</a:t>
            </a:r>
            <a:r>
              <a:rPr lang="tr-TR" dirty="0">
                <a:ea typeface="+mn-lt"/>
                <a:cs typeface="+mn-lt"/>
              </a:rPr>
              <a:t> bilgilerimizi geçerek bir </a:t>
            </a:r>
            <a:r>
              <a:rPr lang="tr-TR" dirty="0" err="1">
                <a:ea typeface="+mn-lt"/>
                <a:cs typeface="+mn-lt"/>
              </a:rPr>
              <a:t>connection</a:t>
            </a:r>
            <a:r>
              <a:rPr lang="tr-TR" dirty="0">
                <a:ea typeface="+mn-lt"/>
                <a:cs typeface="+mn-lt"/>
              </a:rPr>
              <a:t> tanımladık. </a:t>
            </a:r>
            <a:r>
              <a:rPr lang="tr-TR" b="1" dirty="0" err="1">
                <a:ea typeface="+mn-lt"/>
                <a:cs typeface="+mn-lt"/>
              </a:rPr>
              <a:t>CreateModel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dirty="0">
                <a:ea typeface="+mn-lt"/>
                <a:cs typeface="+mn-lt"/>
              </a:rPr>
              <a:t>ile bir </a:t>
            </a:r>
            <a:r>
              <a:rPr lang="tr-TR" dirty="0" err="1">
                <a:ea typeface="+mn-lt"/>
                <a:cs typeface="+mn-lt"/>
              </a:rPr>
              <a:t>channel</a:t>
            </a:r>
            <a:r>
              <a:rPr lang="tr-TR" dirty="0">
                <a:ea typeface="+mn-lt"/>
                <a:cs typeface="+mn-lt"/>
              </a:rPr>
              <a:t> oluşturduk. Mesaj bu </a:t>
            </a:r>
            <a:r>
              <a:rPr lang="tr-TR" dirty="0" err="1">
                <a:ea typeface="+mn-lt"/>
                <a:cs typeface="+mn-lt"/>
              </a:rPr>
              <a:t>channel</a:t>
            </a:r>
            <a:r>
              <a:rPr lang="tr-TR" dirty="0">
                <a:ea typeface="+mn-lt"/>
                <a:cs typeface="+mn-lt"/>
              </a:rPr>
              <a:t> üzerinden </a:t>
            </a:r>
            <a:r>
              <a:rPr lang="tr-TR" b="1" dirty="0" err="1">
                <a:ea typeface="+mn-lt"/>
                <a:cs typeface="+mn-lt"/>
              </a:rPr>
              <a:t>exchange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dirty="0">
                <a:ea typeface="+mn-lt"/>
                <a:cs typeface="+mn-lt"/>
              </a:rPr>
              <a:t>tipi ile birlikte routing </a:t>
            </a:r>
            <a:r>
              <a:rPr lang="tr-TR" dirty="0" err="1">
                <a:ea typeface="+mn-lt"/>
                <a:cs typeface="+mn-lt"/>
              </a:rPr>
              <a:t>Key’e</a:t>
            </a:r>
            <a:r>
              <a:rPr lang="tr-TR" dirty="0">
                <a:ea typeface="+mn-lt"/>
                <a:cs typeface="+mn-lt"/>
              </a:rPr>
              <a:t> göre “</a:t>
            </a:r>
            <a:r>
              <a:rPr lang="tr-TR" b="1" dirty="0" err="1">
                <a:ea typeface="+mn-lt"/>
                <a:cs typeface="+mn-lt"/>
              </a:rPr>
              <a:t>queue</a:t>
            </a:r>
            <a:r>
              <a:rPr lang="tr-TR" dirty="0">
                <a:ea typeface="+mn-lt"/>
                <a:cs typeface="+mn-lt"/>
              </a:rPr>
              <a:t>” ya aktarılacaktır.</a:t>
            </a:r>
            <a:endParaRPr lang="tr-TR" dirty="0"/>
          </a:p>
          <a:p>
            <a:pPr>
              <a:buNone/>
            </a:pPr>
            <a:r>
              <a:rPr lang="tr-TR" dirty="0">
                <a:ea typeface="+mn-lt"/>
                <a:cs typeface="+mn-lt"/>
              </a:rPr>
              <a:t>Bununla birlikte </a:t>
            </a:r>
            <a:r>
              <a:rPr lang="tr-TR" dirty="0" err="1">
                <a:ea typeface="+mn-lt"/>
                <a:cs typeface="+mn-lt"/>
              </a:rPr>
              <a:t>queue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nun</a:t>
            </a:r>
            <a:r>
              <a:rPr lang="tr-TR" dirty="0">
                <a:ea typeface="+mn-lt"/>
                <a:cs typeface="+mn-lt"/>
              </a:rPr>
              <a:t> nasıl </a:t>
            </a:r>
            <a:r>
              <a:rPr lang="tr-TR" dirty="0" err="1">
                <a:ea typeface="+mn-lt"/>
                <a:cs typeface="+mn-lt"/>
              </a:rPr>
              <a:t>davraması</a:t>
            </a:r>
            <a:r>
              <a:rPr lang="tr-TR" dirty="0">
                <a:ea typeface="+mn-lt"/>
                <a:cs typeface="+mn-lt"/>
              </a:rPr>
              <a:t> gerektiği ile ilgili bir takım bilgileri set ettik.</a:t>
            </a:r>
            <a:endParaRPr lang="tr-TR" dirty="0"/>
          </a:p>
          <a:p>
            <a:pPr>
              <a:buNone/>
            </a:pPr>
            <a:r>
              <a:rPr lang="tr-TR" b="1" dirty="0">
                <a:ea typeface="+mn-lt"/>
                <a:cs typeface="+mn-lt"/>
              </a:rPr>
              <a:t>Queue </a:t>
            </a:r>
            <a:r>
              <a:rPr lang="tr-TR" b="1" dirty="0" err="1">
                <a:ea typeface="+mn-lt"/>
                <a:cs typeface="+mn-lt"/>
              </a:rPr>
              <a:t>Properties</a:t>
            </a:r>
            <a:endParaRPr lang="tr-TR" dirty="0" err="1"/>
          </a:p>
          <a:p>
            <a:pPr>
              <a:buNone/>
            </a:pPr>
            <a:r>
              <a:rPr lang="tr-TR" b="1" dirty="0">
                <a:ea typeface="+mn-lt"/>
                <a:cs typeface="+mn-lt"/>
              </a:rPr>
              <a:t>Name: </a:t>
            </a:r>
            <a:r>
              <a:rPr lang="tr-TR" dirty="0">
                <a:ea typeface="+mn-lt"/>
                <a:cs typeface="+mn-lt"/>
              </a:rPr>
              <a:t>Tanımlamış olduğumuz kuyruğun adı.</a:t>
            </a:r>
            <a:endParaRPr lang="tr-TR" dirty="0"/>
          </a:p>
          <a:p>
            <a:pPr>
              <a:buNone/>
            </a:pPr>
            <a:r>
              <a:rPr lang="tr-TR" b="1" dirty="0" err="1">
                <a:ea typeface="+mn-lt"/>
                <a:cs typeface="+mn-lt"/>
              </a:rPr>
              <a:t>Durable</a:t>
            </a:r>
            <a:r>
              <a:rPr lang="tr-TR" b="1" dirty="0">
                <a:ea typeface="+mn-lt"/>
                <a:cs typeface="+mn-lt"/>
              </a:rPr>
              <a:t>: </a:t>
            </a:r>
            <a:r>
              <a:rPr lang="tr-TR" dirty="0">
                <a:ea typeface="+mn-lt"/>
                <a:cs typeface="+mn-lt"/>
              </a:rPr>
              <a:t>kuyruğun yaşam süresi ile alakalı. Eğer </a:t>
            </a:r>
            <a:r>
              <a:rPr lang="tr-TR" b="1" dirty="0" err="1">
                <a:ea typeface="+mn-lt"/>
                <a:cs typeface="+mn-lt"/>
              </a:rPr>
              <a:t>persistence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dirty="0">
                <a:ea typeface="+mn-lt"/>
                <a:cs typeface="+mn-lt"/>
              </a:rPr>
              <a:t>olmasını istersek </a:t>
            </a:r>
            <a:r>
              <a:rPr lang="tr-TR" dirty="0" err="1">
                <a:ea typeface="+mn-lt"/>
                <a:cs typeface="+mn-lt"/>
              </a:rPr>
              <a:t>true</a:t>
            </a:r>
            <a:r>
              <a:rPr lang="tr-TR" dirty="0">
                <a:ea typeface="+mn-lt"/>
                <a:cs typeface="+mn-lt"/>
              </a:rPr>
              <a:t> set etmeliyiz. Biz örneğimiz için in-</a:t>
            </a:r>
            <a:r>
              <a:rPr lang="tr-TR" dirty="0" err="1">
                <a:ea typeface="+mn-lt"/>
                <a:cs typeface="+mn-lt"/>
              </a:rPr>
              <a:t>memory</a:t>
            </a:r>
            <a:r>
              <a:rPr lang="tr-TR" dirty="0">
                <a:ea typeface="+mn-lt"/>
                <a:cs typeface="+mn-lt"/>
              </a:rPr>
              <a:t> olacak şekilde oluşturuyor olacağız. Bu durumda </a:t>
            </a:r>
            <a:r>
              <a:rPr lang="tr-TR" b="1" dirty="0">
                <a:ea typeface="+mn-lt"/>
                <a:cs typeface="+mn-lt"/>
              </a:rPr>
              <a:t>broker </a:t>
            </a:r>
            <a:r>
              <a:rPr lang="tr-TR" dirty="0" err="1">
                <a:ea typeface="+mn-lt"/>
                <a:cs typeface="+mn-lt"/>
              </a:rPr>
              <a:t>restart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olduğununda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queue</a:t>
            </a:r>
            <a:r>
              <a:rPr lang="tr-TR" dirty="0">
                <a:ea typeface="+mn-lt"/>
                <a:cs typeface="+mn-lt"/>
              </a:rPr>
              <a:t> silinmiş olacak.</a:t>
            </a:r>
            <a:endParaRPr lang="tr-TR" dirty="0"/>
          </a:p>
          <a:p>
            <a:pPr>
              <a:buNone/>
            </a:pPr>
            <a:r>
              <a:rPr lang="tr-TR" b="1" dirty="0" err="1">
                <a:ea typeface="+mn-lt"/>
                <a:cs typeface="+mn-lt"/>
              </a:rPr>
              <a:t>Exclusive</a:t>
            </a:r>
            <a:r>
              <a:rPr lang="tr-TR" b="1" dirty="0">
                <a:ea typeface="+mn-lt"/>
                <a:cs typeface="+mn-lt"/>
              </a:rPr>
              <a:t>: </a:t>
            </a:r>
            <a:r>
              <a:rPr lang="tr-TR" dirty="0">
                <a:ea typeface="+mn-lt"/>
                <a:cs typeface="+mn-lt"/>
              </a:rPr>
              <a:t>Kuyruğun başka </a:t>
            </a:r>
            <a:r>
              <a:rPr lang="tr-TR" dirty="0" err="1">
                <a:ea typeface="+mn-lt"/>
                <a:cs typeface="+mn-lt"/>
              </a:rPr>
              <a:t>connectionlar</a:t>
            </a:r>
            <a:r>
              <a:rPr lang="tr-TR" dirty="0">
                <a:ea typeface="+mn-lt"/>
                <a:cs typeface="+mn-lt"/>
              </a:rPr>
              <a:t> ile birlikte kullanıp kullanılmayacağı bilgisini içerir.</a:t>
            </a:r>
            <a:endParaRPr lang="tr-TR" dirty="0"/>
          </a:p>
          <a:p>
            <a:pPr>
              <a:buNone/>
            </a:pPr>
            <a:r>
              <a:rPr lang="tr-TR" b="1" dirty="0" err="1">
                <a:ea typeface="+mn-lt"/>
                <a:cs typeface="+mn-lt"/>
              </a:rPr>
              <a:t>AutoDelete</a:t>
            </a:r>
            <a:r>
              <a:rPr lang="tr-TR" b="1" dirty="0">
                <a:ea typeface="+mn-lt"/>
                <a:cs typeface="+mn-lt"/>
              </a:rPr>
              <a:t>: </a:t>
            </a:r>
            <a:r>
              <a:rPr lang="tr-TR" dirty="0">
                <a:ea typeface="+mn-lt"/>
                <a:cs typeface="+mn-lt"/>
              </a:rPr>
              <a:t>Kuyruğa gönderilen veri </a:t>
            </a:r>
            <a:r>
              <a:rPr lang="tr-TR" dirty="0" err="1">
                <a:ea typeface="+mn-lt"/>
                <a:cs typeface="+mn-lt"/>
              </a:rPr>
              <a:t>consumer</a:t>
            </a:r>
            <a:r>
              <a:rPr lang="tr-TR" dirty="0">
                <a:ea typeface="+mn-lt"/>
                <a:cs typeface="+mn-lt"/>
              </a:rPr>
              <a:t> tarafına geçmesi ile birlikte kuyruğun silinmesi ile ilgili bilgiyi içerir.</a:t>
            </a:r>
            <a:endParaRPr lang="tr-TR" dirty="0"/>
          </a:p>
          <a:p>
            <a:pPr>
              <a:buNone/>
            </a:pPr>
            <a:endParaRPr lang="tr-TR" dirty="0">
              <a:cs typeface="Calibri"/>
            </a:endParaRPr>
          </a:p>
          <a:p>
            <a:pPr marL="0" indent="0">
              <a:buNone/>
            </a:pPr>
            <a:endParaRPr lang="tr-TR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81315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="" xmlns:a16="http://schemas.microsoft.com/office/drawing/2014/main" id="{E2EC3C88-99B7-870D-78D1-F7C4B67A7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42" y="155949"/>
            <a:ext cx="11804275" cy="657010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tr-TR" sz="2400" dirty="0">
                <a:ea typeface="+mn-lt"/>
                <a:cs typeface="+mn-lt"/>
              </a:rPr>
              <a:t>Son olarak mesaj </a:t>
            </a:r>
            <a:r>
              <a:rPr lang="tr-TR" sz="2400" b="1" dirty="0">
                <a:ea typeface="+mn-lt"/>
                <a:cs typeface="+mn-lt"/>
              </a:rPr>
              <a:t>byte[]</a:t>
            </a:r>
            <a:r>
              <a:rPr lang="tr-TR" sz="2400" dirty="0">
                <a:ea typeface="+mn-lt"/>
                <a:cs typeface="+mn-lt"/>
              </a:rPr>
              <a:t> dizisine </a:t>
            </a:r>
            <a:r>
              <a:rPr lang="tr-TR" sz="2400" dirty="0" err="1">
                <a:ea typeface="+mn-lt"/>
                <a:cs typeface="+mn-lt"/>
              </a:rPr>
              <a:t>çevirilir</a:t>
            </a:r>
            <a:r>
              <a:rPr lang="tr-TR" sz="2400" dirty="0">
                <a:ea typeface="+mn-lt"/>
                <a:cs typeface="+mn-lt"/>
              </a:rPr>
              <a:t> ve body kısmına atanır.</a:t>
            </a:r>
            <a:endParaRPr lang="tr-TR" sz="2400">
              <a:cs typeface="Calibri"/>
            </a:endParaRPr>
          </a:p>
          <a:p>
            <a:pPr>
              <a:buNone/>
            </a:pPr>
            <a:r>
              <a:rPr lang="tr-TR" sz="2400" dirty="0">
                <a:ea typeface="+mn-lt"/>
                <a:cs typeface="+mn-lt"/>
              </a:rPr>
              <a:t>Projeyi  çalıştırdığımızda şey yolunda gitti ise, </a:t>
            </a:r>
            <a:r>
              <a:rPr lang="tr-TR" sz="2400" dirty="0" err="1">
                <a:ea typeface="+mn-lt"/>
                <a:cs typeface="+mn-lt"/>
              </a:rPr>
              <a:t>home</a:t>
            </a:r>
            <a:r>
              <a:rPr lang="tr-TR" sz="2400" dirty="0">
                <a:ea typeface="+mn-lt"/>
                <a:cs typeface="+mn-lt"/>
              </a:rPr>
              <a:t>/Index sayfasını </a:t>
            </a:r>
            <a:r>
              <a:rPr lang="tr-TR" sz="2400" dirty="0" err="1">
                <a:ea typeface="+mn-lt"/>
                <a:cs typeface="+mn-lt"/>
              </a:rPr>
              <a:t>browserdan</a:t>
            </a:r>
            <a:r>
              <a:rPr lang="tr-TR" sz="2400" dirty="0">
                <a:ea typeface="+mn-lt"/>
                <a:cs typeface="+mn-lt"/>
              </a:rPr>
              <a:t> gördüyseniz </a:t>
            </a:r>
            <a:r>
              <a:rPr lang="tr-TR" sz="2400" b="1" dirty="0" err="1">
                <a:ea typeface="+mn-lt"/>
                <a:cs typeface="+mn-lt"/>
              </a:rPr>
              <a:t>RabbitMQ</a:t>
            </a:r>
            <a:r>
              <a:rPr lang="tr-TR" sz="2400" b="1" dirty="0">
                <a:ea typeface="+mn-lt"/>
                <a:cs typeface="+mn-lt"/>
              </a:rPr>
              <a:t> </a:t>
            </a:r>
            <a:r>
              <a:rPr lang="tr-TR" sz="2400" dirty="0" err="1">
                <a:ea typeface="+mn-lt"/>
                <a:cs typeface="+mn-lt"/>
              </a:rPr>
              <a:t>management</a:t>
            </a:r>
            <a:r>
              <a:rPr lang="tr-TR" sz="2400" dirty="0">
                <a:ea typeface="+mn-lt"/>
                <a:cs typeface="+mn-lt"/>
              </a:rPr>
              <a:t> ekranlarına kullanıcı </a:t>
            </a:r>
            <a:r>
              <a:rPr lang="tr-TR" sz="2400" dirty="0" err="1">
                <a:ea typeface="+mn-lt"/>
                <a:cs typeface="+mn-lt"/>
              </a:rPr>
              <a:t>adı:guest</a:t>
            </a:r>
            <a:r>
              <a:rPr lang="tr-TR" sz="2400" dirty="0">
                <a:ea typeface="+mn-lt"/>
                <a:cs typeface="+mn-lt"/>
              </a:rPr>
              <a:t> şifre: </a:t>
            </a:r>
            <a:r>
              <a:rPr lang="tr-TR" sz="2400" dirty="0" err="1">
                <a:ea typeface="+mn-lt"/>
                <a:cs typeface="+mn-lt"/>
              </a:rPr>
              <a:t>guest</a:t>
            </a:r>
            <a:r>
              <a:rPr lang="tr-TR" sz="2400" dirty="0">
                <a:ea typeface="+mn-lt"/>
                <a:cs typeface="+mn-lt"/>
              </a:rPr>
              <a:t> ile giriş yapıp </a:t>
            </a:r>
            <a:r>
              <a:rPr lang="tr-TR" sz="2400" dirty="0" err="1">
                <a:ea typeface="+mn-lt"/>
                <a:cs typeface="+mn-lt"/>
              </a:rPr>
              <a:t>queues</a:t>
            </a:r>
            <a:r>
              <a:rPr lang="tr-TR" sz="2400" dirty="0">
                <a:ea typeface="+mn-lt"/>
                <a:cs typeface="+mn-lt"/>
              </a:rPr>
              <a:t> sekmesine geldiğimizde aşağıdaki gibi ekran ile karşılaşıyor olacağız. Evet gördüğünüz gibi mesajımız başarıyla kuyruğa girmiştir.</a:t>
            </a:r>
            <a:endParaRPr lang="tr-TR" sz="2400" dirty="0"/>
          </a:p>
          <a:p>
            <a:pPr>
              <a:buNone/>
            </a:pPr>
            <a:endParaRPr lang="tr-TR" dirty="0">
              <a:cs typeface="Calibri"/>
            </a:endParaRPr>
          </a:p>
          <a:p>
            <a:pPr marL="0" indent="0">
              <a:buNone/>
            </a:pPr>
            <a:endParaRPr lang="tr-TR" dirty="0">
              <a:cs typeface="Calibri"/>
            </a:endParaRPr>
          </a:p>
        </p:txBody>
      </p:sp>
      <p:pic>
        <p:nvPicPr>
          <p:cNvPr id="2" name="Resim 3" descr="metin içeren bir resim&#10;&#10;Açıklama otomatik olarak oluşturuldu">
            <a:extLst>
              <a:ext uri="{FF2B5EF4-FFF2-40B4-BE49-F238E27FC236}">
                <a16:creationId xmlns="" xmlns:a16="http://schemas.microsoft.com/office/drawing/2014/main" id="{C86982B4-D08A-65EB-F862-5D75FBF1C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33" y="2080629"/>
            <a:ext cx="11702843" cy="462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501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="" xmlns:a16="http://schemas.microsoft.com/office/drawing/2014/main" id="{E2EC3C88-99B7-870D-78D1-F7C4B67A7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42" y="155949"/>
            <a:ext cx="11804275" cy="657010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tr-TR" dirty="0">
                <a:ea typeface="+mn-lt"/>
                <a:cs typeface="+mn-lt"/>
              </a:rPr>
              <a:t>Şimdi sıra geldi </a:t>
            </a:r>
            <a:r>
              <a:rPr lang="tr-TR" b="1" dirty="0">
                <a:ea typeface="+mn-lt"/>
                <a:cs typeface="+mn-lt"/>
              </a:rPr>
              <a:t>Consumer </a:t>
            </a:r>
            <a:r>
              <a:rPr lang="tr-TR" dirty="0">
                <a:ea typeface="+mn-lt"/>
                <a:cs typeface="+mn-lt"/>
              </a:rPr>
              <a:t>projesini oluşturmaya.</a:t>
            </a:r>
            <a:endParaRPr lang="tr-TR" dirty="0"/>
          </a:p>
          <a:p>
            <a:pPr>
              <a:buNone/>
            </a:pPr>
            <a:r>
              <a:rPr lang="tr-TR" dirty="0" err="1">
                <a:ea typeface="+mn-lt"/>
                <a:cs typeface="+mn-lt"/>
              </a:rPr>
              <a:t>RabbitMQSample.Consumer</a:t>
            </a:r>
            <a:r>
              <a:rPr lang="tr-TR" dirty="0">
                <a:ea typeface="+mn-lt"/>
                <a:cs typeface="+mn-lt"/>
              </a:rPr>
              <a:t>  Consumer </a:t>
            </a:r>
            <a:r>
              <a:rPr lang="tr-TR" dirty="0" err="1">
                <a:ea typeface="+mn-lt"/>
                <a:cs typeface="+mn-lt"/>
              </a:rPr>
              <a:t>side</a:t>
            </a:r>
            <a:r>
              <a:rPr lang="tr-TR" dirty="0">
                <a:ea typeface="+mn-lt"/>
                <a:cs typeface="+mn-lt"/>
              </a:rPr>
              <a:t> için bir </a:t>
            </a:r>
            <a:r>
              <a:rPr lang="tr-TR" dirty="0" err="1">
                <a:ea typeface="+mn-lt"/>
                <a:cs typeface="+mn-lt"/>
              </a:rPr>
              <a:t>console</a:t>
            </a:r>
            <a:r>
              <a:rPr lang="tr-TR" dirty="0">
                <a:ea typeface="+mn-lt"/>
                <a:cs typeface="+mn-lt"/>
              </a:rPr>
              <a:t> uygulaması oluşturuyoruz.</a:t>
            </a:r>
            <a:endParaRPr lang="tr-TR" dirty="0"/>
          </a:p>
          <a:p>
            <a:pPr>
              <a:buNone/>
            </a:pPr>
            <a:r>
              <a:rPr lang="tr-TR" dirty="0">
                <a:ea typeface="+mn-lt"/>
                <a:cs typeface="+mn-lt"/>
              </a:rPr>
              <a:t>Projemizin açılması ile birlikte Consumer için gerekli kodlarımız </a:t>
            </a:r>
            <a:r>
              <a:rPr lang="tr-TR" dirty="0" err="1">
                <a:ea typeface="+mn-lt"/>
                <a:cs typeface="+mn-lt"/>
              </a:rPr>
              <a:t>program.cs</a:t>
            </a:r>
            <a:r>
              <a:rPr lang="tr-TR" dirty="0">
                <a:ea typeface="+mn-lt"/>
                <a:cs typeface="+mn-lt"/>
              </a:rPr>
              <a:t> içerinde main </a:t>
            </a:r>
            <a:r>
              <a:rPr lang="tr-TR" dirty="0" err="1">
                <a:ea typeface="+mn-lt"/>
                <a:cs typeface="+mn-lt"/>
              </a:rPr>
              <a:t>methoduna</a:t>
            </a:r>
            <a:r>
              <a:rPr lang="tr-TR" dirty="0">
                <a:ea typeface="+mn-lt"/>
                <a:cs typeface="+mn-lt"/>
              </a:rPr>
              <a:t> yazıyoruz.</a:t>
            </a:r>
            <a:endParaRPr lang="tr-TR" dirty="0"/>
          </a:p>
          <a:p>
            <a:pPr>
              <a:buNone/>
            </a:pPr>
            <a:endParaRPr lang="tr-TR" dirty="0">
              <a:cs typeface="Calibri"/>
            </a:endParaRPr>
          </a:p>
          <a:p>
            <a:pPr marL="0" indent="0">
              <a:buNone/>
            </a:pPr>
            <a:endParaRPr lang="tr-TR" dirty="0">
              <a:cs typeface="Calibri"/>
            </a:endParaRPr>
          </a:p>
        </p:txBody>
      </p:sp>
      <p:pic>
        <p:nvPicPr>
          <p:cNvPr id="2" name="Resim 3" descr="metin içeren bir resim&#10;&#10;Açıklama otomatik olarak oluşturuldu">
            <a:extLst>
              <a:ext uri="{FF2B5EF4-FFF2-40B4-BE49-F238E27FC236}">
                <a16:creationId xmlns="" xmlns:a16="http://schemas.microsoft.com/office/drawing/2014/main" id="{38E3EA5B-DB76-17DF-5EC0-A02820803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58" y="2423606"/>
            <a:ext cx="8581102" cy="406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40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="" xmlns:a16="http://schemas.microsoft.com/office/drawing/2014/main" id="{E2EC3C88-99B7-870D-78D1-F7C4B67A7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42" y="155949"/>
            <a:ext cx="11804275" cy="657010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tr-TR" dirty="0">
                <a:ea typeface="+mn-lt"/>
                <a:cs typeface="+mn-lt"/>
              </a:rPr>
              <a:t>Mesaj gönderme işlemimizden farklı olarak bir </a:t>
            </a:r>
            <a:r>
              <a:rPr lang="tr-TR" b="1" dirty="0">
                <a:ea typeface="+mn-lt"/>
                <a:cs typeface="+mn-lt"/>
              </a:rPr>
              <a:t>Consumer </a:t>
            </a:r>
            <a:r>
              <a:rPr lang="tr-TR" dirty="0">
                <a:ea typeface="+mn-lt"/>
                <a:cs typeface="+mn-lt"/>
              </a:rPr>
              <a:t>örneği alarak </a:t>
            </a:r>
            <a:r>
              <a:rPr lang="tr-TR" b="1" dirty="0" err="1">
                <a:ea typeface="+mn-lt"/>
                <a:cs typeface="+mn-lt"/>
              </a:rPr>
              <a:t>Received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eventine</a:t>
            </a:r>
            <a:r>
              <a:rPr lang="tr-TR" dirty="0">
                <a:ea typeface="+mn-lt"/>
                <a:cs typeface="+mn-lt"/>
              </a:rPr>
              <a:t> mesajı </a:t>
            </a:r>
            <a:r>
              <a:rPr lang="tr-TR" dirty="0" err="1">
                <a:ea typeface="+mn-lt"/>
                <a:cs typeface="+mn-lt"/>
              </a:rPr>
              <a:t>işledğimiz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anonymous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methodu</a:t>
            </a:r>
            <a:r>
              <a:rPr lang="tr-TR" dirty="0">
                <a:ea typeface="+mn-lt"/>
                <a:cs typeface="+mn-lt"/>
              </a:rPr>
              <a:t> bağlıyoruz.</a:t>
            </a:r>
            <a:endParaRPr lang="tr-TR" dirty="0"/>
          </a:p>
          <a:p>
            <a:pPr>
              <a:buNone/>
            </a:pPr>
            <a:r>
              <a:rPr lang="tr-TR" dirty="0">
                <a:ea typeface="+mn-lt"/>
                <a:cs typeface="+mn-lt"/>
              </a:rPr>
              <a:t>Daha sonra projemizi  çalıştırdığımızda aşağıda görüldüğü gibi mesajımız “</a:t>
            </a:r>
            <a:r>
              <a:rPr lang="tr-TR" dirty="0" err="1">
                <a:ea typeface="+mn-lt"/>
                <a:cs typeface="+mn-lt"/>
              </a:rPr>
              <a:t>Consumer”a</a:t>
            </a:r>
            <a:r>
              <a:rPr lang="tr-TR" dirty="0">
                <a:ea typeface="+mn-lt"/>
                <a:cs typeface="+mn-lt"/>
              </a:rPr>
              <a:t> iletilecektir.</a:t>
            </a:r>
            <a:endParaRPr lang="tr-TR" dirty="0"/>
          </a:p>
          <a:p>
            <a:pPr>
              <a:buNone/>
            </a:pPr>
            <a:r>
              <a:rPr lang="tr-TR" dirty="0">
                <a:ea typeface="+mn-lt"/>
                <a:cs typeface="+mn-lt"/>
              </a:rPr>
              <a:t>Son olarak </a:t>
            </a:r>
            <a:r>
              <a:rPr lang="tr-TR" b="1" dirty="0" err="1">
                <a:ea typeface="+mn-lt"/>
                <a:cs typeface="+mn-lt"/>
              </a:rPr>
              <a:t>RabbitMQ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managemet</a:t>
            </a:r>
            <a:r>
              <a:rPr lang="tr-TR" dirty="0">
                <a:ea typeface="+mn-lt"/>
                <a:cs typeface="+mn-lt"/>
              </a:rPr>
              <a:t> arayüzünden “</a:t>
            </a:r>
            <a:r>
              <a:rPr lang="tr-TR" b="1" dirty="0" err="1">
                <a:ea typeface="+mn-lt"/>
                <a:cs typeface="+mn-lt"/>
              </a:rPr>
              <a:t>queue</a:t>
            </a:r>
            <a:r>
              <a:rPr lang="tr-TR" dirty="0">
                <a:ea typeface="+mn-lt"/>
                <a:cs typeface="+mn-lt"/>
              </a:rPr>
              <a:t>” </a:t>
            </a:r>
            <a:r>
              <a:rPr lang="tr-TR" dirty="0" err="1">
                <a:ea typeface="+mn-lt"/>
                <a:cs typeface="+mn-lt"/>
              </a:rPr>
              <a:t>yi</a:t>
            </a:r>
            <a:r>
              <a:rPr lang="tr-TR" dirty="0">
                <a:ea typeface="+mn-lt"/>
                <a:cs typeface="+mn-lt"/>
              </a:rPr>
              <a:t> kontrol ettiğimizde bekleyen mesajın 0 olduğunu göreceksiniz.</a:t>
            </a:r>
            <a:endParaRPr lang="tr-TR" dirty="0"/>
          </a:p>
          <a:p>
            <a:pPr>
              <a:buNone/>
            </a:pPr>
            <a:endParaRPr lang="tr-TR" dirty="0">
              <a:cs typeface="Calibri"/>
            </a:endParaRPr>
          </a:p>
          <a:p>
            <a:pPr marL="0" indent="0">
              <a:buNone/>
            </a:pPr>
            <a:endParaRPr lang="tr-TR" dirty="0">
              <a:cs typeface="Calibri"/>
            </a:endParaRPr>
          </a:p>
        </p:txBody>
      </p:sp>
      <p:pic>
        <p:nvPicPr>
          <p:cNvPr id="2" name="Resim 3" descr="metin içeren bir resim&#10;&#10;Açıklama otomatik olarak oluşturuldu">
            <a:extLst>
              <a:ext uri="{FF2B5EF4-FFF2-40B4-BE49-F238E27FC236}">
                <a16:creationId xmlns="" xmlns:a16="http://schemas.microsoft.com/office/drawing/2014/main" id="{F2C365B2-CD0F-3750-5ADC-FF2E84FD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32" y="2870220"/>
            <a:ext cx="10510683" cy="380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717367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i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Ofis Teması</vt:lpstr>
      <vt:lpstr>RabbitMQ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/>
  <cp:lastModifiedBy/>
  <cp:revision>439</cp:revision>
  <dcterms:created xsi:type="dcterms:W3CDTF">2012-08-15T22:53:30Z</dcterms:created>
  <dcterms:modified xsi:type="dcterms:W3CDTF">2026-04-24T18:20:14Z</dcterms:modified>
</cp:coreProperties>
</file>