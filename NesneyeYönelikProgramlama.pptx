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2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99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0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2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2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00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3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39C61-7BD0-4FBB-8101-6DE3D9130F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0910C-5047-491E-A1FE-C1DC62E8A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95759"/>
            <a:ext cx="9144000" cy="3014204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>Nesneye Yönelik Programlama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en-US" b="1" dirty="0" smtClean="0"/>
              <a:t>(OBJECT ORIENTED PROGRAMMING)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98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NESNEYE YÖNELİK PROGRAMLAMA (OBJECT ORIENTED PROGRAMMING)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1990’lı </a:t>
            </a:r>
            <a:r>
              <a:rPr lang="en-US" dirty="0" err="1"/>
              <a:t>yılların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günümüzün</a:t>
            </a:r>
            <a:r>
              <a:rPr lang="en-US" dirty="0"/>
              <a:t> </a:t>
            </a:r>
            <a:r>
              <a:rPr lang="en-US" dirty="0" err="1"/>
              <a:t>teknolojisidir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olasılıkla</a:t>
            </a:r>
            <a:r>
              <a:rPr lang="en-US" dirty="0"/>
              <a:t> 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gelecekteki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olmaya</a:t>
            </a:r>
            <a:r>
              <a:rPr lang="en-US" dirty="0"/>
              <a:t> da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edecektir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, 1970’lerdeki </a:t>
            </a:r>
            <a:r>
              <a:rPr lang="en-US" dirty="0" err="1"/>
              <a:t>Yapısal</a:t>
            </a:r>
            <a:r>
              <a:rPr lang="en-US" dirty="0"/>
              <a:t> </a:t>
            </a:r>
            <a:r>
              <a:rPr lang="en-US" dirty="0" err="1"/>
              <a:t>Programlamanın</a:t>
            </a:r>
            <a:r>
              <a:rPr lang="en-US" dirty="0"/>
              <a:t> (Structured Programming) </a:t>
            </a:r>
            <a:r>
              <a:rPr lang="en-US" dirty="0" err="1"/>
              <a:t>yerini</a:t>
            </a:r>
            <a:r>
              <a:rPr lang="en-US" dirty="0"/>
              <a:t> </a:t>
            </a:r>
            <a:r>
              <a:rPr lang="en-US" dirty="0" err="1"/>
              <a:t>tamamı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almıştır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programlamada</a:t>
            </a:r>
            <a:r>
              <a:rPr lang="en-US" dirty="0"/>
              <a:t>,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ortamındaki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edilmekte</a:t>
            </a:r>
            <a:r>
              <a:rPr lang="en-US" dirty="0"/>
              <a:t>, </a:t>
            </a:r>
            <a:r>
              <a:rPr lang="en-US" dirty="0" err="1"/>
              <a:t>nesnelerin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(Properties) </a:t>
            </a:r>
            <a:r>
              <a:rPr lang="en-US" dirty="0" err="1"/>
              <a:t>değiştirilerek</a:t>
            </a:r>
            <a:r>
              <a:rPr lang="en-US" dirty="0"/>
              <a:t>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biçimler</a:t>
            </a:r>
            <a:r>
              <a:rPr lang="en-US" dirty="0"/>
              <a:t> </a:t>
            </a:r>
            <a:r>
              <a:rPr lang="en-US" dirty="0" err="1"/>
              <a:t>verilebilmektedir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Ayrıca</a:t>
            </a:r>
            <a:r>
              <a:rPr lang="en-US" dirty="0"/>
              <a:t> her </a:t>
            </a:r>
            <a:r>
              <a:rPr lang="en-US" dirty="0" err="1"/>
              <a:t>nesnenin</a:t>
            </a:r>
            <a:r>
              <a:rPr lang="en-US" dirty="0"/>
              <a:t> </a:t>
            </a:r>
            <a:r>
              <a:rPr lang="en-US" dirty="0" err="1"/>
              <a:t>duyarlı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olaylar</a:t>
            </a:r>
            <a:r>
              <a:rPr lang="en-US" dirty="0"/>
              <a:t> (Events) </a:t>
            </a:r>
            <a:r>
              <a:rPr lang="en-US" dirty="0" err="1"/>
              <a:t>mevcuttur</a:t>
            </a:r>
            <a:r>
              <a:rPr lang="en-US" dirty="0"/>
              <a:t>. Her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uygulanabilecek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metotlar</a:t>
            </a:r>
            <a:r>
              <a:rPr lang="en-US" dirty="0"/>
              <a:t> (Methods) </a:t>
            </a:r>
            <a:r>
              <a:rPr lang="en-US" dirty="0" err="1"/>
              <a:t>oluşturulmuştur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Yapısal</a:t>
            </a:r>
            <a:r>
              <a:rPr lang="en-US" dirty="0"/>
              <a:t> </a:t>
            </a:r>
            <a:r>
              <a:rPr lang="en-US" dirty="0" err="1"/>
              <a:t>Programlamada</a:t>
            </a:r>
            <a:r>
              <a:rPr lang="en-US" dirty="0"/>
              <a:t> </a:t>
            </a:r>
            <a:r>
              <a:rPr lang="en-US" dirty="0" err="1"/>
              <a:t>ağırlık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komutlarında</a:t>
            </a:r>
            <a:r>
              <a:rPr lang="en-US" dirty="0"/>
              <a:t> </a:t>
            </a:r>
            <a:r>
              <a:rPr lang="en-US" dirty="0" err="1"/>
              <a:t>iken</a:t>
            </a:r>
            <a:r>
              <a:rPr lang="en-US" dirty="0"/>
              <a:t>,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Programlamada</a:t>
            </a:r>
            <a:r>
              <a:rPr lang="en-US" dirty="0"/>
              <a:t> </a:t>
            </a:r>
            <a:r>
              <a:rPr lang="en-US" dirty="0" err="1"/>
              <a:t>yazılımcının</a:t>
            </a:r>
            <a:r>
              <a:rPr lang="en-US" dirty="0"/>
              <a:t> </a:t>
            </a:r>
            <a:r>
              <a:rPr lang="en-US" dirty="0" err="1"/>
              <a:t>ortamdaki</a:t>
            </a:r>
            <a:r>
              <a:rPr lang="en-US" dirty="0"/>
              <a:t> </a:t>
            </a:r>
            <a:r>
              <a:rPr lang="en-US" dirty="0" err="1"/>
              <a:t>nesneler</a:t>
            </a:r>
            <a:r>
              <a:rPr lang="en-US" dirty="0"/>
              <a:t>, </a:t>
            </a:r>
            <a:r>
              <a:rPr lang="en-US" dirty="0" err="1"/>
              <a:t>özellikleri</a:t>
            </a:r>
            <a:r>
              <a:rPr lang="en-US" dirty="0"/>
              <a:t>, </a:t>
            </a:r>
            <a:r>
              <a:rPr lang="en-US" dirty="0" err="1"/>
              <a:t>hassas</a:t>
            </a:r>
            <a:r>
              <a:rPr lang="en-US" dirty="0"/>
              <a:t> </a:t>
            </a:r>
            <a:r>
              <a:rPr lang="en-US" dirty="0" err="1"/>
              <a:t>oldukları</a:t>
            </a:r>
            <a:r>
              <a:rPr lang="en-US" dirty="0"/>
              <a:t> </a:t>
            </a:r>
            <a:r>
              <a:rPr lang="en-US" dirty="0" err="1"/>
              <a:t>olaylar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nesnelere</a:t>
            </a:r>
            <a:r>
              <a:rPr lang="en-US" dirty="0"/>
              <a:t> </a:t>
            </a:r>
            <a:r>
              <a:rPr lang="en-US" dirty="0" err="1"/>
              <a:t>uygulanabilecek</a:t>
            </a:r>
            <a:r>
              <a:rPr lang="en-US" dirty="0"/>
              <a:t> </a:t>
            </a:r>
            <a:r>
              <a:rPr lang="en-US" dirty="0" err="1"/>
              <a:t>metotlar</a:t>
            </a:r>
            <a:r>
              <a:rPr lang="en-US" dirty="0"/>
              <a:t> </a:t>
            </a:r>
            <a:r>
              <a:rPr lang="en-US" dirty="0" err="1"/>
              <a:t>hakkında</a:t>
            </a:r>
            <a:r>
              <a:rPr lang="en-US" dirty="0"/>
              <a:t> da </a:t>
            </a:r>
            <a:r>
              <a:rPr lang="en-US" dirty="0" err="1"/>
              <a:t>detaylı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sahibi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gerekmektedir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1980’lerin </a:t>
            </a:r>
            <a:r>
              <a:rPr lang="en-US" dirty="0" err="1"/>
              <a:t>ortasında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C++ , ilk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dili</a:t>
            </a:r>
            <a:r>
              <a:rPr lang="en-US" dirty="0"/>
              <a:t> </a:t>
            </a:r>
            <a:r>
              <a:rPr lang="en-US" dirty="0" err="1"/>
              <a:t>değildi</a:t>
            </a:r>
            <a:r>
              <a:rPr lang="en-US" dirty="0"/>
              <a:t> </a:t>
            </a:r>
            <a:r>
              <a:rPr lang="en-US" dirty="0" err="1"/>
              <a:t>ama</a:t>
            </a:r>
            <a:r>
              <a:rPr lang="en-US" dirty="0"/>
              <a:t> en </a:t>
            </a:r>
            <a:r>
              <a:rPr lang="en-US" dirty="0" err="1"/>
              <a:t>popüleri</a:t>
            </a:r>
            <a:r>
              <a:rPr lang="en-US" dirty="0"/>
              <a:t> </a:t>
            </a:r>
            <a:r>
              <a:rPr lang="en-US" dirty="0" err="1"/>
              <a:t>olmuştu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bilindiği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C </a:t>
            </a:r>
            <a:r>
              <a:rPr lang="en-US" dirty="0" err="1"/>
              <a:t>dilinin</a:t>
            </a:r>
            <a:r>
              <a:rPr lang="en-US" dirty="0"/>
              <a:t> class (</a:t>
            </a:r>
            <a:r>
              <a:rPr lang="en-US" dirty="0" err="1"/>
              <a:t>sınıf</a:t>
            </a:r>
            <a:r>
              <a:rPr lang="en-US" dirty="0"/>
              <a:t>) </a:t>
            </a:r>
            <a:r>
              <a:rPr lang="en-US" dirty="0" err="1"/>
              <a:t>yapısı</a:t>
            </a:r>
            <a:r>
              <a:rPr lang="en-US" dirty="0"/>
              <a:t> </a:t>
            </a:r>
            <a:r>
              <a:rPr lang="en-US" dirty="0" err="1"/>
              <a:t>ilave</a:t>
            </a:r>
            <a:r>
              <a:rPr lang="en-US" dirty="0"/>
              <a:t> </a:t>
            </a:r>
            <a:r>
              <a:rPr lang="en-US" dirty="0" err="1"/>
              <a:t>edilmiş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teorisinin</a:t>
            </a:r>
            <a:r>
              <a:rPr lang="en-US" dirty="0"/>
              <a:t> </a:t>
            </a:r>
            <a:r>
              <a:rPr lang="en-US" dirty="0" err="1"/>
              <a:t>kavramlarına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tasarlanmış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sürümü</a:t>
            </a:r>
            <a:r>
              <a:rPr lang="en-US" dirty="0"/>
              <a:t> </a:t>
            </a:r>
            <a:r>
              <a:rPr lang="en-US" dirty="0" err="1"/>
              <a:t>idi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yaygın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kullanıldı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kullanılmaya</a:t>
            </a:r>
            <a:r>
              <a:rPr lang="en-US" dirty="0"/>
              <a:t> da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1990’ların </a:t>
            </a:r>
            <a:r>
              <a:rPr lang="en-US" dirty="0" err="1"/>
              <a:t>başında</a:t>
            </a:r>
            <a:r>
              <a:rPr lang="en-US" dirty="0"/>
              <a:t>, </a:t>
            </a:r>
            <a:r>
              <a:rPr lang="en-US" dirty="0" err="1"/>
              <a:t>özellikle</a:t>
            </a:r>
            <a:r>
              <a:rPr lang="en-US" dirty="0"/>
              <a:t> internet </a:t>
            </a:r>
            <a:r>
              <a:rPr lang="en-US" dirty="0" err="1"/>
              <a:t>uygulamalarına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öne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Java </a:t>
            </a:r>
            <a:r>
              <a:rPr lang="en-US" dirty="0" err="1"/>
              <a:t>dili</a:t>
            </a:r>
            <a:r>
              <a:rPr lang="en-US" dirty="0"/>
              <a:t> de </a:t>
            </a:r>
            <a:r>
              <a:rPr lang="en-US" dirty="0" err="1"/>
              <a:t>saf</a:t>
            </a:r>
            <a:r>
              <a:rPr lang="en-US" dirty="0"/>
              <a:t> (pure)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dilidir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Objective C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gerçekte</a:t>
            </a:r>
            <a:r>
              <a:rPr lang="en-US" dirty="0"/>
              <a:t>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C </a:t>
            </a:r>
            <a:r>
              <a:rPr lang="en-US" dirty="0" err="1"/>
              <a:t>diline</a:t>
            </a:r>
            <a:r>
              <a:rPr lang="en-US" dirty="0"/>
              <a:t>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dillerin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yerleştirilerek</a:t>
            </a:r>
            <a:r>
              <a:rPr lang="en-US" dirty="0"/>
              <a:t> </a:t>
            </a:r>
            <a:r>
              <a:rPr lang="en-US" dirty="0" err="1"/>
              <a:t>oluşturulmuştur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84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dirty="0" err="1"/>
              <a:t>Şimdi</a:t>
            </a:r>
            <a:r>
              <a:rPr lang="en-US" dirty="0"/>
              <a:t>,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dillerinin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özelliklerini</a:t>
            </a:r>
            <a:r>
              <a:rPr lang="en-US" dirty="0"/>
              <a:t> </a:t>
            </a:r>
            <a:r>
              <a:rPr lang="en-US" dirty="0" err="1"/>
              <a:t>gözden</a:t>
            </a:r>
            <a:r>
              <a:rPr lang="en-US" dirty="0"/>
              <a:t> </a:t>
            </a:r>
            <a:r>
              <a:rPr lang="en-US" dirty="0" err="1"/>
              <a:t>geçirmeden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, </a:t>
            </a:r>
            <a:r>
              <a:rPr lang="en-US" dirty="0" err="1"/>
              <a:t>yukarıda</a:t>
            </a:r>
            <a:r>
              <a:rPr lang="en-US" dirty="0"/>
              <a:t> </a:t>
            </a:r>
            <a:r>
              <a:rPr lang="en-US" dirty="0" err="1"/>
              <a:t>belirtilen</a:t>
            </a:r>
            <a:r>
              <a:rPr lang="en-US" dirty="0"/>
              <a:t>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dillere</a:t>
            </a:r>
            <a:r>
              <a:rPr lang="en-US" dirty="0"/>
              <a:t> </a:t>
            </a:r>
            <a:r>
              <a:rPr lang="en-US" dirty="0" err="1"/>
              <a:t>yönelimin</a:t>
            </a:r>
            <a:r>
              <a:rPr lang="en-US" dirty="0"/>
              <a:t> </a:t>
            </a:r>
            <a:r>
              <a:rPr lang="en-US" dirty="0" err="1"/>
              <a:t>nedenini</a:t>
            </a:r>
            <a:r>
              <a:rPr lang="en-US" dirty="0"/>
              <a:t> </a:t>
            </a:r>
            <a:r>
              <a:rPr lang="en-US" dirty="0" err="1"/>
              <a:t>anlayabilmek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,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dillerinin</a:t>
            </a:r>
            <a:r>
              <a:rPr lang="en-US" dirty="0"/>
              <a:t> </a:t>
            </a:r>
            <a:r>
              <a:rPr lang="en-US" dirty="0" err="1"/>
              <a:t>yararlı</a:t>
            </a:r>
            <a:r>
              <a:rPr lang="en-US" dirty="0"/>
              <a:t> </a:t>
            </a:r>
            <a:r>
              <a:rPr lang="en-US" dirty="0" err="1"/>
              <a:t>taraflarını</a:t>
            </a:r>
            <a:r>
              <a:rPr lang="en-US" dirty="0"/>
              <a:t> </a:t>
            </a:r>
            <a:r>
              <a:rPr lang="en-US" dirty="0" err="1"/>
              <a:t>gözden</a:t>
            </a:r>
            <a:r>
              <a:rPr lang="en-US" dirty="0"/>
              <a:t> </a:t>
            </a:r>
            <a:r>
              <a:rPr lang="en-US" dirty="0" err="1"/>
              <a:t>geçirmek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olacaktır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1)</a:t>
            </a:r>
            <a:r>
              <a:rPr lang="en-US" b="1" dirty="0" err="1"/>
              <a:t>Yazılımın</a:t>
            </a:r>
            <a:r>
              <a:rPr lang="en-US" b="1" dirty="0"/>
              <a:t> </a:t>
            </a:r>
            <a:r>
              <a:rPr lang="en-US" b="1" dirty="0" err="1"/>
              <a:t>bakım</a:t>
            </a:r>
            <a:r>
              <a:rPr lang="en-US" b="1" dirty="0"/>
              <a:t> (maintenance) </a:t>
            </a:r>
            <a:r>
              <a:rPr lang="en-US" b="1" dirty="0" err="1"/>
              <a:t>kolaylığı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dillerinde</a:t>
            </a:r>
            <a:r>
              <a:rPr lang="en-US" dirty="0"/>
              <a:t>, </a:t>
            </a:r>
            <a:r>
              <a:rPr lang="en-US" dirty="0" err="1"/>
              <a:t>nesneler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oldukları</a:t>
            </a:r>
            <a:r>
              <a:rPr lang="en-US" dirty="0"/>
              <a:t> </a:t>
            </a:r>
            <a:r>
              <a:rPr lang="en-US" dirty="0" err="1"/>
              <a:t>sınıfların</a:t>
            </a:r>
            <a:r>
              <a:rPr lang="en-US" dirty="0"/>
              <a:t> </a:t>
            </a:r>
            <a:r>
              <a:rPr lang="en-US" dirty="0" err="1"/>
              <a:t>sunduğu</a:t>
            </a:r>
            <a:r>
              <a:rPr lang="en-US" dirty="0"/>
              <a:t> </a:t>
            </a:r>
            <a:r>
              <a:rPr lang="en-US" dirty="0" err="1"/>
              <a:t>şablonlarla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edilirler</a:t>
            </a:r>
            <a:r>
              <a:rPr lang="en-US" dirty="0"/>
              <a:t>. </a:t>
            </a:r>
            <a:r>
              <a:rPr lang="en-US" dirty="0" err="1"/>
              <a:t>Birbirine</a:t>
            </a:r>
            <a:r>
              <a:rPr lang="en-US" dirty="0"/>
              <a:t> </a:t>
            </a:r>
            <a:r>
              <a:rPr lang="en-US" dirty="0" err="1"/>
              <a:t>benzer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konu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ilişkili</a:t>
            </a:r>
            <a:r>
              <a:rPr lang="en-US" dirty="0"/>
              <a:t> </a:t>
            </a:r>
            <a:r>
              <a:rPr lang="en-US" dirty="0" err="1"/>
              <a:t>sınıflar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araya</a:t>
            </a:r>
            <a:r>
              <a:rPr lang="en-US" dirty="0"/>
              <a:t> </a:t>
            </a:r>
            <a:r>
              <a:rPr lang="en-US" dirty="0" err="1"/>
              <a:t>getirilerek</a:t>
            </a:r>
            <a:r>
              <a:rPr lang="en-US" dirty="0"/>
              <a:t> namespace </a:t>
            </a:r>
            <a:r>
              <a:rPr lang="en-US" dirty="0" err="1"/>
              <a:t>ya</a:t>
            </a:r>
            <a:r>
              <a:rPr lang="en-US" dirty="0"/>
              <a:t> da package (</a:t>
            </a:r>
            <a:r>
              <a:rPr lang="en-US" dirty="0" err="1"/>
              <a:t>paket</a:t>
            </a:r>
            <a:r>
              <a:rPr lang="en-US" dirty="0"/>
              <a:t>) 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kümeleri</a:t>
            </a:r>
            <a:r>
              <a:rPr lang="en-US" dirty="0"/>
              <a:t> </a:t>
            </a:r>
            <a:r>
              <a:rPr lang="en-US" dirty="0" err="1"/>
              <a:t>oluşturulur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Bu </a:t>
            </a:r>
            <a:r>
              <a:rPr lang="en-US" dirty="0" err="1"/>
              <a:t>durumda</a:t>
            </a:r>
            <a:r>
              <a:rPr lang="en-US" dirty="0"/>
              <a:t>, </a:t>
            </a:r>
            <a:r>
              <a:rPr lang="en-US" dirty="0" err="1"/>
              <a:t>yazılımın</a:t>
            </a:r>
            <a:r>
              <a:rPr lang="en-US" dirty="0"/>
              <a:t> </a:t>
            </a:r>
            <a:r>
              <a:rPr lang="en-US" dirty="0" err="1"/>
              <a:t>bakımı</a:t>
            </a:r>
            <a:r>
              <a:rPr lang="en-US" dirty="0"/>
              <a:t> </a:t>
            </a:r>
            <a:r>
              <a:rPr lang="en-US" dirty="0" err="1"/>
              <a:t>demek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sınıflarda</a:t>
            </a:r>
            <a:r>
              <a:rPr lang="en-US" dirty="0"/>
              <a:t> </a:t>
            </a:r>
            <a:r>
              <a:rPr lang="en-US" dirty="0" err="1"/>
              <a:t>değişiklik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eklenmesi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 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da </a:t>
            </a:r>
            <a:r>
              <a:rPr lang="en-US" dirty="0" err="1"/>
              <a:t>yazılımın</a:t>
            </a:r>
            <a:r>
              <a:rPr lang="en-US" dirty="0"/>
              <a:t> </a:t>
            </a:r>
            <a:r>
              <a:rPr lang="en-US" dirty="0" err="1"/>
              <a:t>tümünü</a:t>
            </a:r>
            <a:r>
              <a:rPr lang="en-US" dirty="0"/>
              <a:t>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etkilemeyecek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işlemdir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Oysa</a:t>
            </a:r>
            <a:r>
              <a:rPr lang="en-US" dirty="0"/>
              <a:t> </a:t>
            </a:r>
            <a:r>
              <a:rPr lang="en-US" dirty="0" err="1"/>
              <a:t>klasik</a:t>
            </a:r>
            <a:r>
              <a:rPr lang="en-US" dirty="0"/>
              <a:t> </a:t>
            </a:r>
            <a:r>
              <a:rPr lang="en-US" dirty="0" err="1"/>
              <a:t>yapısal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dilleri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yazılımlarda</a:t>
            </a:r>
            <a:r>
              <a:rPr lang="en-US" dirty="0"/>
              <a:t> </a:t>
            </a:r>
            <a:r>
              <a:rPr lang="en-US" dirty="0" err="1"/>
              <a:t>yazılımın</a:t>
            </a:r>
            <a:r>
              <a:rPr lang="en-US" dirty="0"/>
              <a:t> </a:t>
            </a:r>
            <a:r>
              <a:rPr lang="en-US" dirty="0" err="1"/>
              <a:t>bakım</a:t>
            </a:r>
            <a:r>
              <a:rPr lang="en-US" dirty="0"/>
              <a:t> </a:t>
            </a:r>
            <a:r>
              <a:rPr lang="en-US" dirty="0" err="1"/>
              <a:t>maliyeti</a:t>
            </a:r>
            <a:r>
              <a:rPr lang="en-US" dirty="0"/>
              <a:t> </a:t>
            </a:r>
            <a:r>
              <a:rPr lang="en-US" dirty="0" err="1"/>
              <a:t>üretim</a:t>
            </a:r>
            <a:r>
              <a:rPr lang="en-US" dirty="0"/>
              <a:t> </a:t>
            </a:r>
            <a:r>
              <a:rPr lang="en-US" dirty="0" err="1"/>
              <a:t>maliyetinin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yüzdesi</a:t>
            </a:r>
            <a:r>
              <a:rPr lang="en-US" dirty="0"/>
              <a:t> </a:t>
            </a:r>
            <a:r>
              <a:rPr lang="en-US" dirty="0" err="1"/>
              <a:t>kadardır</a:t>
            </a:r>
            <a:r>
              <a:rPr lang="en-US" dirty="0"/>
              <a:t> (%40’lar </a:t>
            </a:r>
            <a:r>
              <a:rPr lang="en-US" dirty="0" err="1"/>
              <a:t>civarında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73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2)</a:t>
            </a:r>
            <a:r>
              <a:rPr lang="en-US" b="1" dirty="0" err="1"/>
              <a:t>Genişletilebilirlik</a:t>
            </a:r>
            <a:r>
              <a:rPr lang="en-US" b="1" dirty="0"/>
              <a:t> (extensibility)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programlamada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sınıfa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metotlar</a:t>
            </a:r>
            <a:r>
              <a:rPr lang="en-US" dirty="0"/>
              <a:t> </a:t>
            </a:r>
            <a:r>
              <a:rPr lang="en-US" dirty="0" err="1"/>
              <a:t>ekleyerek</a:t>
            </a:r>
            <a:r>
              <a:rPr lang="en-US" dirty="0"/>
              <a:t> </a:t>
            </a:r>
            <a:r>
              <a:rPr lang="en-US" dirty="0" err="1"/>
              <a:t>artan</a:t>
            </a:r>
            <a:r>
              <a:rPr lang="en-US" dirty="0"/>
              <a:t> </a:t>
            </a:r>
            <a:r>
              <a:rPr lang="en-US" dirty="0" err="1"/>
              <a:t>işlevsellik</a:t>
            </a:r>
            <a:r>
              <a:rPr lang="en-US" dirty="0"/>
              <a:t> </a:t>
            </a:r>
            <a:r>
              <a:rPr lang="en-US" dirty="0" err="1"/>
              <a:t>sağlamak</a:t>
            </a:r>
            <a:r>
              <a:rPr lang="en-US" dirty="0"/>
              <a:t> </a:t>
            </a:r>
            <a:r>
              <a:rPr lang="en-US" dirty="0" err="1"/>
              <a:t>oldukça</a:t>
            </a:r>
            <a:r>
              <a:rPr lang="en-US" dirty="0"/>
              <a:t> </a:t>
            </a:r>
            <a:r>
              <a:rPr lang="en-US" dirty="0" err="1"/>
              <a:t>kolay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işlemdir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3) </a:t>
            </a:r>
            <a:r>
              <a:rPr lang="en-US" b="1" dirty="0" err="1"/>
              <a:t>Üretilen</a:t>
            </a:r>
            <a:r>
              <a:rPr lang="en-US" b="1" dirty="0"/>
              <a:t> </a:t>
            </a:r>
            <a:r>
              <a:rPr lang="en-US" b="1" dirty="0" err="1"/>
              <a:t>kodun</a:t>
            </a:r>
            <a:r>
              <a:rPr lang="en-US" b="1" dirty="0"/>
              <a:t> </a:t>
            </a:r>
            <a:r>
              <a:rPr lang="en-US" b="1" dirty="0" err="1"/>
              <a:t>yeniden</a:t>
            </a:r>
            <a:r>
              <a:rPr lang="en-US" b="1" dirty="0"/>
              <a:t> </a:t>
            </a:r>
            <a:r>
              <a:rPr lang="en-US" b="1" dirty="0" err="1"/>
              <a:t>kullanılabilirliği</a:t>
            </a:r>
            <a:r>
              <a:rPr lang="en-US" b="1" dirty="0"/>
              <a:t> (reusability)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Nesnelerin</a:t>
            </a:r>
            <a:r>
              <a:rPr lang="en-US" dirty="0"/>
              <a:t> </a:t>
            </a:r>
            <a:r>
              <a:rPr lang="en-US" dirty="0" err="1"/>
              <a:t>üretildiği</a:t>
            </a:r>
            <a:r>
              <a:rPr lang="en-US" dirty="0"/>
              <a:t> </a:t>
            </a:r>
            <a:r>
              <a:rPr lang="en-US" dirty="0" err="1"/>
              <a:t>sınıflar</a:t>
            </a:r>
            <a:r>
              <a:rPr lang="en-US" dirty="0"/>
              <a:t>, </a:t>
            </a:r>
            <a:r>
              <a:rPr lang="en-US" dirty="0" err="1"/>
              <a:t>ortam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her </a:t>
            </a: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geliştiricinin</a:t>
            </a:r>
            <a:r>
              <a:rPr lang="en-US" dirty="0"/>
              <a:t> </a:t>
            </a:r>
            <a:r>
              <a:rPr lang="en-US" dirty="0" err="1"/>
              <a:t>kullanımına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kütüphane</a:t>
            </a:r>
            <a:r>
              <a:rPr lang="en-US" dirty="0"/>
              <a:t> </a:t>
            </a:r>
            <a:r>
              <a:rPr lang="en-US" dirty="0" err="1"/>
              <a:t>oluşturulmuştur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Her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kütüphanede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gerekli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yazmaktan</a:t>
            </a:r>
            <a:r>
              <a:rPr lang="en-US" dirty="0"/>
              <a:t> </a:t>
            </a:r>
            <a:r>
              <a:rPr lang="en-US" dirty="0" err="1"/>
              <a:t>kurtulur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uygulamaya</a:t>
            </a:r>
            <a:r>
              <a:rPr lang="en-US" dirty="0"/>
              <a:t> </a:t>
            </a:r>
            <a:r>
              <a:rPr lang="en-US" dirty="0" err="1"/>
              <a:t>özgü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parçaları</a:t>
            </a:r>
            <a:r>
              <a:rPr lang="en-US" dirty="0"/>
              <a:t>,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kullanımdaki</a:t>
            </a:r>
            <a:r>
              <a:rPr lang="en-US" dirty="0"/>
              <a:t> </a:t>
            </a:r>
            <a:r>
              <a:rPr lang="en-US" dirty="0" err="1"/>
              <a:t>sınıfların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uzunluklarına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önemsiz</a:t>
            </a:r>
            <a:r>
              <a:rPr lang="en-US" dirty="0"/>
              <a:t> </a:t>
            </a:r>
            <a:r>
              <a:rPr lang="en-US" dirty="0" err="1"/>
              <a:t>boyuttadır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NESNEYE YÖNELİK PROGRAMLAMA TEORİSİNİN 4 TEMEL </a:t>
            </a:r>
            <a:r>
              <a:rPr lang="en-US" b="1" dirty="0" smtClean="0"/>
              <a:t>ÖZELLİĞİ</a:t>
            </a:r>
            <a:endParaRPr lang="tr-TR" b="1" dirty="0" smtClean="0"/>
          </a:p>
          <a:p>
            <a:pPr marL="0" indent="0" fontAlgn="base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Teorisinde</a:t>
            </a:r>
            <a:r>
              <a:rPr lang="en-US" dirty="0"/>
              <a:t> 4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özelliğin</a:t>
            </a:r>
            <a:r>
              <a:rPr lang="en-US" dirty="0"/>
              <a:t> </a:t>
            </a:r>
            <a:r>
              <a:rPr lang="en-US" dirty="0" err="1"/>
              <a:t>gerçekleştirilmesi</a:t>
            </a:r>
            <a:r>
              <a:rPr lang="en-US" dirty="0"/>
              <a:t> </a:t>
            </a:r>
            <a:r>
              <a:rPr lang="en-US" dirty="0" err="1"/>
              <a:t>zorunlu</a:t>
            </a:r>
            <a:r>
              <a:rPr lang="en-US" dirty="0"/>
              <a:t> </a:t>
            </a:r>
            <a:r>
              <a:rPr lang="en-US" dirty="0" err="1"/>
              <a:t>sayılmıştır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özelliklerden</a:t>
            </a:r>
            <a:r>
              <a:rPr lang="en-US" dirty="0"/>
              <a:t> </a:t>
            </a:r>
            <a:r>
              <a:rPr lang="en-US" dirty="0" err="1"/>
              <a:t>birini</a:t>
            </a:r>
            <a:r>
              <a:rPr lang="en-US" dirty="0"/>
              <a:t> bile </a:t>
            </a:r>
            <a:r>
              <a:rPr lang="en-US" dirty="0" err="1"/>
              <a:t>sağlamayan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(pure)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Dili (NYPD) </a:t>
            </a:r>
            <a:r>
              <a:rPr lang="en-US" dirty="0" err="1"/>
              <a:t>sayılmamaktadır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16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dirty="0" smtClean="0"/>
              <a:t>Bu 4 </a:t>
            </a:r>
            <a:r>
              <a:rPr lang="en-US" dirty="0" err="1" smtClean="0"/>
              <a:t>temel</a:t>
            </a:r>
            <a:r>
              <a:rPr lang="en-US" dirty="0" smtClean="0"/>
              <a:t> </a:t>
            </a:r>
            <a:r>
              <a:rPr lang="en-US" dirty="0" err="1" smtClean="0"/>
              <a:t>özellik</a:t>
            </a:r>
            <a:r>
              <a:rPr lang="en-US" dirty="0" smtClean="0"/>
              <a:t>,</a:t>
            </a:r>
          </a:p>
          <a:p>
            <a:pPr marL="0" indent="0" fontAlgn="base">
              <a:buNone/>
            </a:pPr>
            <a:r>
              <a:rPr lang="en-US" b="1" dirty="0" smtClean="0"/>
              <a:t>I. SOYUTLAMA (ABSTRACTION)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err="1" smtClean="0"/>
              <a:t>Soyutlama</a:t>
            </a:r>
            <a:r>
              <a:rPr lang="en-US" dirty="0" smtClean="0"/>
              <a:t> </a:t>
            </a:r>
            <a:r>
              <a:rPr lang="en-US" dirty="0" err="1" smtClean="0"/>
              <a:t>denilince</a:t>
            </a:r>
            <a:r>
              <a:rPr lang="en-US" dirty="0" smtClean="0"/>
              <a:t>, </a:t>
            </a:r>
            <a:r>
              <a:rPr lang="en-US" dirty="0" err="1" smtClean="0"/>
              <a:t>nesneyi</a:t>
            </a:r>
            <a:r>
              <a:rPr lang="en-US" dirty="0" smtClean="0"/>
              <a:t>, </a:t>
            </a:r>
            <a:r>
              <a:rPr lang="en-US" dirty="0" err="1" smtClean="0"/>
              <a:t>bazı</a:t>
            </a:r>
            <a:r>
              <a:rPr lang="en-US" dirty="0" smtClean="0"/>
              <a:t> </a:t>
            </a:r>
            <a:r>
              <a:rPr lang="en-US" dirty="0" err="1" smtClean="0"/>
              <a:t>karakteristikleri</a:t>
            </a:r>
            <a:r>
              <a:rPr lang="en-US" dirty="0" smtClean="0"/>
              <a:t> </a:t>
            </a:r>
            <a:r>
              <a:rPr lang="en-US" dirty="0" err="1" smtClean="0"/>
              <a:t>olan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bazı</a:t>
            </a:r>
            <a:r>
              <a:rPr lang="en-US" dirty="0" smtClean="0"/>
              <a:t> </a:t>
            </a:r>
            <a:r>
              <a:rPr lang="en-US" dirty="0" err="1" smtClean="0"/>
              <a:t>eylemleri</a:t>
            </a:r>
            <a:r>
              <a:rPr lang="en-US" dirty="0" smtClean="0"/>
              <a:t> </a:t>
            </a:r>
            <a:r>
              <a:rPr lang="en-US" dirty="0" err="1" smtClean="0"/>
              <a:t>gerçekleştirebilen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tipi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genelleştirmek</a:t>
            </a:r>
            <a:r>
              <a:rPr lang="en-US" dirty="0" smtClean="0"/>
              <a:t> </a:t>
            </a:r>
            <a:r>
              <a:rPr lang="en-US" dirty="0" err="1" smtClean="0"/>
              <a:t>anlaşılmalıdır</a:t>
            </a:r>
            <a:r>
              <a:rPr lang="en-US" dirty="0" smtClean="0"/>
              <a:t>.</a:t>
            </a:r>
          </a:p>
          <a:p>
            <a:pPr marL="0" indent="0" fontAlgn="base">
              <a:buNone/>
            </a:pPr>
            <a:r>
              <a:rPr lang="en-US" dirty="0" err="1" smtClean="0"/>
              <a:t>Yeryüzü</a:t>
            </a:r>
            <a:r>
              <a:rPr lang="en-US" dirty="0" smtClean="0"/>
              <a:t> </a:t>
            </a:r>
            <a:r>
              <a:rPr lang="en-US" dirty="0" err="1" smtClean="0"/>
              <a:t>üzerinde</a:t>
            </a:r>
            <a:r>
              <a:rPr lang="en-US" dirty="0" smtClean="0"/>
              <a:t> </a:t>
            </a:r>
            <a:r>
              <a:rPr lang="en-US" dirty="0" err="1" smtClean="0"/>
              <a:t>bulunan</a:t>
            </a:r>
            <a:r>
              <a:rPr lang="en-US" dirty="0" smtClean="0"/>
              <a:t> her </a:t>
            </a:r>
            <a:r>
              <a:rPr lang="en-US" dirty="0" err="1" smtClean="0"/>
              <a:t>şey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nesnedir</a:t>
            </a:r>
            <a:r>
              <a:rPr lang="en-US" dirty="0" smtClean="0"/>
              <a:t>. </a:t>
            </a:r>
            <a:r>
              <a:rPr lang="en-US" dirty="0" err="1" smtClean="0"/>
              <a:t>Bilgisayar</a:t>
            </a:r>
            <a:r>
              <a:rPr lang="en-US" dirty="0" smtClean="0"/>
              <a:t> </a:t>
            </a:r>
            <a:r>
              <a:rPr lang="en-US" dirty="0" err="1" smtClean="0"/>
              <a:t>yazılımı</a:t>
            </a:r>
            <a:r>
              <a:rPr lang="en-US" dirty="0" smtClean="0"/>
              <a:t> </a:t>
            </a:r>
            <a:r>
              <a:rPr lang="en-US" dirty="0" err="1" smtClean="0"/>
              <a:t>açısından</a:t>
            </a:r>
            <a:r>
              <a:rPr lang="en-US" dirty="0" smtClean="0"/>
              <a:t> </a:t>
            </a:r>
            <a:r>
              <a:rPr lang="en-US" dirty="0" err="1" smtClean="0"/>
              <a:t>nesne</a:t>
            </a:r>
            <a:r>
              <a:rPr lang="en-US" dirty="0" smtClean="0"/>
              <a:t>,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varlığın</a:t>
            </a:r>
            <a:r>
              <a:rPr lang="en-US" dirty="0" smtClean="0"/>
              <a:t> </a:t>
            </a:r>
            <a:r>
              <a:rPr lang="en-US" dirty="0" err="1" smtClean="0"/>
              <a:t>temsil</a:t>
            </a:r>
            <a:r>
              <a:rPr lang="en-US" dirty="0" smtClean="0"/>
              <a:t> </a:t>
            </a:r>
            <a:r>
              <a:rPr lang="en-US" dirty="0" err="1" smtClean="0"/>
              <a:t>biçimidir</a:t>
            </a:r>
            <a:r>
              <a:rPr lang="en-US" dirty="0" smtClean="0"/>
              <a:t>. </a:t>
            </a:r>
            <a:r>
              <a:rPr lang="en-US" dirty="0" err="1" smtClean="0"/>
              <a:t>Örneğin</a:t>
            </a:r>
            <a:r>
              <a:rPr lang="en-US" dirty="0" smtClean="0"/>
              <a:t>,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bina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nesnedir</a:t>
            </a:r>
            <a:r>
              <a:rPr lang="en-US" dirty="0" smtClean="0"/>
              <a:t>.</a:t>
            </a:r>
          </a:p>
          <a:p>
            <a:pPr marL="0" indent="0" fontAlgn="base">
              <a:buNone/>
            </a:pPr>
            <a:r>
              <a:rPr lang="en-US" dirty="0" err="1" smtClean="0"/>
              <a:t>Binayı</a:t>
            </a:r>
            <a:r>
              <a:rPr lang="en-US" dirty="0" smtClean="0"/>
              <a:t> </a:t>
            </a:r>
            <a:r>
              <a:rPr lang="en-US" dirty="0" err="1" smtClean="0"/>
              <a:t>bilgisayar</a:t>
            </a:r>
            <a:r>
              <a:rPr lang="en-US" dirty="0" smtClean="0"/>
              <a:t> </a:t>
            </a:r>
            <a:r>
              <a:rPr lang="en-US" dirty="0" err="1" smtClean="0"/>
              <a:t>yazılımı</a:t>
            </a:r>
            <a:r>
              <a:rPr lang="en-US" dirty="0" smtClean="0"/>
              <a:t> </a:t>
            </a:r>
            <a:r>
              <a:rPr lang="en-US" dirty="0" err="1" smtClean="0"/>
              <a:t>içinde</a:t>
            </a:r>
            <a:r>
              <a:rPr lang="en-US" dirty="0" smtClean="0"/>
              <a:t> </a:t>
            </a:r>
            <a:r>
              <a:rPr lang="en-US" dirty="0" err="1" smtClean="0"/>
              <a:t>temsil</a:t>
            </a:r>
            <a:r>
              <a:rPr lang="en-US" dirty="0" smtClean="0"/>
              <a:t> </a:t>
            </a:r>
            <a:r>
              <a:rPr lang="en-US" dirty="0" err="1" smtClean="0"/>
              <a:t>etmek</a:t>
            </a:r>
            <a:r>
              <a:rPr lang="en-US" dirty="0" smtClean="0"/>
              <a:t> </a:t>
            </a:r>
            <a:r>
              <a:rPr lang="en-US" dirty="0" err="1" smtClean="0"/>
              <a:t>istersek</a:t>
            </a:r>
            <a:r>
              <a:rPr lang="en-US" dirty="0" smtClean="0"/>
              <a:t>, </a:t>
            </a:r>
            <a:r>
              <a:rPr lang="en-US" dirty="0" err="1" smtClean="0"/>
              <a:t>öncelikle</a:t>
            </a:r>
            <a:r>
              <a:rPr lang="en-US" dirty="0" smtClean="0"/>
              <a:t>,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 smtClean="0"/>
              <a:t>nesnenin</a:t>
            </a:r>
            <a:r>
              <a:rPr lang="en-US" dirty="0" smtClean="0"/>
              <a:t> </a:t>
            </a:r>
            <a:r>
              <a:rPr lang="en-US" dirty="0" err="1" smtClean="0"/>
              <a:t>yani</a:t>
            </a:r>
            <a:r>
              <a:rPr lang="en-US" dirty="0" smtClean="0"/>
              <a:t> </a:t>
            </a:r>
            <a:r>
              <a:rPr lang="en-US" dirty="0" err="1" smtClean="0"/>
              <a:t>binanın</a:t>
            </a:r>
            <a:r>
              <a:rPr lang="en-US" dirty="0" smtClean="0"/>
              <a:t> </a:t>
            </a:r>
            <a:r>
              <a:rPr lang="en-US" dirty="0" err="1" smtClean="0"/>
              <a:t>ayırdedici</a:t>
            </a:r>
            <a:r>
              <a:rPr lang="en-US" dirty="0" smtClean="0"/>
              <a:t> </a:t>
            </a:r>
            <a:r>
              <a:rPr lang="en-US" dirty="0" err="1" smtClean="0"/>
              <a:t>özelliklerini</a:t>
            </a:r>
            <a:r>
              <a:rPr lang="en-US" dirty="0" smtClean="0"/>
              <a:t> </a:t>
            </a:r>
            <a:r>
              <a:rPr lang="en-US" dirty="0" err="1" smtClean="0"/>
              <a:t>belirlemeliyiz</a:t>
            </a:r>
            <a:r>
              <a:rPr lang="en-US" dirty="0" smtClean="0"/>
              <a:t>. </a:t>
            </a:r>
            <a:r>
              <a:rPr lang="en-US" dirty="0" err="1" smtClean="0"/>
              <a:t>Örneğin</a:t>
            </a:r>
            <a:r>
              <a:rPr lang="en-US" dirty="0" smtClean="0"/>
              <a:t>,</a:t>
            </a:r>
            <a:endParaRPr lang="tr-TR" dirty="0" smtClean="0"/>
          </a:p>
          <a:p>
            <a:pPr marL="0" indent="0" fontAlgn="base">
              <a:buNone/>
            </a:pPr>
            <a:r>
              <a:rPr lang="en-US" dirty="0"/>
              <a:t>-</a:t>
            </a:r>
            <a:r>
              <a:rPr lang="en-US" dirty="0" err="1"/>
              <a:t>Bina</a:t>
            </a:r>
            <a:r>
              <a:rPr lang="en-US" dirty="0"/>
              <a:t> </a:t>
            </a:r>
            <a:r>
              <a:rPr lang="en-US" dirty="0" err="1"/>
              <a:t>yüksekliği</a:t>
            </a:r>
            <a:r>
              <a:rPr lang="en-US" dirty="0"/>
              <a:t>,</a:t>
            </a:r>
          </a:p>
          <a:p>
            <a:pPr marL="0" indent="0" fontAlgn="base">
              <a:buNone/>
            </a:pPr>
            <a:r>
              <a:rPr lang="en-US" dirty="0"/>
              <a:t>-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yüzey</a:t>
            </a:r>
            <a:r>
              <a:rPr lang="en-US" dirty="0"/>
              <a:t> </a:t>
            </a:r>
            <a:r>
              <a:rPr lang="en-US" dirty="0" err="1"/>
              <a:t>rengi</a:t>
            </a:r>
            <a:r>
              <a:rPr lang="en-US" dirty="0"/>
              <a:t>,</a:t>
            </a:r>
          </a:p>
          <a:p>
            <a:pPr marL="0" indent="0" fontAlgn="base">
              <a:buNone/>
            </a:pPr>
            <a:r>
              <a:rPr lang="en-US" dirty="0"/>
              <a:t>-Kat </a:t>
            </a:r>
            <a:r>
              <a:rPr lang="en-US" dirty="0" err="1"/>
              <a:t>sayısı</a:t>
            </a:r>
            <a:r>
              <a:rPr lang="en-US" dirty="0"/>
              <a:t>,</a:t>
            </a:r>
          </a:p>
          <a:p>
            <a:pPr marL="0" indent="0" fontAlgn="base">
              <a:buNone/>
            </a:pPr>
            <a:r>
              <a:rPr lang="en-US" dirty="0"/>
              <a:t>-Zemin </a:t>
            </a:r>
            <a:r>
              <a:rPr lang="en-US" dirty="0" err="1"/>
              <a:t>alanı</a:t>
            </a:r>
            <a:r>
              <a:rPr lang="en-US" dirty="0"/>
              <a:t>,</a:t>
            </a:r>
          </a:p>
          <a:p>
            <a:pPr marL="0" indent="0" fontAlgn="base">
              <a:buNone/>
            </a:pPr>
            <a:r>
              <a:rPr lang="en-US" dirty="0"/>
              <a:t>-Zemin </a:t>
            </a:r>
            <a:r>
              <a:rPr lang="en-US" dirty="0" err="1"/>
              <a:t>boyutları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 smtClean="0"/>
              <a:t>gibi</a:t>
            </a:r>
            <a:r>
              <a:rPr lang="en-US" dirty="0" smtClean="0"/>
              <a:t> </a:t>
            </a:r>
            <a:r>
              <a:rPr lang="en-US" dirty="0" err="1" smtClean="0"/>
              <a:t>özellikler</a:t>
            </a:r>
            <a:r>
              <a:rPr lang="en-US" dirty="0" smtClean="0"/>
              <a:t>, </a:t>
            </a:r>
            <a:r>
              <a:rPr lang="en-US" dirty="0" err="1" smtClean="0"/>
              <a:t>binayı</a:t>
            </a:r>
            <a:r>
              <a:rPr lang="en-US" dirty="0" smtClean="0"/>
              <a:t> </a:t>
            </a:r>
            <a:r>
              <a:rPr lang="en-US" dirty="0" err="1" smtClean="0"/>
              <a:t>temsil</a:t>
            </a:r>
            <a:r>
              <a:rPr lang="en-US" dirty="0" smtClean="0"/>
              <a:t> </a:t>
            </a:r>
            <a:r>
              <a:rPr lang="en-US" dirty="0" err="1" smtClean="0"/>
              <a:t>etmek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ilk </a:t>
            </a:r>
            <a:r>
              <a:rPr lang="en-US" dirty="0" err="1" smtClean="0"/>
              <a:t>akla</a:t>
            </a:r>
            <a:r>
              <a:rPr lang="en-US" dirty="0" smtClean="0"/>
              <a:t> </a:t>
            </a:r>
            <a:r>
              <a:rPr lang="en-US" dirty="0" err="1" smtClean="0"/>
              <a:t>gelen</a:t>
            </a:r>
            <a:r>
              <a:rPr lang="en-US" dirty="0" smtClean="0"/>
              <a:t> </a:t>
            </a:r>
            <a:r>
              <a:rPr lang="en-US" dirty="0" err="1" smtClean="0"/>
              <a:t>birkaç</a:t>
            </a:r>
            <a:r>
              <a:rPr lang="en-US" dirty="0" smtClean="0"/>
              <a:t> </a:t>
            </a:r>
            <a:r>
              <a:rPr lang="en-US" dirty="0" err="1" smtClean="0"/>
              <a:t>özelliktir</a:t>
            </a:r>
            <a:r>
              <a:rPr lang="en-US" dirty="0" smtClean="0"/>
              <a:t>. O </a:t>
            </a:r>
            <a:r>
              <a:rPr lang="en-US" dirty="0" err="1" smtClean="0"/>
              <a:t>halde</a:t>
            </a:r>
            <a:r>
              <a:rPr lang="en-US" dirty="0" smtClean="0"/>
              <a:t> </a:t>
            </a:r>
            <a:r>
              <a:rPr lang="en-US" dirty="0" err="1" smtClean="0"/>
              <a:t>nesnenin</a:t>
            </a:r>
            <a:r>
              <a:rPr lang="en-US" dirty="0" smtClean="0"/>
              <a:t> </a:t>
            </a:r>
            <a:r>
              <a:rPr lang="en-US" dirty="0" err="1" smtClean="0"/>
              <a:t>bilgisayarda</a:t>
            </a:r>
            <a:r>
              <a:rPr lang="en-US" dirty="0" smtClean="0"/>
              <a:t> </a:t>
            </a:r>
            <a:r>
              <a:rPr lang="en-US" dirty="0" err="1" smtClean="0"/>
              <a:t>temsilinde</a:t>
            </a:r>
            <a:r>
              <a:rPr lang="en-US" dirty="0" smtClean="0"/>
              <a:t>, </a:t>
            </a:r>
            <a:r>
              <a:rPr lang="en-US" dirty="0" err="1" smtClean="0"/>
              <a:t>özellikleri</a:t>
            </a:r>
            <a:r>
              <a:rPr lang="en-US" dirty="0" smtClean="0"/>
              <a:t> (properties) </a:t>
            </a:r>
            <a:r>
              <a:rPr lang="en-US" dirty="0" err="1" smtClean="0"/>
              <a:t>kilit</a:t>
            </a:r>
            <a:r>
              <a:rPr lang="en-US" dirty="0" smtClean="0"/>
              <a:t> </a:t>
            </a:r>
            <a:r>
              <a:rPr lang="en-US" dirty="0" err="1" smtClean="0"/>
              <a:t>rol</a:t>
            </a:r>
            <a:r>
              <a:rPr lang="en-US" dirty="0" smtClean="0"/>
              <a:t> </a:t>
            </a:r>
            <a:r>
              <a:rPr lang="en-US" dirty="0" err="1" smtClean="0"/>
              <a:t>oynamaktadır</a:t>
            </a:r>
            <a:r>
              <a:rPr lang="en-US" dirty="0" smtClean="0"/>
              <a:t>.</a:t>
            </a:r>
          </a:p>
          <a:p>
            <a:pPr marL="0" indent="0" fontAlgn="base">
              <a:buNone/>
            </a:pPr>
            <a:r>
              <a:rPr lang="en-US" dirty="0" err="1" smtClean="0"/>
              <a:t>Nesnenin</a:t>
            </a:r>
            <a:r>
              <a:rPr lang="en-US" dirty="0" smtClean="0"/>
              <a:t> </a:t>
            </a:r>
            <a:r>
              <a:rPr lang="en-US" dirty="0" err="1"/>
              <a:t>karakteristikleri</a:t>
            </a:r>
            <a:r>
              <a:rPr lang="en-US" dirty="0"/>
              <a:t> </a:t>
            </a:r>
            <a:r>
              <a:rPr lang="en-US" dirty="0" err="1"/>
              <a:t>özellikler</a:t>
            </a:r>
            <a:r>
              <a:rPr lang="en-US" dirty="0"/>
              <a:t> (properties)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gerçekleştirebileceği</a:t>
            </a:r>
            <a:r>
              <a:rPr lang="en-US" dirty="0"/>
              <a:t> </a:t>
            </a:r>
            <a:r>
              <a:rPr lang="en-US" dirty="0" err="1"/>
              <a:t>eylemler</a:t>
            </a:r>
            <a:r>
              <a:rPr lang="en-US" dirty="0"/>
              <a:t> de </a:t>
            </a:r>
            <a:r>
              <a:rPr lang="en-US" dirty="0" err="1"/>
              <a:t>metot</a:t>
            </a:r>
            <a:r>
              <a:rPr lang="en-US" dirty="0"/>
              <a:t> (method)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34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/>
              <a:t>Bu </a:t>
            </a:r>
            <a:r>
              <a:rPr lang="en-US" dirty="0" err="1"/>
              <a:t>anlamda</a:t>
            </a:r>
            <a:r>
              <a:rPr lang="en-US" dirty="0"/>
              <a:t>, </a:t>
            </a:r>
            <a:r>
              <a:rPr lang="en-US" dirty="0" err="1"/>
              <a:t>soyutlaştırmanın</a:t>
            </a:r>
            <a:r>
              <a:rPr lang="en-US" dirty="0"/>
              <a:t> </a:t>
            </a:r>
            <a:r>
              <a:rPr lang="en-US" dirty="0" err="1"/>
              <a:t>sonucunda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,</a:t>
            </a:r>
          </a:p>
          <a:p>
            <a:pPr marL="0" indent="0" fontAlgn="base">
              <a:buNone/>
            </a:pPr>
            <a:r>
              <a:rPr lang="en-US" dirty="0"/>
              <a:t>I. </a:t>
            </a:r>
            <a:r>
              <a:rPr lang="en-US" dirty="0" err="1"/>
              <a:t>Özellikleri</a:t>
            </a:r>
            <a:r>
              <a:rPr lang="en-US" dirty="0"/>
              <a:t> (properties, member variables)</a:t>
            </a:r>
          </a:p>
          <a:p>
            <a:pPr marL="0" indent="0" fontAlgn="base">
              <a:buNone/>
            </a:pPr>
            <a:r>
              <a:rPr lang="en-US" dirty="0"/>
              <a:t>II. </a:t>
            </a:r>
            <a:r>
              <a:rPr lang="en-US" dirty="0" err="1"/>
              <a:t>Metotları</a:t>
            </a:r>
            <a:r>
              <a:rPr lang="en-US" dirty="0"/>
              <a:t> (methods)</a:t>
            </a:r>
          </a:p>
          <a:p>
            <a:pPr marL="0" indent="0" fontAlgn="base">
              <a:buNone/>
            </a:pP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edilebilir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03" y="3046623"/>
            <a:ext cx="5511074" cy="283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3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Dilleri</a:t>
            </a:r>
            <a:r>
              <a:rPr lang="en-US" dirty="0"/>
              <a:t>, </a:t>
            </a:r>
            <a:r>
              <a:rPr lang="en-US" dirty="0" err="1"/>
              <a:t>Soyutlamayı</a:t>
            </a:r>
            <a:r>
              <a:rPr lang="en-US" dirty="0"/>
              <a:t>, </a:t>
            </a:r>
            <a:r>
              <a:rPr lang="en-US" dirty="0" err="1"/>
              <a:t>sınıf</a:t>
            </a:r>
            <a:r>
              <a:rPr lang="en-US" dirty="0"/>
              <a:t> (Class) </a:t>
            </a:r>
            <a:r>
              <a:rPr lang="en-US" dirty="0" err="1"/>
              <a:t>yapısı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gerçekleştirirler</a:t>
            </a:r>
            <a:r>
              <a:rPr lang="en-US" dirty="0"/>
              <a:t>.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yapısı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o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özellikler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metotlar</a:t>
            </a:r>
            <a:r>
              <a:rPr lang="en-US" dirty="0"/>
              <a:t> </a:t>
            </a:r>
            <a:r>
              <a:rPr lang="en-US" dirty="0" err="1"/>
              <a:t>tanımlanabilir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soyut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yapıdır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kullanılamaz</a:t>
            </a:r>
            <a:r>
              <a:rPr lang="en-US" dirty="0"/>
              <a:t>. O </a:t>
            </a:r>
            <a:r>
              <a:rPr lang="en-US" dirty="0" err="1"/>
              <a:t>sınıftan</a:t>
            </a:r>
            <a:r>
              <a:rPr lang="en-US" dirty="0"/>
              <a:t> </a:t>
            </a:r>
            <a:r>
              <a:rPr lang="en-US" dirty="0" err="1"/>
              <a:t>üretilen</a:t>
            </a:r>
            <a:r>
              <a:rPr lang="en-US" dirty="0"/>
              <a:t> </a:t>
            </a:r>
            <a:r>
              <a:rPr lang="en-US" dirty="0" err="1"/>
              <a:t>örnekler</a:t>
            </a:r>
            <a:r>
              <a:rPr lang="en-US" dirty="0"/>
              <a:t> (instance) </a:t>
            </a:r>
            <a:r>
              <a:rPr lang="en-US" dirty="0" err="1"/>
              <a:t>sınıfa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özelliklere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metotlara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olurlar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bunlar</a:t>
            </a:r>
            <a:r>
              <a:rPr lang="en-US" dirty="0"/>
              <a:t> program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kullanılabilirler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Sınıftan</a:t>
            </a:r>
            <a:r>
              <a:rPr lang="en-US" dirty="0"/>
              <a:t> </a:t>
            </a:r>
            <a:r>
              <a:rPr lang="en-US" dirty="0" err="1"/>
              <a:t>üretilen</a:t>
            </a:r>
            <a:r>
              <a:rPr lang="en-US" dirty="0"/>
              <a:t> her </a:t>
            </a:r>
            <a:r>
              <a:rPr lang="en-US" dirty="0" err="1"/>
              <a:t>örnek</a:t>
            </a:r>
            <a:r>
              <a:rPr lang="en-US" dirty="0"/>
              <a:t>,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metotlara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özelliklerin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olabilecektir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düşünülürse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soyutlanırsa</a:t>
            </a:r>
            <a:r>
              <a:rPr lang="en-US" dirty="0"/>
              <a:t>, ilk </a:t>
            </a:r>
            <a:r>
              <a:rPr lang="en-US" dirty="0" err="1"/>
              <a:t>akla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, boy, kilo, IQ </a:t>
            </a:r>
            <a:r>
              <a:rPr lang="en-US" dirty="0" err="1"/>
              <a:t>ve</a:t>
            </a:r>
            <a:r>
              <a:rPr lang="en-US" dirty="0"/>
              <a:t> EQ </a:t>
            </a:r>
            <a:r>
              <a:rPr lang="en-US" dirty="0" err="1"/>
              <a:t>değerleri</a:t>
            </a:r>
            <a:r>
              <a:rPr lang="en-US" dirty="0"/>
              <a:t>,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düzeyi</a:t>
            </a:r>
            <a:r>
              <a:rPr lang="en-US" dirty="0"/>
              <a:t> </a:t>
            </a:r>
            <a:r>
              <a:rPr lang="en-US" dirty="0" err="1"/>
              <a:t>vb</a:t>
            </a:r>
            <a:r>
              <a:rPr lang="en-US" dirty="0"/>
              <a:t> </a:t>
            </a:r>
            <a:r>
              <a:rPr lang="en-US" dirty="0" err="1"/>
              <a:t>özelliklerdir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bunların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her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farklıdır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İnsan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ilk </a:t>
            </a:r>
            <a:r>
              <a:rPr lang="en-US" dirty="0" err="1"/>
              <a:t>akla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eylemler</a:t>
            </a:r>
            <a:r>
              <a:rPr lang="en-US" dirty="0"/>
              <a:t> (</a:t>
            </a:r>
            <a:r>
              <a:rPr lang="en-US" dirty="0" err="1"/>
              <a:t>metotlar</a:t>
            </a:r>
            <a:r>
              <a:rPr lang="en-US" dirty="0"/>
              <a:t>)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yürüme</a:t>
            </a:r>
            <a:r>
              <a:rPr lang="en-US" dirty="0"/>
              <a:t>, </a:t>
            </a:r>
            <a:r>
              <a:rPr lang="en-US" dirty="0" err="1"/>
              <a:t>okuma-yazma</a:t>
            </a:r>
            <a:r>
              <a:rPr lang="en-US" dirty="0"/>
              <a:t>, </a:t>
            </a:r>
            <a:r>
              <a:rPr lang="en-US" dirty="0" err="1"/>
              <a:t>konuşma</a:t>
            </a:r>
            <a:r>
              <a:rPr lang="en-US" dirty="0"/>
              <a:t>, </a:t>
            </a:r>
            <a:r>
              <a:rPr lang="en-US" dirty="0" err="1"/>
              <a:t>araç</a:t>
            </a:r>
            <a:r>
              <a:rPr lang="en-US" dirty="0"/>
              <a:t> </a:t>
            </a:r>
            <a:r>
              <a:rPr lang="en-US" dirty="0" err="1"/>
              <a:t>kullanma</a:t>
            </a:r>
            <a:r>
              <a:rPr lang="en-US" dirty="0"/>
              <a:t> </a:t>
            </a:r>
            <a:r>
              <a:rPr lang="en-US" dirty="0" err="1"/>
              <a:t>vb</a:t>
            </a:r>
            <a:r>
              <a:rPr lang="en-US" dirty="0"/>
              <a:t> </a:t>
            </a:r>
            <a:r>
              <a:rPr lang="en-US" dirty="0" err="1"/>
              <a:t>metotlardır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55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II. PAKETLEME (ENCAPSULATION)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Paketlemenin</a:t>
            </a:r>
            <a:r>
              <a:rPr lang="en-US" dirty="0"/>
              <a:t> </a:t>
            </a:r>
            <a:r>
              <a:rPr lang="en-US" dirty="0" err="1"/>
              <a:t>anlamı</a:t>
            </a:r>
            <a:r>
              <a:rPr lang="en-US" dirty="0"/>
              <a:t>,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oluşturan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özelliklerin</a:t>
            </a:r>
            <a:r>
              <a:rPr lang="en-US" dirty="0"/>
              <a:t> </a:t>
            </a:r>
            <a:r>
              <a:rPr lang="en-US" dirty="0" err="1"/>
              <a:t>gerçekleştirim</a:t>
            </a:r>
            <a:r>
              <a:rPr lang="en-US" dirty="0"/>
              <a:t> </a:t>
            </a:r>
            <a:r>
              <a:rPr lang="en-US" dirty="0" err="1"/>
              <a:t>biçiminin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kullanacak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kullanıcılardan</a:t>
            </a:r>
            <a:r>
              <a:rPr lang="en-US" dirty="0"/>
              <a:t> </a:t>
            </a:r>
            <a:r>
              <a:rPr lang="en-US" dirty="0" err="1"/>
              <a:t>gizlenmiş</a:t>
            </a:r>
            <a:r>
              <a:rPr lang="en-US" dirty="0"/>
              <a:t> </a:t>
            </a:r>
            <a:r>
              <a:rPr lang="en-US" dirty="0" err="1"/>
              <a:t>olmasıdır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NESNE = VERİ + METOTLAR</a:t>
            </a:r>
          </a:p>
          <a:p>
            <a:pPr marL="0" indent="0" fontAlgn="base">
              <a:buNone/>
            </a:pPr>
            <a:r>
              <a:rPr lang="en-US" dirty="0" err="1"/>
              <a:t>Şeklinde</a:t>
            </a:r>
            <a:r>
              <a:rPr lang="en-US" dirty="0"/>
              <a:t> </a:t>
            </a:r>
            <a:r>
              <a:rPr lang="en-US" dirty="0" err="1"/>
              <a:t>ifade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bağıntı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programlamanın</a:t>
            </a:r>
            <a:r>
              <a:rPr lang="en-US" dirty="0"/>
              <a:t> </a:t>
            </a:r>
            <a:r>
              <a:rPr lang="en-US" dirty="0" err="1"/>
              <a:t>esasını</a:t>
            </a:r>
            <a:r>
              <a:rPr lang="en-US" dirty="0"/>
              <a:t> </a:t>
            </a:r>
            <a:r>
              <a:rPr lang="en-US" dirty="0" err="1"/>
              <a:t>açıklamaktadır</a:t>
            </a:r>
            <a:r>
              <a:rPr lang="en-US" dirty="0"/>
              <a:t>. </a:t>
            </a:r>
            <a:r>
              <a:rPr lang="en-US" dirty="0" err="1"/>
              <a:t>Veri</a:t>
            </a:r>
            <a:r>
              <a:rPr lang="en-US" dirty="0"/>
              <a:t> (</a:t>
            </a:r>
            <a:r>
              <a:rPr lang="en-US" dirty="0" err="1"/>
              <a:t>özellikler</a:t>
            </a:r>
            <a:r>
              <a:rPr lang="en-US" dirty="0"/>
              <a:t>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(</a:t>
            </a:r>
            <a:r>
              <a:rPr lang="en-US" dirty="0" err="1"/>
              <a:t>metotlar</a:t>
            </a:r>
            <a:r>
              <a:rPr lang="en-US" dirty="0"/>
              <a:t>)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arada</a:t>
            </a:r>
            <a:r>
              <a:rPr lang="en-US" dirty="0"/>
              <a:t> </a:t>
            </a:r>
            <a:r>
              <a:rPr lang="en-US" dirty="0" err="1"/>
              <a:t>bulunur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nesneyi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Nesneyi</a:t>
            </a:r>
            <a:r>
              <a:rPr lang="en-US" dirty="0"/>
              <a:t> </a:t>
            </a:r>
            <a:r>
              <a:rPr lang="en-US" dirty="0" err="1"/>
              <a:t>tanımlayan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ayrıntıları</a:t>
            </a:r>
            <a:r>
              <a:rPr lang="en-US" dirty="0"/>
              <a:t>, normal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programın</a:t>
            </a:r>
            <a:r>
              <a:rPr lang="en-US" dirty="0"/>
              <a:t> </a:t>
            </a:r>
            <a:r>
              <a:rPr lang="en-US" dirty="0" err="1"/>
              <a:t>arta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kısmı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sınıfının</a:t>
            </a:r>
            <a:r>
              <a:rPr lang="en-US" dirty="0"/>
              <a:t> </a:t>
            </a:r>
            <a:r>
              <a:rPr lang="en-US" dirty="0" err="1"/>
              <a:t>gerçekleştirimini</a:t>
            </a:r>
            <a:r>
              <a:rPr lang="en-US" dirty="0"/>
              <a:t> </a:t>
            </a:r>
            <a:r>
              <a:rPr lang="en-US" dirty="0" err="1"/>
              <a:t>değiştirirseniz</a:t>
            </a:r>
            <a:r>
              <a:rPr lang="en-US" dirty="0"/>
              <a:t>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kalmak</a:t>
            </a:r>
            <a:r>
              <a:rPr lang="en-US" dirty="0"/>
              <a:t> </a:t>
            </a:r>
            <a:r>
              <a:rPr lang="en-US" dirty="0" err="1"/>
              <a:t>koşulu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tekniği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oluşturursanız</a:t>
            </a:r>
            <a:r>
              <a:rPr lang="en-US" dirty="0"/>
              <a:t>, o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dünyaya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arayüzü</a:t>
            </a:r>
            <a:r>
              <a:rPr lang="en-US" dirty="0"/>
              <a:t> </a:t>
            </a:r>
            <a:r>
              <a:rPr lang="en-US" dirty="0" err="1"/>
              <a:t>değişmediği</a:t>
            </a:r>
            <a:r>
              <a:rPr lang="en-US" dirty="0"/>
              <a:t> </a:t>
            </a:r>
            <a:r>
              <a:rPr lang="en-US" dirty="0" err="1"/>
              <a:t>sürece</a:t>
            </a:r>
            <a:r>
              <a:rPr lang="en-US" dirty="0"/>
              <a:t> (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özellikler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kaldığı</a:t>
            </a:r>
            <a:r>
              <a:rPr lang="en-US" dirty="0"/>
              <a:t> </a:t>
            </a:r>
            <a:r>
              <a:rPr lang="en-US" dirty="0" err="1"/>
              <a:t>sürece</a:t>
            </a:r>
            <a:r>
              <a:rPr lang="en-US" dirty="0"/>
              <a:t>)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kullanan</a:t>
            </a:r>
            <a:r>
              <a:rPr lang="en-US" dirty="0"/>
              <a:t> program </a:t>
            </a:r>
            <a:r>
              <a:rPr lang="en-US" dirty="0" err="1"/>
              <a:t>kodlarınızda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değişiklik</a:t>
            </a:r>
            <a:r>
              <a:rPr lang="en-US" dirty="0"/>
              <a:t> </a:t>
            </a:r>
            <a:r>
              <a:rPr lang="en-US" dirty="0" err="1"/>
              <a:t>yapmanıza</a:t>
            </a:r>
            <a:r>
              <a:rPr lang="en-US" dirty="0"/>
              <a:t>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kalmayacaktır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800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III. ÇOK BİÇİMLİLİK (POLYMORPHISM)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nesnelerin</a:t>
            </a:r>
            <a:r>
              <a:rPr lang="en-US" dirty="0"/>
              <a:t>,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mesaja</a:t>
            </a:r>
            <a:r>
              <a:rPr lang="en-US" dirty="0"/>
              <a:t> (</a:t>
            </a:r>
            <a:r>
              <a:rPr lang="en-US" dirty="0" err="1"/>
              <a:t>olaya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uyarıma</a:t>
            </a:r>
            <a:r>
              <a:rPr lang="en-US" dirty="0"/>
              <a:t>)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şekillerde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</a:t>
            </a:r>
            <a:r>
              <a:rPr lang="en-US" dirty="0" err="1"/>
              <a:t>verebilme</a:t>
            </a:r>
            <a:r>
              <a:rPr lang="en-US" dirty="0"/>
              <a:t> </a:t>
            </a:r>
            <a:r>
              <a:rPr lang="en-US" dirty="0" err="1"/>
              <a:t>yeteneğidir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Her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metotlarını</a:t>
            </a:r>
            <a:r>
              <a:rPr lang="en-US" dirty="0"/>
              <a:t> </a:t>
            </a:r>
            <a:r>
              <a:rPr lang="en-US" dirty="0" err="1"/>
              <a:t>paketlediği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,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metotlar</a:t>
            </a:r>
            <a:r>
              <a:rPr lang="en-US" dirty="0"/>
              <a:t> </a:t>
            </a:r>
            <a:r>
              <a:rPr lang="en-US" dirty="0" err="1"/>
              <a:t>programın</a:t>
            </a:r>
            <a:r>
              <a:rPr lang="en-US" dirty="0"/>
              <a:t> </a:t>
            </a:r>
            <a:r>
              <a:rPr lang="en-US" dirty="0" err="1"/>
              <a:t>arta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kısmı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olduğundan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sınıflar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isimde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metotlara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olabilirler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Örneğin</a:t>
            </a:r>
            <a:r>
              <a:rPr lang="en-US" dirty="0"/>
              <a:t>, ŞEKİL </a:t>
            </a:r>
            <a:r>
              <a:rPr lang="en-US" dirty="0" err="1"/>
              <a:t>adlı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super </a:t>
            </a:r>
            <a:r>
              <a:rPr lang="en-US" dirty="0" err="1"/>
              <a:t>sınıfımız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 Bu </a:t>
            </a:r>
            <a:r>
              <a:rPr lang="en-US" dirty="0" err="1"/>
              <a:t>sınıftan</a:t>
            </a:r>
            <a:r>
              <a:rPr lang="en-US" dirty="0"/>
              <a:t>, DAİRE, KARE </a:t>
            </a:r>
            <a:r>
              <a:rPr lang="en-US" dirty="0" err="1"/>
              <a:t>ve</a:t>
            </a:r>
            <a:r>
              <a:rPr lang="en-US" dirty="0"/>
              <a:t> ÜÇGEN </a:t>
            </a:r>
            <a:r>
              <a:rPr lang="en-US" dirty="0" err="1"/>
              <a:t>adlı</a:t>
            </a:r>
            <a:r>
              <a:rPr lang="en-US" dirty="0"/>
              <a:t> 3 alt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türettiğinizi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sayalım</a:t>
            </a:r>
            <a:r>
              <a:rPr lang="en-US" dirty="0"/>
              <a:t>. Bu alt </a:t>
            </a:r>
            <a:r>
              <a:rPr lang="en-US" dirty="0" err="1"/>
              <a:t>sınıfların</a:t>
            </a:r>
            <a:r>
              <a:rPr lang="en-US" dirty="0"/>
              <a:t> her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örneklerini</a:t>
            </a:r>
            <a:r>
              <a:rPr lang="en-US" dirty="0"/>
              <a:t> </a:t>
            </a:r>
            <a:r>
              <a:rPr lang="en-US" dirty="0" err="1"/>
              <a:t>çizmek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ÇİZ </a:t>
            </a:r>
            <a:r>
              <a:rPr lang="en-US" dirty="0" err="1"/>
              <a:t>adlı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olabilirler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Fakat</a:t>
            </a:r>
            <a:r>
              <a:rPr lang="en-US" dirty="0"/>
              <a:t>, her </a:t>
            </a:r>
            <a:r>
              <a:rPr lang="en-US" dirty="0" err="1"/>
              <a:t>bir</a:t>
            </a:r>
            <a:r>
              <a:rPr lang="en-US" dirty="0"/>
              <a:t> alt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isimli</a:t>
            </a:r>
            <a:r>
              <a:rPr lang="en-US" dirty="0"/>
              <a:t> (ÇİZ) </a:t>
            </a:r>
            <a:r>
              <a:rPr lang="en-US" dirty="0" err="1"/>
              <a:t>olmasına</a:t>
            </a:r>
            <a:r>
              <a:rPr lang="en-US" dirty="0"/>
              <a:t> </a:t>
            </a:r>
            <a:r>
              <a:rPr lang="en-US" dirty="0" err="1"/>
              <a:t>rağmen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devreye</a:t>
            </a:r>
            <a:r>
              <a:rPr lang="en-US" dirty="0"/>
              <a:t> </a:t>
            </a:r>
            <a:r>
              <a:rPr lang="en-US" dirty="0" err="1"/>
              <a:t>sokmak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gönderilecek</a:t>
            </a:r>
            <a:r>
              <a:rPr lang="en-US" dirty="0"/>
              <a:t> </a:t>
            </a:r>
            <a:r>
              <a:rPr lang="en-US" dirty="0" err="1"/>
              <a:t>mesajdan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her alt </a:t>
            </a:r>
            <a:r>
              <a:rPr lang="en-US" dirty="0" err="1"/>
              <a:t>sınıfa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</a:t>
            </a:r>
            <a:r>
              <a:rPr lang="en-US" dirty="0"/>
              <a:t> (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kendini,yani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üçgen</a:t>
            </a:r>
            <a:r>
              <a:rPr lang="en-US" dirty="0"/>
              <a:t>, </a:t>
            </a:r>
            <a:r>
              <a:rPr lang="en-US" dirty="0" err="1"/>
              <a:t>daire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kare</a:t>
            </a:r>
            <a:r>
              <a:rPr lang="en-US" dirty="0"/>
              <a:t>) </a:t>
            </a:r>
            <a:r>
              <a:rPr lang="en-US" dirty="0" err="1"/>
              <a:t>çizecektir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09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23" y="220337"/>
            <a:ext cx="11468559" cy="6268598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IV. MİRAS ALMA (INHERITANCE)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programlamada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nesne,genellikle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sınıfına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örnektir</a:t>
            </a:r>
            <a:r>
              <a:rPr lang="en-US" dirty="0"/>
              <a:t> (instance).</a:t>
            </a:r>
          </a:p>
          <a:p>
            <a:pPr marL="0" indent="0" fontAlgn="base">
              <a:buNone/>
            </a:pPr>
            <a:r>
              <a:rPr lang="en-US" dirty="0" err="1"/>
              <a:t>Örneğin</a:t>
            </a:r>
            <a:r>
              <a:rPr lang="en-US" dirty="0"/>
              <a:t>, Albert Einstein,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sınıfının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örneğidir</a:t>
            </a:r>
            <a:r>
              <a:rPr lang="en-US" dirty="0"/>
              <a:t>.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sınıfından</a:t>
            </a:r>
            <a:r>
              <a:rPr lang="en-US" dirty="0"/>
              <a:t> alt </a:t>
            </a:r>
            <a:r>
              <a:rPr lang="en-US" dirty="0" err="1"/>
              <a:t>sınıflar</a:t>
            </a:r>
            <a:r>
              <a:rPr lang="en-US" dirty="0"/>
              <a:t> (subclasses) </a:t>
            </a:r>
            <a:r>
              <a:rPr lang="en-US" dirty="0" err="1"/>
              <a:t>oluşturulabiliyorsa</a:t>
            </a:r>
            <a:r>
              <a:rPr lang="en-US" dirty="0"/>
              <a:t>, </a:t>
            </a:r>
            <a:r>
              <a:rPr lang="en-US" dirty="0" err="1"/>
              <a:t>türetme</a:t>
            </a:r>
            <a:r>
              <a:rPr lang="en-US" dirty="0"/>
              <a:t> </a:t>
            </a:r>
            <a:r>
              <a:rPr lang="en-US" dirty="0" err="1"/>
              <a:t>özelliği</a:t>
            </a:r>
            <a:r>
              <a:rPr lang="en-US" dirty="0"/>
              <a:t> (derivation)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demektir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, </a:t>
            </a:r>
            <a:r>
              <a:rPr lang="en-US" dirty="0" err="1"/>
              <a:t>canlı</a:t>
            </a:r>
            <a:r>
              <a:rPr lang="en-US" dirty="0"/>
              <a:t> </a:t>
            </a:r>
            <a:r>
              <a:rPr lang="en-US" dirty="0" err="1"/>
              <a:t>sınıfının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alt </a:t>
            </a:r>
            <a:r>
              <a:rPr lang="en-US" dirty="0" err="1"/>
              <a:t>sınıfıdır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Kendisinden</a:t>
            </a:r>
            <a:r>
              <a:rPr lang="en-US" dirty="0"/>
              <a:t> alt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üretilen</a:t>
            </a:r>
            <a:r>
              <a:rPr lang="en-US" dirty="0"/>
              <a:t> </a:t>
            </a:r>
            <a:r>
              <a:rPr lang="en-US" dirty="0" err="1"/>
              <a:t>sınıfa</a:t>
            </a:r>
            <a:r>
              <a:rPr lang="en-US" dirty="0"/>
              <a:t>,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(base class)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süper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(super class)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ebeveyn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(parent class) 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Alt </a:t>
            </a:r>
            <a:r>
              <a:rPr lang="en-US" dirty="0" err="1"/>
              <a:t>sınıf</a:t>
            </a:r>
            <a:r>
              <a:rPr lang="en-US" dirty="0"/>
              <a:t> (subclass)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çocuk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(child class) </a:t>
            </a:r>
            <a:r>
              <a:rPr lang="en-US" dirty="0" err="1"/>
              <a:t>terimi</a:t>
            </a:r>
            <a:r>
              <a:rPr lang="en-US" dirty="0"/>
              <a:t> de </a:t>
            </a:r>
            <a:r>
              <a:rPr lang="en-US" dirty="0" err="1"/>
              <a:t>kullanılmaktadır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Alt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nesneleri</a:t>
            </a:r>
            <a:r>
              <a:rPr lang="en-US" dirty="0"/>
              <a:t>, </a:t>
            </a:r>
            <a:r>
              <a:rPr lang="en-US" dirty="0" err="1"/>
              <a:t>türetildikleri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sınıfa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alıyorsa</a:t>
            </a:r>
            <a:r>
              <a:rPr lang="en-US" dirty="0"/>
              <a:t>,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miras</a:t>
            </a:r>
            <a:r>
              <a:rPr lang="en-US" dirty="0"/>
              <a:t> alma (inheritance) </a:t>
            </a:r>
            <a:r>
              <a:rPr lang="en-US" dirty="0" err="1"/>
              <a:t>özelliği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 </a:t>
            </a:r>
            <a:r>
              <a:rPr lang="en-US" dirty="0" err="1"/>
              <a:t>denir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Bu </a:t>
            </a:r>
            <a:r>
              <a:rPr lang="en-US" dirty="0" err="1"/>
              <a:t>anlamda</a:t>
            </a:r>
            <a:r>
              <a:rPr lang="en-US" dirty="0"/>
              <a:t>, inheritance </a:t>
            </a:r>
            <a:r>
              <a:rPr lang="en-US" dirty="0" err="1"/>
              <a:t>özelliğine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dilinde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sınıfından</a:t>
            </a:r>
            <a:r>
              <a:rPr lang="en-US" dirty="0"/>
              <a:t> </a:t>
            </a:r>
            <a:r>
              <a:rPr lang="en-US" dirty="0" err="1"/>
              <a:t>türetilen</a:t>
            </a:r>
            <a:r>
              <a:rPr lang="en-US" dirty="0"/>
              <a:t> alt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sınıfına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nesneler</a:t>
            </a:r>
            <a:r>
              <a:rPr lang="en-US" dirty="0"/>
              <a:t>,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özelliklerini</a:t>
            </a:r>
            <a:r>
              <a:rPr lang="en-US" dirty="0"/>
              <a:t> (properties)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metotlarını</a:t>
            </a:r>
            <a:r>
              <a:rPr lang="en-US" dirty="0"/>
              <a:t> (methods) </a:t>
            </a:r>
            <a:r>
              <a:rPr lang="en-US" dirty="0" err="1"/>
              <a:t>aynen</a:t>
            </a:r>
            <a:r>
              <a:rPr lang="en-US" dirty="0"/>
              <a:t> </a:t>
            </a:r>
            <a:r>
              <a:rPr lang="en-US" dirty="0" err="1"/>
              <a:t>alırlar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78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42937</TotalTime>
  <Words>1203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Nesneye Yönelik Programlama (OBJECT ORIENTED PROGRAMMING)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Nesneye Yönelik Programlama</dc:title>
  <dc:creator>Windows User</dc:creator>
  <cp:lastModifiedBy>Windows User</cp:lastModifiedBy>
  <cp:revision>10</cp:revision>
  <dcterms:created xsi:type="dcterms:W3CDTF">2021-09-23T07:16:19Z</dcterms:created>
  <dcterms:modified xsi:type="dcterms:W3CDTF">2026-04-19T13:57:30Z</dcterms:modified>
</cp:coreProperties>
</file>